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9"/>
  </p:notesMasterIdLst>
  <p:handoutMasterIdLst>
    <p:handoutMasterId r:id="rId80"/>
  </p:handoutMasterIdLst>
  <p:sldIdLst>
    <p:sldId id="258" r:id="rId5"/>
    <p:sldId id="259" r:id="rId6"/>
    <p:sldId id="260" r:id="rId7"/>
    <p:sldId id="267" r:id="rId8"/>
    <p:sldId id="261" r:id="rId9"/>
    <p:sldId id="307" r:id="rId10"/>
    <p:sldId id="314" r:id="rId11"/>
    <p:sldId id="315" r:id="rId12"/>
    <p:sldId id="312" r:id="rId13"/>
    <p:sldId id="270" r:id="rId14"/>
    <p:sldId id="311" r:id="rId15"/>
    <p:sldId id="313" r:id="rId16"/>
    <p:sldId id="262" r:id="rId17"/>
    <p:sldId id="272" r:id="rId18"/>
    <p:sldId id="371" r:id="rId19"/>
    <p:sldId id="302" r:id="rId20"/>
    <p:sldId id="347" r:id="rId21"/>
    <p:sldId id="320" r:id="rId22"/>
    <p:sldId id="321" r:id="rId23"/>
    <p:sldId id="275" r:id="rId24"/>
    <p:sldId id="323" r:id="rId25"/>
    <p:sldId id="324" r:id="rId26"/>
    <p:sldId id="291" r:id="rId27"/>
    <p:sldId id="346" r:id="rId28"/>
    <p:sldId id="353" r:id="rId29"/>
    <p:sldId id="355" r:id="rId30"/>
    <p:sldId id="356" r:id="rId31"/>
    <p:sldId id="357" r:id="rId32"/>
    <p:sldId id="290" r:id="rId33"/>
    <p:sldId id="358" r:id="rId34"/>
    <p:sldId id="359" r:id="rId35"/>
    <p:sldId id="360" r:id="rId36"/>
    <p:sldId id="326" r:id="rId37"/>
    <p:sldId id="304" r:id="rId38"/>
    <p:sldId id="276" r:id="rId39"/>
    <p:sldId id="370" r:id="rId40"/>
    <p:sldId id="264" r:id="rId41"/>
    <p:sldId id="336" r:id="rId42"/>
    <p:sldId id="339" r:id="rId43"/>
    <p:sldId id="367" r:id="rId44"/>
    <p:sldId id="299" r:id="rId45"/>
    <p:sldId id="292" r:id="rId46"/>
    <p:sldId id="318" r:id="rId47"/>
    <p:sldId id="263" r:id="rId48"/>
    <p:sldId id="309" r:id="rId49"/>
    <p:sldId id="362" r:id="rId50"/>
    <p:sldId id="296" r:id="rId51"/>
    <p:sldId id="364" r:id="rId52"/>
    <p:sldId id="363" r:id="rId53"/>
    <p:sldId id="297" r:id="rId54"/>
    <p:sldId id="365" r:id="rId55"/>
    <p:sldId id="366" r:id="rId56"/>
    <p:sldId id="316" r:id="rId57"/>
    <p:sldId id="266" r:id="rId58"/>
    <p:sldId id="289" r:id="rId59"/>
    <p:sldId id="284" r:id="rId60"/>
    <p:sldId id="285" r:id="rId61"/>
    <p:sldId id="286" r:id="rId62"/>
    <p:sldId id="368" r:id="rId63"/>
    <p:sldId id="327" r:id="rId64"/>
    <p:sldId id="322" r:id="rId65"/>
    <p:sldId id="354" r:id="rId66"/>
    <p:sldId id="369" r:id="rId67"/>
    <p:sldId id="341" r:id="rId68"/>
    <p:sldId id="345" r:id="rId69"/>
    <p:sldId id="281" r:id="rId70"/>
    <p:sldId id="348" r:id="rId71"/>
    <p:sldId id="298" r:id="rId72"/>
    <p:sldId id="301" r:id="rId73"/>
    <p:sldId id="294" r:id="rId74"/>
    <p:sldId id="287" r:id="rId75"/>
    <p:sldId id="295" r:id="rId76"/>
    <p:sldId id="361" r:id="rId77"/>
    <p:sldId id="282" r:id="rId78"/>
  </p:sldIdLst>
  <p:sldSz cx="9144000" cy="6858000" type="screen4x3"/>
  <p:notesSz cx="6858000" cy="9144000"/>
  <p:photoAlbum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tandardabschnitt" id="{50FD0705-3419-4960-99B2-1DDFEDDB8B7A}">
          <p14:sldIdLst>
            <p14:sldId id="258"/>
            <p14:sldId id="259"/>
            <p14:sldId id="260"/>
            <p14:sldId id="267"/>
            <p14:sldId id="261"/>
            <p14:sldId id="307"/>
            <p14:sldId id="314"/>
            <p14:sldId id="315"/>
            <p14:sldId id="312"/>
            <p14:sldId id="270"/>
            <p14:sldId id="311"/>
            <p14:sldId id="313"/>
            <p14:sldId id="262"/>
            <p14:sldId id="272"/>
            <p14:sldId id="371"/>
            <p14:sldId id="302"/>
            <p14:sldId id="347"/>
            <p14:sldId id="320"/>
            <p14:sldId id="321"/>
            <p14:sldId id="275"/>
            <p14:sldId id="323"/>
            <p14:sldId id="324"/>
            <p14:sldId id="291"/>
            <p14:sldId id="346"/>
            <p14:sldId id="353"/>
            <p14:sldId id="355"/>
            <p14:sldId id="356"/>
            <p14:sldId id="357"/>
            <p14:sldId id="290"/>
            <p14:sldId id="358"/>
            <p14:sldId id="359"/>
            <p14:sldId id="360"/>
            <p14:sldId id="326"/>
            <p14:sldId id="304"/>
            <p14:sldId id="276"/>
            <p14:sldId id="370"/>
            <p14:sldId id="264"/>
            <p14:sldId id="336"/>
            <p14:sldId id="339"/>
            <p14:sldId id="367"/>
            <p14:sldId id="299"/>
            <p14:sldId id="292"/>
            <p14:sldId id="318"/>
            <p14:sldId id="263"/>
            <p14:sldId id="309"/>
            <p14:sldId id="362"/>
            <p14:sldId id="296"/>
            <p14:sldId id="364"/>
            <p14:sldId id="363"/>
            <p14:sldId id="297"/>
            <p14:sldId id="365"/>
            <p14:sldId id="366"/>
            <p14:sldId id="316"/>
            <p14:sldId id="266"/>
            <p14:sldId id="289"/>
            <p14:sldId id="284"/>
            <p14:sldId id="285"/>
            <p14:sldId id="286"/>
            <p14:sldId id="368"/>
            <p14:sldId id="327"/>
            <p14:sldId id="322"/>
            <p14:sldId id="354"/>
            <p14:sldId id="369"/>
            <p14:sldId id="341"/>
            <p14:sldId id="345"/>
            <p14:sldId id="281"/>
            <p14:sldId id="348"/>
            <p14:sldId id="298"/>
            <p14:sldId id="301"/>
            <p14:sldId id="294"/>
            <p14:sldId id="287"/>
            <p14:sldId id="295"/>
            <p14:sldId id="361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30A6AB-B03F-A11E-ACAA-2AC5A860AE02}" name="Fabian Wagner" initials="FW" userId="S::fbwg3744@hochschule-trier.de::ffd9bb6a-040a-48d0-adba-33b5dc0862f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5E67"/>
    <a:srgbClr val="000000"/>
    <a:srgbClr val="BE531C"/>
    <a:srgbClr val="FFFFFF"/>
    <a:srgbClr val="E0E0E0"/>
    <a:srgbClr val="A9A9A9"/>
    <a:srgbClr val="191919"/>
    <a:srgbClr val="FF0000"/>
    <a:srgbClr val="D9C756"/>
    <a:srgbClr val="8FD6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6BEA70-523A-417E-BED5-9F91452165B7}" v="186" dt="2026-01-25T21:21:56.8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67" autoAdjust="0"/>
    <p:restoredTop sz="94614" autoAdjust="0"/>
  </p:normalViewPr>
  <p:slideViewPr>
    <p:cSldViewPr showGuides="1">
      <p:cViewPr varScale="1">
        <p:scale>
          <a:sx n="150" d="100"/>
          <a:sy n="150" d="100"/>
        </p:scale>
        <p:origin x="146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4" d="100"/>
          <a:sy n="64" d="100"/>
        </p:scale>
        <p:origin x="2467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handoutMaster" Target="handoutMasters/handoutMaster1.xml"/><Relationship Id="rId85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presProps" Target="presProps.xml"/><Relationship Id="rId86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61" Type="http://schemas.openxmlformats.org/officeDocument/2006/relationships/slide" Target="slides/slide57.xml"/><Relationship Id="rId8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7438FC-81BB-42F7-A3E7-3C0E65B26295}" type="doc">
      <dgm:prSet loTypeId="urn:microsoft.com/office/officeart/2005/8/layout/process4" loCatId="list" qsTypeId="urn:microsoft.com/office/officeart/2005/8/quickstyle/simple1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A045734F-A0FB-4D48-AFA5-5DA8DDD6DB0D}">
      <dgm:prSet/>
      <dgm:spPr/>
      <dgm:t>
        <a:bodyPr/>
        <a:lstStyle/>
        <a:p>
          <a:r>
            <a:rPr lang="de-DE" dirty="0"/>
            <a:t>Motivation</a:t>
          </a:r>
          <a:endParaRPr lang="en-US" dirty="0"/>
        </a:p>
      </dgm:t>
    </dgm:pt>
    <dgm:pt modelId="{C0D67919-FCC5-4A54-AE77-927184615A89}" type="parTrans" cxnId="{181A8884-F698-4E7E-8BF5-13B3BD990B31}">
      <dgm:prSet/>
      <dgm:spPr/>
      <dgm:t>
        <a:bodyPr/>
        <a:lstStyle/>
        <a:p>
          <a:endParaRPr lang="en-US"/>
        </a:p>
      </dgm:t>
    </dgm:pt>
    <dgm:pt modelId="{5037B136-158B-474D-87D1-775847BC2266}" type="sibTrans" cxnId="{181A8884-F698-4E7E-8BF5-13B3BD990B31}">
      <dgm:prSet/>
      <dgm:spPr/>
      <dgm:t>
        <a:bodyPr/>
        <a:lstStyle/>
        <a:p>
          <a:endParaRPr lang="en-US"/>
        </a:p>
      </dgm:t>
    </dgm:pt>
    <dgm:pt modelId="{9F9E7638-DB47-4060-9D09-29CA06F59E0F}">
      <dgm:prSet/>
      <dgm:spPr/>
      <dgm:t>
        <a:bodyPr/>
        <a:lstStyle/>
        <a:p>
          <a:r>
            <a:rPr lang="de-DE" dirty="0"/>
            <a:t>Grundlegende Begriffe</a:t>
          </a:r>
          <a:endParaRPr lang="en-US" dirty="0"/>
        </a:p>
      </dgm:t>
    </dgm:pt>
    <dgm:pt modelId="{78984E2A-C4DA-4994-A98B-E96D17F23AC8}" type="parTrans" cxnId="{67710913-566F-4F26-8020-68696C74A726}">
      <dgm:prSet/>
      <dgm:spPr/>
      <dgm:t>
        <a:bodyPr/>
        <a:lstStyle/>
        <a:p>
          <a:endParaRPr lang="en-US"/>
        </a:p>
      </dgm:t>
    </dgm:pt>
    <dgm:pt modelId="{12D3103E-DB93-406D-A556-2D44DDAD8BCA}" type="sibTrans" cxnId="{67710913-566F-4F26-8020-68696C74A726}">
      <dgm:prSet/>
      <dgm:spPr/>
      <dgm:t>
        <a:bodyPr/>
        <a:lstStyle/>
        <a:p>
          <a:endParaRPr lang="en-US"/>
        </a:p>
      </dgm:t>
    </dgm:pt>
    <dgm:pt modelId="{C4CE84BC-6124-46DD-90D1-2EF565F97AD0}">
      <dgm:prSet/>
      <dgm:spPr/>
      <dgm:t>
        <a:bodyPr/>
        <a:lstStyle/>
        <a:p>
          <a:r>
            <a:rPr lang="de-DE"/>
            <a:t>Methodisches Vorgehen</a:t>
          </a:r>
          <a:endParaRPr lang="en-US"/>
        </a:p>
      </dgm:t>
    </dgm:pt>
    <dgm:pt modelId="{B974227A-9DF6-4FA0-B5AC-DB96F39EB4F1}" type="parTrans" cxnId="{9CA7F384-7133-4F9B-9B6F-1DBC76C61CAF}">
      <dgm:prSet/>
      <dgm:spPr/>
      <dgm:t>
        <a:bodyPr/>
        <a:lstStyle/>
        <a:p>
          <a:endParaRPr lang="en-US"/>
        </a:p>
      </dgm:t>
    </dgm:pt>
    <dgm:pt modelId="{A52D2FE0-CC43-41B0-8E0D-4BBE753D8C8D}" type="sibTrans" cxnId="{9CA7F384-7133-4F9B-9B6F-1DBC76C61CAF}">
      <dgm:prSet/>
      <dgm:spPr/>
      <dgm:t>
        <a:bodyPr/>
        <a:lstStyle/>
        <a:p>
          <a:endParaRPr lang="en-US"/>
        </a:p>
      </dgm:t>
    </dgm:pt>
    <dgm:pt modelId="{F0A25E2D-DD53-413F-83CD-08737F018925}">
      <dgm:prSet/>
      <dgm:spPr/>
      <dgm:t>
        <a:bodyPr/>
        <a:lstStyle/>
        <a:p>
          <a:r>
            <a:rPr lang="de-DE" dirty="0"/>
            <a:t>Evaluationsmetriken</a:t>
          </a:r>
          <a:endParaRPr lang="en-US" dirty="0"/>
        </a:p>
      </dgm:t>
    </dgm:pt>
    <dgm:pt modelId="{D72A87CC-3688-4A26-BFD6-3189241F62EB}" type="parTrans" cxnId="{15E3BC1E-F70E-4A77-9F79-AC9F33FA199E}">
      <dgm:prSet/>
      <dgm:spPr/>
      <dgm:t>
        <a:bodyPr/>
        <a:lstStyle/>
        <a:p>
          <a:endParaRPr lang="en-US"/>
        </a:p>
      </dgm:t>
    </dgm:pt>
    <dgm:pt modelId="{31323ECA-E8B2-4751-BBD5-D802FBDB084D}" type="sibTrans" cxnId="{15E3BC1E-F70E-4A77-9F79-AC9F33FA199E}">
      <dgm:prSet/>
      <dgm:spPr/>
      <dgm:t>
        <a:bodyPr/>
        <a:lstStyle/>
        <a:p>
          <a:endParaRPr lang="en-US"/>
        </a:p>
      </dgm:t>
    </dgm:pt>
    <dgm:pt modelId="{436F3BEA-733B-428F-83D0-AF9D165D4FBE}">
      <dgm:prSet/>
      <dgm:spPr/>
      <dgm:t>
        <a:bodyPr/>
        <a:lstStyle/>
        <a:p>
          <a:r>
            <a:rPr lang="de-DE"/>
            <a:t>Ergebnisse</a:t>
          </a:r>
          <a:endParaRPr lang="en-US"/>
        </a:p>
      </dgm:t>
    </dgm:pt>
    <dgm:pt modelId="{9C1CD328-6F26-4CDE-A849-540A56558E37}" type="parTrans" cxnId="{82EDDD55-B5E7-4902-B329-72B87E6FF17C}">
      <dgm:prSet/>
      <dgm:spPr/>
      <dgm:t>
        <a:bodyPr/>
        <a:lstStyle/>
        <a:p>
          <a:endParaRPr lang="en-US"/>
        </a:p>
      </dgm:t>
    </dgm:pt>
    <dgm:pt modelId="{5D9FC391-1FC7-4801-8D32-9134309BF7F0}" type="sibTrans" cxnId="{82EDDD55-B5E7-4902-B329-72B87E6FF17C}">
      <dgm:prSet/>
      <dgm:spPr/>
      <dgm:t>
        <a:bodyPr/>
        <a:lstStyle/>
        <a:p>
          <a:endParaRPr lang="en-US"/>
        </a:p>
      </dgm:t>
    </dgm:pt>
    <dgm:pt modelId="{DA03F4B2-E8F7-4D14-BB6D-E87235401103}">
      <dgm:prSet/>
      <dgm:spPr/>
      <dgm:t>
        <a:bodyPr/>
        <a:lstStyle/>
        <a:p>
          <a:r>
            <a:rPr lang="de-DE" dirty="0"/>
            <a:t>Anwendung in der Praxis</a:t>
          </a:r>
          <a:endParaRPr lang="en-US" dirty="0"/>
        </a:p>
      </dgm:t>
    </dgm:pt>
    <dgm:pt modelId="{F800F8D8-76A4-44AB-B6AE-ECE200687B4B}" type="parTrans" cxnId="{8F631410-170B-4EE8-8D51-82C318D9DD6D}">
      <dgm:prSet/>
      <dgm:spPr/>
      <dgm:t>
        <a:bodyPr/>
        <a:lstStyle/>
        <a:p>
          <a:endParaRPr lang="en-US"/>
        </a:p>
      </dgm:t>
    </dgm:pt>
    <dgm:pt modelId="{D9B2F0D9-B1D8-4038-B1B6-75CA93893F75}" type="sibTrans" cxnId="{8F631410-170B-4EE8-8D51-82C318D9DD6D}">
      <dgm:prSet/>
      <dgm:spPr/>
      <dgm:t>
        <a:bodyPr/>
        <a:lstStyle/>
        <a:p>
          <a:endParaRPr lang="en-US"/>
        </a:p>
      </dgm:t>
    </dgm:pt>
    <dgm:pt modelId="{01EC5E86-D80D-4901-9F52-CD4A4DB3B3AA}">
      <dgm:prSet/>
      <dgm:spPr/>
      <dgm:t>
        <a:bodyPr/>
        <a:lstStyle/>
        <a:p>
          <a:r>
            <a:rPr lang="de-DE"/>
            <a:t>Fazit</a:t>
          </a:r>
          <a:endParaRPr lang="en-US"/>
        </a:p>
      </dgm:t>
    </dgm:pt>
    <dgm:pt modelId="{6A6312BC-95CF-4762-9F97-37207A3BE9A3}" type="parTrans" cxnId="{B01F5F72-9BDF-41F1-BBD5-09D9A634E87E}">
      <dgm:prSet/>
      <dgm:spPr/>
      <dgm:t>
        <a:bodyPr/>
        <a:lstStyle/>
        <a:p>
          <a:endParaRPr lang="en-US"/>
        </a:p>
      </dgm:t>
    </dgm:pt>
    <dgm:pt modelId="{F00157A2-0141-45EB-8776-8EE5FB40B6CB}" type="sibTrans" cxnId="{B01F5F72-9BDF-41F1-BBD5-09D9A634E87E}">
      <dgm:prSet/>
      <dgm:spPr/>
      <dgm:t>
        <a:bodyPr/>
        <a:lstStyle/>
        <a:p>
          <a:endParaRPr lang="en-US"/>
        </a:p>
      </dgm:t>
    </dgm:pt>
    <dgm:pt modelId="{CEB194BA-6083-47CC-94C1-EFFF53BB8100}" type="pres">
      <dgm:prSet presAssocID="{767438FC-81BB-42F7-A3E7-3C0E65B26295}" presName="Name0" presStyleCnt="0">
        <dgm:presLayoutVars>
          <dgm:dir/>
          <dgm:animLvl val="lvl"/>
          <dgm:resizeHandles val="exact"/>
        </dgm:presLayoutVars>
      </dgm:prSet>
      <dgm:spPr/>
    </dgm:pt>
    <dgm:pt modelId="{1444ECAF-CC7D-4469-99DF-D897E48E9162}" type="pres">
      <dgm:prSet presAssocID="{01EC5E86-D80D-4901-9F52-CD4A4DB3B3AA}" presName="boxAndChildren" presStyleCnt="0"/>
      <dgm:spPr/>
    </dgm:pt>
    <dgm:pt modelId="{CCF32805-E224-40BF-8371-68DF3BA062EA}" type="pres">
      <dgm:prSet presAssocID="{01EC5E86-D80D-4901-9F52-CD4A4DB3B3AA}" presName="parentTextBox" presStyleLbl="node1" presStyleIdx="0" presStyleCnt="7"/>
      <dgm:spPr/>
    </dgm:pt>
    <dgm:pt modelId="{BD2FCC49-8956-46F1-9304-285C8469F694}" type="pres">
      <dgm:prSet presAssocID="{D9B2F0D9-B1D8-4038-B1B6-75CA93893F75}" presName="sp" presStyleCnt="0"/>
      <dgm:spPr/>
    </dgm:pt>
    <dgm:pt modelId="{1C482EB2-02E3-4AA0-A2DA-5CDB5E85818D}" type="pres">
      <dgm:prSet presAssocID="{DA03F4B2-E8F7-4D14-BB6D-E87235401103}" presName="arrowAndChildren" presStyleCnt="0"/>
      <dgm:spPr/>
    </dgm:pt>
    <dgm:pt modelId="{C7FC3A89-56B8-421A-AD7B-933CC37C4410}" type="pres">
      <dgm:prSet presAssocID="{DA03F4B2-E8F7-4D14-BB6D-E87235401103}" presName="parentTextArrow" presStyleLbl="node1" presStyleIdx="1" presStyleCnt="7"/>
      <dgm:spPr/>
    </dgm:pt>
    <dgm:pt modelId="{3B559B69-E128-4885-9D46-FB0B7FF54AF7}" type="pres">
      <dgm:prSet presAssocID="{5D9FC391-1FC7-4801-8D32-9134309BF7F0}" presName="sp" presStyleCnt="0"/>
      <dgm:spPr/>
    </dgm:pt>
    <dgm:pt modelId="{10BB1080-0A1E-4A0F-A3C9-76BFBB680B85}" type="pres">
      <dgm:prSet presAssocID="{436F3BEA-733B-428F-83D0-AF9D165D4FBE}" presName="arrowAndChildren" presStyleCnt="0"/>
      <dgm:spPr/>
    </dgm:pt>
    <dgm:pt modelId="{F307CF98-58B8-49A3-ABA7-B1D4B657D908}" type="pres">
      <dgm:prSet presAssocID="{436F3BEA-733B-428F-83D0-AF9D165D4FBE}" presName="parentTextArrow" presStyleLbl="node1" presStyleIdx="2" presStyleCnt="7"/>
      <dgm:spPr/>
    </dgm:pt>
    <dgm:pt modelId="{CCE1A756-631B-41AF-8D83-4AB9DC547001}" type="pres">
      <dgm:prSet presAssocID="{31323ECA-E8B2-4751-BBD5-D802FBDB084D}" presName="sp" presStyleCnt="0"/>
      <dgm:spPr/>
    </dgm:pt>
    <dgm:pt modelId="{5EFCFC99-7C89-41C1-A448-EF6211FEF7D9}" type="pres">
      <dgm:prSet presAssocID="{F0A25E2D-DD53-413F-83CD-08737F018925}" presName="arrowAndChildren" presStyleCnt="0"/>
      <dgm:spPr/>
    </dgm:pt>
    <dgm:pt modelId="{293C74C6-726F-4A3E-A5C1-7CB9379331B3}" type="pres">
      <dgm:prSet presAssocID="{F0A25E2D-DD53-413F-83CD-08737F018925}" presName="parentTextArrow" presStyleLbl="node1" presStyleIdx="3" presStyleCnt="7"/>
      <dgm:spPr/>
    </dgm:pt>
    <dgm:pt modelId="{F2FAD2FE-D120-4EDF-9E66-66802D5C7C66}" type="pres">
      <dgm:prSet presAssocID="{A52D2FE0-CC43-41B0-8E0D-4BBE753D8C8D}" presName="sp" presStyleCnt="0"/>
      <dgm:spPr/>
    </dgm:pt>
    <dgm:pt modelId="{15628686-25E6-4DC0-A5EA-D213CF1471EB}" type="pres">
      <dgm:prSet presAssocID="{C4CE84BC-6124-46DD-90D1-2EF565F97AD0}" presName="arrowAndChildren" presStyleCnt="0"/>
      <dgm:spPr/>
    </dgm:pt>
    <dgm:pt modelId="{65E1CD79-E15B-40D6-8AC7-45B02FEFF2D9}" type="pres">
      <dgm:prSet presAssocID="{C4CE84BC-6124-46DD-90D1-2EF565F97AD0}" presName="parentTextArrow" presStyleLbl="node1" presStyleIdx="4" presStyleCnt="7"/>
      <dgm:spPr/>
    </dgm:pt>
    <dgm:pt modelId="{22C27556-72D1-4746-83C1-374A51E8CDC9}" type="pres">
      <dgm:prSet presAssocID="{12D3103E-DB93-406D-A556-2D44DDAD8BCA}" presName="sp" presStyleCnt="0"/>
      <dgm:spPr/>
    </dgm:pt>
    <dgm:pt modelId="{5FF997ED-433B-4F29-8C50-B673F43ACB81}" type="pres">
      <dgm:prSet presAssocID="{9F9E7638-DB47-4060-9D09-29CA06F59E0F}" presName="arrowAndChildren" presStyleCnt="0"/>
      <dgm:spPr/>
    </dgm:pt>
    <dgm:pt modelId="{A58AA0B5-1089-47C6-BFBF-756285DCF4B9}" type="pres">
      <dgm:prSet presAssocID="{9F9E7638-DB47-4060-9D09-29CA06F59E0F}" presName="parentTextArrow" presStyleLbl="node1" presStyleIdx="5" presStyleCnt="7"/>
      <dgm:spPr/>
    </dgm:pt>
    <dgm:pt modelId="{B3B417F3-C2B0-4FF8-B062-A58E1B7486AB}" type="pres">
      <dgm:prSet presAssocID="{5037B136-158B-474D-87D1-775847BC2266}" presName="sp" presStyleCnt="0"/>
      <dgm:spPr/>
    </dgm:pt>
    <dgm:pt modelId="{F11F4703-D78F-428A-8708-F2BD2A31F5D2}" type="pres">
      <dgm:prSet presAssocID="{A045734F-A0FB-4D48-AFA5-5DA8DDD6DB0D}" presName="arrowAndChildren" presStyleCnt="0"/>
      <dgm:spPr/>
    </dgm:pt>
    <dgm:pt modelId="{FCC67992-539F-4ABB-BD01-388E8633189D}" type="pres">
      <dgm:prSet presAssocID="{A045734F-A0FB-4D48-AFA5-5DA8DDD6DB0D}" presName="parentTextArrow" presStyleLbl="node1" presStyleIdx="6" presStyleCnt="7"/>
      <dgm:spPr/>
    </dgm:pt>
  </dgm:ptLst>
  <dgm:cxnLst>
    <dgm:cxn modelId="{8F631410-170B-4EE8-8D51-82C318D9DD6D}" srcId="{767438FC-81BB-42F7-A3E7-3C0E65B26295}" destId="{DA03F4B2-E8F7-4D14-BB6D-E87235401103}" srcOrd="5" destOrd="0" parTransId="{F800F8D8-76A4-44AB-B6AE-ECE200687B4B}" sibTransId="{D9B2F0D9-B1D8-4038-B1B6-75CA93893F75}"/>
    <dgm:cxn modelId="{67710913-566F-4F26-8020-68696C74A726}" srcId="{767438FC-81BB-42F7-A3E7-3C0E65B26295}" destId="{9F9E7638-DB47-4060-9D09-29CA06F59E0F}" srcOrd="1" destOrd="0" parTransId="{78984E2A-C4DA-4994-A98B-E96D17F23AC8}" sibTransId="{12D3103E-DB93-406D-A556-2D44DDAD8BCA}"/>
    <dgm:cxn modelId="{15E3BC1E-F70E-4A77-9F79-AC9F33FA199E}" srcId="{767438FC-81BB-42F7-A3E7-3C0E65B26295}" destId="{F0A25E2D-DD53-413F-83CD-08737F018925}" srcOrd="3" destOrd="0" parTransId="{D72A87CC-3688-4A26-BFD6-3189241F62EB}" sibTransId="{31323ECA-E8B2-4751-BBD5-D802FBDB084D}"/>
    <dgm:cxn modelId="{E93C1D22-A802-4DB9-8C86-2666AC083B9E}" type="presOf" srcId="{A045734F-A0FB-4D48-AFA5-5DA8DDD6DB0D}" destId="{FCC67992-539F-4ABB-BD01-388E8633189D}" srcOrd="0" destOrd="0" presId="urn:microsoft.com/office/officeart/2005/8/layout/process4"/>
    <dgm:cxn modelId="{DB5F622A-A298-4B0B-AA05-D79253391FF2}" type="presOf" srcId="{01EC5E86-D80D-4901-9F52-CD4A4DB3B3AA}" destId="{CCF32805-E224-40BF-8371-68DF3BA062EA}" srcOrd="0" destOrd="0" presId="urn:microsoft.com/office/officeart/2005/8/layout/process4"/>
    <dgm:cxn modelId="{B01F5F72-9BDF-41F1-BBD5-09D9A634E87E}" srcId="{767438FC-81BB-42F7-A3E7-3C0E65B26295}" destId="{01EC5E86-D80D-4901-9F52-CD4A4DB3B3AA}" srcOrd="6" destOrd="0" parTransId="{6A6312BC-95CF-4762-9F97-37207A3BE9A3}" sibTransId="{F00157A2-0141-45EB-8776-8EE5FB40B6CB}"/>
    <dgm:cxn modelId="{5808FC72-409F-405A-A612-E59E615B9B67}" type="presOf" srcId="{767438FC-81BB-42F7-A3E7-3C0E65B26295}" destId="{CEB194BA-6083-47CC-94C1-EFFF53BB8100}" srcOrd="0" destOrd="0" presId="urn:microsoft.com/office/officeart/2005/8/layout/process4"/>
    <dgm:cxn modelId="{D4BF1D54-F688-4B61-B434-96E5B25F8C2D}" type="presOf" srcId="{436F3BEA-733B-428F-83D0-AF9D165D4FBE}" destId="{F307CF98-58B8-49A3-ABA7-B1D4B657D908}" srcOrd="0" destOrd="0" presId="urn:microsoft.com/office/officeart/2005/8/layout/process4"/>
    <dgm:cxn modelId="{82EDDD55-B5E7-4902-B329-72B87E6FF17C}" srcId="{767438FC-81BB-42F7-A3E7-3C0E65B26295}" destId="{436F3BEA-733B-428F-83D0-AF9D165D4FBE}" srcOrd="4" destOrd="0" parTransId="{9C1CD328-6F26-4CDE-A849-540A56558E37}" sibTransId="{5D9FC391-1FC7-4801-8D32-9134309BF7F0}"/>
    <dgm:cxn modelId="{81DE657B-5E94-4D90-B578-7EEED8E487CB}" type="presOf" srcId="{DA03F4B2-E8F7-4D14-BB6D-E87235401103}" destId="{C7FC3A89-56B8-421A-AD7B-933CC37C4410}" srcOrd="0" destOrd="0" presId="urn:microsoft.com/office/officeart/2005/8/layout/process4"/>
    <dgm:cxn modelId="{181A8884-F698-4E7E-8BF5-13B3BD990B31}" srcId="{767438FC-81BB-42F7-A3E7-3C0E65B26295}" destId="{A045734F-A0FB-4D48-AFA5-5DA8DDD6DB0D}" srcOrd="0" destOrd="0" parTransId="{C0D67919-FCC5-4A54-AE77-927184615A89}" sibTransId="{5037B136-158B-474D-87D1-775847BC2266}"/>
    <dgm:cxn modelId="{9CA7F384-7133-4F9B-9B6F-1DBC76C61CAF}" srcId="{767438FC-81BB-42F7-A3E7-3C0E65B26295}" destId="{C4CE84BC-6124-46DD-90D1-2EF565F97AD0}" srcOrd="2" destOrd="0" parTransId="{B974227A-9DF6-4FA0-B5AC-DB96F39EB4F1}" sibTransId="{A52D2FE0-CC43-41B0-8E0D-4BBE753D8C8D}"/>
    <dgm:cxn modelId="{D2CA1095-E804-44EC-9D5D-AA57BE2EF501}" type="presOf" srcId="{F0A25E2D-DD53-413F-83CD-08737F018925}" destId="{293C74C6-726F-4A3E-A5C1-7CB9379331B3}" srcOrd="0" destOrd="0" presId="urn:microsoft.com/office/officeart/2005/8/layout/process4"/>
    <dgm:cxn modelId="{21232BDB-89C3-44F1-A58F-8BE4AAF069CB}" type="presOf" srcId="{C4CE84BC-6124-46DD-90D1-2EF565F97AD0}" destId="{65E1CD79-E15B-40D6-8AC7-45B02FEFF2D9}" srcOrd="0" destOrd="0" presId="urn:microsoft.com/office/officeart/2005/8/layout/process4"/>
    <dgm:cxn modelId="{F51369F9-516F-4E09-8BD9-00519BF03836}" type="presOf" srcId="{9F9E7638-DB47-4060-9D09-29CA06F59E0F}" destId="{A58AA0B5-1089-47C6-BFBF-756285DCF4B9}" srcOrd="0" destOrd="0" presId="urn:microsoft.com/office/officeart/2005/8/layout/process4"/>
    <dgm:cxn modelId="{F53C5A59-9009-4093-B108-C8E03E072E36}" type="presParOf" srcId="{CEB194BA-6083-47CC-94C1-EFFF53BB8100}" destId="{1444ECAF-CC7D-4469-99DF-D897E48E9162}" srcOrd="0" destOrd="0" presId="urn:microsoft.com/office/officeart/2005/8/layout/process4"/>
    <dgm:cxn modelId="{60D4D380-AF16-48DB-A5F4-311C9AC4E3F1}" type="presParOf" srcId="{1444ECAF-CC7D-4469-99DF-D897E48E9162}" destId="{CCF32805-E224-40BF-8371-68DF3BA062EA}" srcOrd="0" destOrd="0" presId="urn:microsoft.com/office/officeart/2005/8/layout/process4"/>
    <dgm:cxn modelId="{3CC32894-F85F-499B-9F98-AB0A04548565}" type="presParOf" srcId="{CEB194BA-6083-47CC-94C1-EFFF53BB8100}" destId="{BD2FCC49-8956-46F1-9304-285C8469F694}" srcOrd="1" destOrd="0" presId="urn:microsoft.com/office/officeart/2005/8/layout/process4"/>
    <dgm:cxn modelId="{0B1BBB58-7C3F-4950-8F13-B565B49C0EF7}" type="presParOf" srcId="{CEB194BA-6083-47CC-94C1-EFFF53BB8100}" destId="{1C482EB2-02E3-4AA0-A2DA-5CDB5E85818D}" srcOrd="2" destOrd="0" presId="urn:microsoft.com/office/officeart/2005/8/layout/process4"/>
    <dgm:cxn modelId="{B63C823E-A924-4D83-9E36-6B1227411D74}" type="presParOf" srcId="{1C482EB2-02E3-4AA0-A2DA-5CDB5E85818D}" destId="{C7FC3A89-56B8-421A-AD7B-933CC37C4410}" srcOrd="0" destOrd="0" presId="urn:microsoft.com/office/officeart/2005/8/layout/process4"/>
    <dgm:cxn modelId="{21172401-D33A-4A44-89A3-98BD29D43904}" type="presParOf" srcId="{CEB194BA-6083-47CC-94C1-EFFF53BB8100}" destId="{3B559B69-E128-4885-9D46-FB0B7FF54AF7}" srcOrd="3" destOrd="0" presId="urn:microsoft.com/office/officeart/2005/8/layout/process4"/>
    <dgm:cxn modelId="{FB813D53-6A8D-44D9-B08B-CE2A64BDDA9F}" type="presParOf" srcId="{CEB194BA-6083-47CC-94C1-EFFF53BB8100}" destId="{10BB1080-0A1E-4A0F-A3C9-76BFBB680B85}" srcOrd="4" destOrd="0" presId="urn:microsoft.com/office/officeart/2005/8/layout/process4"/>
    <dgm:cxn modelId="{4D7A0BE9-A355-4BFE-9FB7-36D98B0E12FB}" type="presParOf" srcId="{10BB1080-0A1E-4A0F-A3C9-76BFBB680B85}" destId="{F307CF98-58B8-49A3-ABA7-B1D4B657D908}" srcOrd="0" destOrd="0" presId="urn:microsoft.com/office/officeart/2005/8/layout/process4"/>
    <dgm:cxn modelId="{C7D50870-1D5F-4879-899D-BD28F7053DDB}" type="presParOf" srcId="{CEB194BA-6083-47CC-94C1-EFFF53BB8100}" destId="{CCE1A756-631B-41AF-8D83-4AB9DC547001}" srcOrd="5" destOrd="0" presId="urn:microsoft.com/office/officeart/2005/8/layout/process4"/>
    <dgm:cxn modelId="{FF92449D-592D-4928-A4BA-213A87CC58FD}" type="presParOf" srcId="{CEB194BA-6083-47CC-94C1-EFFF53BB8100}" destId="{5EFCFC99-7C89-41C1-A448-EF6211FEF7D9}" srcOrd="6" destOrd="0" presId="urn:microsoft.com/office/officeart/2005/8/layout/process4"/>
    <dgm:cxn modelId="{4F42AEB8-C12E-46DA-B1F9-EE7C3CED8168}" type="presParOf" srcId="{5EFCFC99-7C89-41C1-A448-EF6211FEF7D9}" destId="{293C74C6-726F-4A3E-A5C1-7CB9379331B3}" srcOrd="0" destOrd="0" presId="urn:microsoft.com/office/officeart/2005/8/layout/process4"/>
    <dgm:cxn modelId="{4A63BF2F-F2AE-41EF-91B4-CE04EEFB1DBB}" type="presParOf" srcId="{CEB194BA-6083-47CC-94C1-EFFF53BB8100}" destId="{F2FAD2FE-D120-4EDF-9E66-66802D5C7C66}" srcOrd="7" destOrd="0" presId="urn:microsoft.com/office/officeart/2005/8/layout/process4"/>
    <dgm:cxn modelId="{F6050488-931C-4071-892D-B2E51B7C5ACB}" type="presParOf" srcId="{CEB194BA-6083-47CC-94C1-EFFF53BB8100}" destId="{15628686-25E6-4DC0-A5EA-D213CF1471EB}" srcOrd="8" destOrd="0" presId="urn:microsoft.com/office/officeart/2005/8/layout/process4"/>
    <dgm:cxn modelId="{B12E52F0-B41F-48F3-AF70-09248BA01780}" type="presParOf" srcId="{15628686-25E6-4DC0-A5EA-D213CF1471EB}" destId="{65E1CD79-E15B-40D6-8AC7-45B02FEFF2D9}" srcOrd="0" destOrd="0" presId="urn:microsoft.com/office/officeart/2005/8/layout/process4"/>
    <dgm:cxn modelId="{80EC5AAA-9D0E-433F-AF0D-B7C4D3C4C659}" type="presParOf" srcId="{CEB194BA-6083-47CC-94C1-EFFF53BB8100}" destId="{22C27556-72D1-4746-83C1-374A51E8CDC9}" srcOrd="9" destOrd="0" presId="urn:microsoft.com/office/officeart/2005/8/layout/process4"/>
    <dgm:cxn modelId="{CDF95C55-0072-4BF0-B7B1-A6B13FB3B741}" type="presParOf" srcId="{CEB194BA-6083-47CC-94C1-EFFF53BB8100}" destId="{5FF997ED-433B-4F29-8C50-B673F43ACB81}" srcOrd="10" destOrd="0" presId="urn:microsoft.com/office/officeart/2005/8/layout/process4"/>
    <dgm:cxn modelId="{D3202C5D-B28B-4CD6-92EE-34A785016BCE}" type="presParOf" srcId="{5FF997ED-433B-4F29-8C50-B673F43ACB81}" destId="{A58AA0B5-1089-47C6-BFBF-756285DCF4B9}" srcOrd="0" destOrd="0" presId="urn:microsoft.com/office/officeart/2005/8/layout/process4"/>
    <dgm:cxn modelId="{CEDD6720-E249-4074-88C0-86247E9D25B7}" type="presParOf" srcId="{CEB194BA-6083-47CC-94C1-EFFF53BB8100}" destId="{B3B417F3-C2B0-4FF8-B062-A58E1B7486AB}" srcOrd="11" destOrd="0" presId="urn:microsoft.com/office/officeart/2005/8/layout/process4"/>
    <dgm:cxn modelId="{57723903-9F3D-4592-B781-59947373DBE3}" type="presParOf" srcId="{CEB194BA-6083-47CC-94C1-EFFF53BB8100}" destId="{F11F4703-D78F-428A-8708-F2BD2A31F5D2}" srcOrd="12" destOrd="0" presId="urn:microsoft.com/office/officeart/2005/8/layout/process4"/>
    <dgm:cxn modelId="{2AF6FB48-0FB5-4559-9BAC-86A94E47C77A}" type="presParOf" srcId="{F11F4703-D78F-428A-8708-F2BD2A31F5D2}" destId="{FCC67992-539F-4ABB-BD01-388E8633189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F32805-E224-40BF-8371-68DF3BA062EA}">
      <dsp:nvSpPr>
        <dsp:cNvPr id="0" name=""/>
        <dsp:cNvSpPr/>
      </dsp:nvSpPr>
      <dsp:spPr>
        <a:xfrm>
          <a:off x="0" y="4543242"/>
          <a:ext cx="5076564" cy="497164"/>
        </a:xfrm>
        <a:prstGeom prst="rect">
          <a:avLst/>
        </a:prstGeom>
        <a:solidFill>
          <a:schemeClr val="accent4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Fazit</a:t>
          </a:r>
          <a:endParaRPr lang="en-US" sz="1700" kern="1200"/>
        </a:p>
      </dsp:txBody>
      <dsp:txXfrm>
        <a:off x="0" y="4543242"/>
        <a:ext cx="5076564" cy="497164"/>
      </dsp:txXfrm>
    </dsp:sp>
    <dsp:sp modelId="{C7FC3A89-56B8-421A-AD7B-933CC37C4410}">
      <dsp:nvSpPr>
        <dsp:cNvPr id="0" name=""/>
        <dsp:cNvSpPr/>
      </dsp:nvSpPr>
      <dsp:spPr>
        <a:xfrm rot="10800000">
          <a:off x="0" y="3786061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Anwendung in der Praxis</a:t>
          </a:r>
          <a:endParaRPr lang="en-US" sz="1700" kern="1200" dirty="0"/>
        </a:p>
      </dsp:txBody>
      <dsp:txXfrm rot="10800000">
        <a:off x="0" y="3786061"/>
        <a:ext cx="5076564" cy="496839"/>
      </dsp:txXfrm>
    </dsp:sp>
    <dsp:sp modelId="{F307CF98-58B8-49A3-ABA7-B1D4B657D908}">
      <dsp:nvSpPr>
        <dsp:cNvPr id="0" name=""/>
        <dsp:cNvSpPr/>
      </dsp:nvSpPr>
      <dsp:spPr>
        <a:xfrm rot="10800000">
          <a:off x="0" y="3028879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1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Ergebnisse</a:t>
          </a:r>
          <a:endParaRPr lang="en-US" sz="1700" kern="1200"/>
        </a:p>
      </dsp:txBody>
      <dsp:txXfrm rot="10800000">
        <a:off x="0" y="3028879"/>
        <a:ext cx="5076564" cy="496839"/>
      </dsp:txXfrm>
    </dsp:sp>
    <dsp:sp modelId="{293C74C6-726F-4A3E-A5C1-7CB9379331B3}">
      <dsp:nvSpPr>
        <dsp:cNvPr id="0" name=""/>
        <dsp:cNvSpPr/>
      </dsp:nvSpPr>
      <dsp:spPr>
        <a:xfrm rot="10800000">
          <a:off x="0" y="2271697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Evaluationsmetriken</a:t>
          </a:r>
          <a:endParaRPr lang="en-US" sz="1700" kern="1200" dirty="0"/>
        </a:p>
      </dsp:txBody>
      <dsp:txXfrm rot="10800000">
        <a:off x="0" y="2271697"/>
        <a:ext cx="5076564" cy="496839"/>
      </dsp:txXfrm>
    </dsp:sp>
    <dsp:sp modelId="{65E1CD79-E15B-40D6-8AC7-45B02FEFF2D9}">
      <dsp:nvSpPr>
        <dsp:cNvPr id="0" name=""/>
        <dsp:cNvSpPr/>
      </dsp:nvSpPr>
      <dsp:spPr>
        <a:xfrm rot="10800000">
          <a:off x="0" y="1514515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2666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Methodisches Vorgehen</a:t>
          </a:r>
          <a:endParaRPr lang="en-US" sz="1700" kern="1200"/>
        </a:p>
      </dsp:txBody>
      <dsp:txXfrm rot="10800000">
        <a:off x="0" y="1514515"/>
        <a:ext cx="5076564" cy="496839"/>
      </dsp:txXfrm>
    </dsp:sp>
    <dsp:sp modelId="{A58AA0B5-1089-47C6-BFBF-756285DCF4B9}">
      <dsp:nvSpPr>
        <dsp:cNvPr id="0" name=""/>
        <dsp:cNvSpPr/>
      </dsp:nvSpPr>
      <dsp:spPr>
        <a:xfrm rot="10800000">
          <a:off x="0" y="757334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33333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Grundlegende Begriffe</a:t>
          </a:r>
          <a:endParaRPr lang="en-US" sz="1700" kern="1200" dirty="0"/>
        </a:p>
      </dsp:txBody>
      <dsp:txXfrm rot="10800000">
        <a:off x="0" y="757334"/>
        <a:ext cx="5076564" cy="496839"/>
      </dsp:txXfrm>
    </dsp:sp>
    <dsp:sp modelId="{FCC67992-539F-4ABB-BD01-388E8633189D}">
      <dsp:nvSpPr>
        <dsp:cNvPr id="0" name=""/>
        <dsp:cNvSpPr/>
      </dsp:nvSpPr>
      <dsp:spPr>
        <a:xfrm rot="10800000">
          <a:off x="0" y="152"/>
          <a:ext cx="5076564" cy="764639"/>
        </a:xfrm>
        <a:prstGeom prst="upArrowCallout">
          <a:avLst/>
        </a:prstGeom>
        <a:solidFill>
          <a:schemeClr val="accent4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Motivation</a:t>
          </a:r>
          <a:endParaRPr lang="en-US" sz="1700" kern="1200" dirty="0"/>
        </a:p>
      </dsp:txBody>
      <dsp:txXfrm rot="10800000">
        <a:off x="0" y="152"/>
        <a:ext cx="5076564" cy="4968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5CE3EDF-CD23-4303-BC6B-B101A33E4BE9}" type="datetimeFigureOut">
              <a:rPr lang="de-DE"/>
              <a:pPr>
                <a:defRPr/>
              </a:pPr>
              <a:t>26.01.2026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69D3229-373D-4366-A364-EB0D0074DE9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AE433A1-1168-4FD8-B922-9C38DE57C7E7}" type="datetimeFigureOut">
              <a:rPr lang="de-DE"/>
              <a:pPr>
                <a:defRPr/>
              </a:pPr>
              <a:t>26.01.2026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62C4B85-5E71-423A-A9E4-96958528BF1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71600" y="1143000"/>
            <a:ext cx="41148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59" name="Notizenplatzhalt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r>
              <a:rPr lang="de-DE" altLang="de-DE" dirty="0"/>
              <a:t>Herzlich Willkommen zu meiner Präsentation im Seminar Methoden der Erklärbaren KI.</a:t>
            </a:r>
          </a:p>
          <a:p>
            <a:pPr eaLnBrk="1" hangingPunct="1">
              <a:spcBef>
                <a:spcPct val="0"/>
              </a:spcBef>
            </a:pPr>
            <a:endParaRPr lang="de-DE" altLang="de-DE" dirty="0"/>
          </a:p>
          <a:p>
            <a:pPr eaLnBrk="1" hangingPunct="1">
              <a:spcBef>
                <a:spcPct val="0"/>
              </a:spcBef>
            </a:pPr>
            <a:r>
              <a:rPr lang="de-DE" altLang="de-DE" dirty="0"/>
              <a:t>Ich stelle Ihnen einen Erklärungsansatz durch vielfältige kontrafaktische Erklärungen mittels Klassifizierungs-Modellen vor.</a:t>
            </a:r>
          </a:p>
        </p:txBody>
      </p:sp>
      <p:sp>
        <p:nvSpPr>
          <p:cNvPr id="19460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fld id="{316EAC40-68B8-4211-B26D-7C254D782D2F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betrachtet nur Klassifikatoren, also Modelle welche eine Eingabe einer Klasse zuordnen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71175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Kategorial = diskrete Werte</a:t>
            </a:r>
          </a:p>
          <a:p>
            <a:r>
              <a:rPr lang="de-DE" dirty="0"/>
              <a:t>Kontinuierliche = nehmen jeden beliebigen reellen Wert in einem Bereich an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295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Modifiziertes Gegenbeispiel = kontrafaktische Erklärung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5136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Black Box Modell: Betrachtet nur Ein- und Ausgabeverhalten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8429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Gewünschte = gegenteilige Klasse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520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613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6D530-F7A1-1414-54D9-5B0BD318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DADBBA-694E-F591-EA73-C534143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207138-9815-84E1-D718-7BD3A2DE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B0FF5-A147-C565-740C-6FE53762F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467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F8053-3B9E-7EC1-8CE0-46D1DEFB5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9B3EC1-51FE-4969-68EA-A0148ECC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11D1A8A-3990-8BAD-5D49-BAC958CD9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59EA7-665B-D8D7-F962-215B0E57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3817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807E-31F2-7F28-7316-78153E47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77BD31-5925-E268-3C06-36C73855D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AC57225-8539-61B7-13E9-711FBEE86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Zufällige CFs können in jeder Klasse sein!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Die korrekte Zielklasse wird erst durch die Verlustfunktion erreicht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12B8C-CD18-F17D-8934-C3FBCF5A6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4210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724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A805A-8EB9-EA93-6ADB-44E66D38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DDDBBCF-F27F-EA41-D5DD-4C3326951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10064D1-2A7D-9668-38E0-E321957C2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Arg min = Suchen der Argument die den minimalen Wert liefern</a:t>
            </a:r>
          </a:p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71440E-1224-17C1-EA29-5C0F902EF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92427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8597-44C0-815C-E3C2-DFD3A03F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CE06E73-76A6-BD2B-5C48-B7955EAEF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49E2F9-DCDE-A777-966C-02D417F34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Dist</a:t>
            </a:r>
            <a:r>
              <a:rPr lang="de-DE" dirty="0"/>
              <a:t> ist l1-Distanz -&gt; </a:t>
            </a:r>
            <a:r>
              <a:rPr lang="de-DE" dirty="0" err="1"/>
              <a:t>Manhatten</a:t>
            </a:r>
            <a:r>
              <a:rPr lang="de-DE" dirty="0"/>
              <a:t>-Distanz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B449E9-A008-C2D7-058E-891A6BE4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906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08098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Robustheit erhöhen durch Pufferbereich</a:t>
            </a:r>
          </a:p>
          <a:p>
            <a:r>
              <a:rPr lang="de-DE" dirty="0"/>
              <a:t>Zu strenge Bestrafung bei korrekter Klassifikation ist schlecht!</a:t>
            </a:r>
          </a:p>
          <a:p>
            <a:r>
              <a:rPr lang="de-DE" dirty="0"/>
              <a:t>Das drängt Counterfactuals weg von der Ursprungssituation (weg von der Entscheidungsgrenze)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Sinkende Proximität!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Muss sehr sichere Alternativszenarien geben. Können deutlich mehr </a:t>
            </a:r>
            <a:r>
              <a:rPr lang="de-DE" dirty="0" err="1"/>
              <a:t>erfodern</a:t>
            </a:r>
            <a:r>
              <a:rPr lang="de-DE" dirty="0"/>
              <a:t> als eigentlich benötigt wird!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8357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88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53BD0-C222-008D-6E9C-3CFC7392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1E3732F-512F-4461-6A63-F7F687990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387F80-AE74-E881-FA5E-E4A6BBE24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B3A5EE-815D-F421-BC27-EDE7310B3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6317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F4A6-C812-C21A-E87C-D18397ED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9CD365C-8E01-D243-8986-EB6D21A06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8C9B495-4FDE-B003-7F3B-54FB57E2A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52EB9C-7E0F-B96D-D27B-731226253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02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8576-6D6F-5847-FFA6-97E8DF34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D851550-E2F5-858B-9A3D-98F25017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1E66A4-6DAD-F8DD-8DD2-4AE46E72F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Höhere Machbarkeit = Alternativszenario kann mit größerer Wahrscheinlichkeit in der Realität umgesetzt werden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E1B61A-10E5-FCED-30B3-5BA1DC00B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8856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2945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AB038-482B-55C5-DE88-FEA5F252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C6247A-2F4B-82AA-8402-156E925FF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318B02-AEEC-EAC0-0B8D-BA7072C9D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5D6A50-3332-21AB-3216-AEA252B8E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94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A7D6A-9169-45A3-D0C5-5A95E88C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B470FC6-A8C5-5FF8-1188-BFB0B16B1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2FDA5A5-A813-3D52-F7A4-31BA6E25E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79349-BFE6-D157-2008-4B6F3708B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6840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2B2F-0FE6-EF3C-FC9D-F75EFB857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70D90EA-8BF9-1BC5-1AB5-4694BABC7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EE2A7E0-B111-855D-06E7-87EA766FE3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Dpp</a:t>
            </a:r>
            <a:r>
              <a:rPr lang="de-DE" dirty="0"/>
              <a:t> = </a:t>
            </a:r>
            <a:r>
              <a:rPr lang="de-DE" dirty="0" err="1"/>
              <a:t>Determinantal</a:t>
            </a:r>
            <a:r>
              <a:rPr lang="de-DE" dirty="0"/>
              <a:t> Point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K = Ähnlichkeitsmatrix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53A385-9F55-EBFC-2EDA-0C1EE9BA23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23398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A18B3-55A8-6503-6FF1-B8C6311C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00D340-BDC9-53DD-051F-697D74F0B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ECEF0-D16D-EA59-A638-4DAE76C1F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Lambda-Parameter = 1 wichtig, da sonst Gültigkeit an Einfluss verliert.</a:t>
            </a:r>
          </a:p>
          <a:p>
            <a:r>
              <a:rPr lang="de-DE" dirty="0"/>
              <a:t>Hier </a:t>
            </a:r>
            <a:r>
              <a:rPr lang="de-DE" dirty="0" err="1"/>
              <a:t>machbarkeit</a:t>
            </a:r>
            <a:r>
              <a:rPr lang="de-DE" dirty="0"/>
              <a:t> erst erklären</a:t>
            </a:r>
          </a:p>
          <a:p>
            <a:r>
              <a:rPr lang="de-DE" dirty="0"/>
              <a:t>Minus </a:t>
            </a:r>
            <a:r>
              <a:rPr lang="de-DE" dirty="0" err="1"/>
              <a:t>minus</a:t>
            </a:r>
            <a:r>
              <a:rPr lang="de-DE" dirty="0"/>
              <a:t> statt plus</a:t>
            </a:r>
          </a:p>
          <a:p>
            <a:r>
              <a:rPr lang="de-DE" dirty="0"/>
              <a:t>Wir ziehen Terme ab um Funktionswert zu minimieren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C95BDA-5911-C0E5-57AF-643D637BC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5297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2824F-61B7-EBD0-DFEA-74C624444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DD538AF-032E-208C-E9CC-F76D640D8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6D67361-3456-914E-91B9-C040E74A6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DiCE prüft nicht auf Eindeutigkeit in der Generierung!!!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BE0BFA-D343-3C2D-AAAE-E0AAE7432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8644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Wertebreich</a:t>
            </a:r>
            <a:r>
              <a:rPr lang="de-DE" dirty="0"/>
              <a:t> = (-unendlich, 0]</a:t>
            </a:r>
          </a:p>
          <a:p>
            <a:r>
              <a:rPr lang="de-DE" dirty="0"/>
              <a:t>Je geringer die Proximität desto negativer der Wert</a:t>
            </a:r>
          </a:p>
          <a:p>
            <a:endParaRPr lang="de-DE" dirty="0"/>
          </a:p>
          <a:p>
            <a:r>
              <a:rPr lang="de-DE" dirty="0" err="1"/>
              <a:t>Sparsity</a:t>
            </a:r>
            <a:r>
              <a:rPr lang="de-DE" dirty="0"/>
              <a:t> enthält auch kat. Proximität!</a:t>
            </a:r>
          </a:p>
          <a:p>
            <a:r>
              <a:rPr lang="de-DE" dirty="0"/>
              <a:t>d: Anzahl der Features</a:t>
            </a:r>
          </a:p>
          <a:p>
            <a:r>
              <a:rPr lang="de-DE" dirty="0"/>
              <a:t>K: </a:t>
            </a:r>
            <a:r>
              <a:rPr lang="de-DE" dirty="0" err="1"/>
              <a:t>Anazhl</a:t>
            </a:r>
            <a:r>
              <a:rPr lang="de-DE" dirty="0"/>
              <a:t> der Counterfactuals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99433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B462-A1FE-68E2-2C8A-6B821F7C6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E26138-E6E2-7851-3848-E93E0BE55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804ED4-1044-C2A9-4251-64811628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Das ist die Mittlere Paarweise Distanz zwischen allen Counterfactuals</a:t>
            </a:r>
          </a:p>
          <a:p>
            <a:r>
              <a:rPr lang="de-DE" dirty="0"/>
              <a:t>C_k^2: Anzahl der möglichen Paare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58AE02-E230-55FA-F2F1-955B38217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69996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RandomInitCF</a:t>
            </a:r>
            <a:r>
              <a:rPr lang="de-DE" dirty="0"/>
              <a:t> und </a:t>
            </a:r>
            <a:r>
              <a:rPr lang="de-DE" dirty="0" err="1"/>
              <a:t>NoDiversityCF</a:t>
            </a:r>
            <a:r>
              <a:rPr lang="de-DE" dirty="0"/>
              <a:t> eigentlich gleich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Unterschied: </a:t>
            </a:r>
            <a:r>
              <a:rPr lang="de-DE" dirty="0" err="1"/>
              <a:t>Algo</a:t>
            </a:r>
            <a:r>
              <a:rPr lang="de-DE" dirty="0"/>
              <a:t> berechnet jeweils ein CF VS </a:t>
            </a:r>
            <a:r>
              <a:rPr lang="de-DE" dirty="0" err="1"/>
              <a:t>Algo</a:t>
            </a:r>
            <a:r>
              <a:rPr lang="de-DE" dirty="0"/>
              <a:t> berechnet gleichzeitig all CFs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Soll aufzeigen, dass beides nicht ausreichend ist ohne expliziten Diversitätsterm!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0599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1D075-8AA6-C4F8-DC78-D684078FA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D609B0-573C-A155-F24B-60AD96845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86FC20-CDEA-A1B4-42BA-CBB7F28B2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  <a:p>
            <a:r>
              <a:rPr lang="de-DE" dirty="0"/>
              <a:t>Nachbearbeitungsschritt erzeugt bei </a:t>
            </a:r>
            <a:r>
              <a:rPr lang="de-DE" dirty="0" err="1"/>
              <a:t>NoDiverseCF</a:t>
            </a:r>
            <a:r>
              <a:rPr lang="de-DE" dirty="0"/>
              <a:t> Duplikate durch das Zurücksetzen!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98DCB1-1C7D-F3B7-4A48-7F7996C00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08821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3FBE8-8A72-1ECE-966A-E7955340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69D667C-5FEB-8674-9D33-E45093D8C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B243607-5F0A-543A-69CF-C3FA05172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23D906-F07F-9360-AEBD-4C776A185D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46614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3894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F0334-263E-B175-166B-AE3094984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C97E6E-B129-1A61-EA48-6A991BD22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FB2592-A1AE-FD75-60DE-97DB1B247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735DF1-F9F0-1B83-EC1C-5F339249E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82386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3155-1B03-F3D6-B713-60F8D097C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ADC6946-D0D0-40AD-6F8F-1EB5A313EF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17B7EEB-79BD-DDDA-1094-9977C812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Konstruktion des DiCE-Objekts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Generierung der Counterfactuals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Visualisierung der Feature-Änderungen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3FBD45-D168-7D50-F014-B8EE3BCC5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192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Verbesserungsmöglichkeit: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Sortierung der generierten Erklärungen nach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r>
              <a:rPr lang="de-DE" dirty="0"/>
              <a:t>Metrik finden für Machbarkeit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endParaRPr lang="de-DE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ML-Modell muss wegen Gradientenabstiegsverfahren differenzierbar sein!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lang="de-DE" dirty="0"/>
          </a:p>
          <a:p>
            <a:r>
              <a:rPr lang="de-DE" dirty="0"/>
              <a:t>-&gt; Vorarbeit durch Anwender reduzieren? Durch LLMs?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6132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Hinge-Loss Pufferbereich zu groß? Was sind negative Konsequenzen?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Kann man Multiklassen einbauen?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dirty="0"/>
              <a:t>Ist es möglich eine Metrik für Machbarkeit zu definieren? Dann könnte man CFs sortieren um kognitive Überlastung zu reduzieren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59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2005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DAB46-200B-4C61-93F6-E63FDFBE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1624F6-35C5-DAFB-9BD1-13A0607A0E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38728-0015-3CF9-DEC2-4FFD7998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C_k^2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88731D-C5CE-077F-1CEE-C898CA2E1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4555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Offensichtlich: </a:t>
            </a:r>
            <a:r>
              <a:rPr lang="de-DE" dirty="0" err="1"/>
              <a:t>RandomInit</a:t>
            </a:r>
            <a:r>
              <a:rPr lang="de-DE" dirty="0"/>
              <a:t> und </a:t>
            </a:r>
            <a:r>
              <a:rPr lang="de-DE" dirty="0" err="1"/>
              <a:t>NoDiversity</a:t>
            </a:r>
            <a:r>
              <a:rPr lang="de-DE" dirty="0"/>
              <a:t> nahezu identische Ergebnisse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2C4B85-5E71-423A-A9E4-96958528BF14}" type="slidenum">
              <a:rPr lang="de-DE" smtClean="0"/>
              <a:pPr>
                <a:defRPr/>
              </a:pPr>
              <a:t>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106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13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32B3D7-AC27-5FA3-6542-B36CF2C810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/>
          <p:cNvSpPr/>
          <p:nvPr userDrawn="1"/>
        </p:nvSpPr>
        <p:spPr>
          <a:xfrm>
            <a:off x="-192088" y="-115887"/>
            <a:ext cx="9528176" cy="6202363"/>
          </a:xfrm>
          <a:custGeom>
            <a:avLst/>
            <a:gdLst>
              <a:gd name="connsiteX0" fmla="*/ 0 w 9529482"/>
              <a:gd name="connsiteY0" fmla="*/ 44823 h 6203576"/>
              <a:gd name="connsiteX1" fmla="*/ 26894 w 9529482"/>
              <a:gd name="connsiteY1" fmla="*/ 6203576 h 6203576"/>
              <a:gd name="connsiteX2" fmla="*/ 9484658 w 9529482"/>
              <a:gd name="connsiteY2" fmla="*/ 4814047 h 6203576"/>
              <a:gd name="connsiteX3" fmla="*/ 9529482 w 9529482"/>
              <a:gd name="connsiteY3" fmla="*/ 0 h 6203576"/>
              <a:gd name="connsiteX4" fmla="*/ 0 w 9529482"/>
              <a:gd name="connsiteY4" fmla="*/ 44823 h 6203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29482" h="6203576">
                <a:moveTo>
                  <a:pt x="0" y="44823"/>
                </a:moveTo>
                <a:lnTo>
                  <a:pt x="26894" y="6203576"/>
                </a:lnTo>
                <a:lnTo>
                  <a:pt x="9484658" y="4814047"/>
                </a:lnTo>
                <a:lnTo>
                  <a:pt x="9529482" y="0"/>
                </a:lnTo>
                <a:lnTo>
                  <a:pt x="0" y="44823"/>
                </a:lnTo>
                <a:close/>
              </a:path>
            </a:pathLst>
          </a:custGeom>
          <a:solidFill>
            <a:srgbClr val="D9C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0"/>
          </p:nvPr>
        </p:nvSpPr>
        <p:spPr>
          <a:xfrm>
            <a:off x="256329" y="1268760"/>
            <a:ext cx="8631343" cy="244827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FontTx/>
              <a:buNone/>
              <a:defRPr sz="25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28F1700B-B100-BE39-17EC-B6347B3BF2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112" y="5808073"/>
            <a:ext cx="3307560" cy="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9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2057400" indent="0">
              <a:lnSpc>
                <a:spcPct val="150000"/>
              </a:lnSpc>
              <a:buNone/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114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502156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74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quarter" idx="13" hasCustomPrompt="1"/>
          </p:nvPr>
        </p:nvSpPr>
        <p:spPr>
          <a:xfrm>
            <a:off x="251520" y="1268760"/>
            <a:ext cx="8640000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98E26C-8BAA-4ACE-83C6-8F04F03DE16F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9" name="Foliennummernplatzhalter 5"/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CEE4A-E163-47DE-8784-5B8DE9F7A78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1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2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5075983A-7217-1CBB-9453-392447757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3" name="Inhaltsplatzhalter 7">
            <a:extLst>
              <a:ext uri="{FF2B5EF4-FFF2-40B4-BE49-F238E27FC236}">
                <a16:creationId xmlns:a16="http://schemas.microsoft.com/office/drawing/2014/main" id="{D753FB44-A6BB-3566-6925-8E8B300FE5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Bildplatzhalter 7">
            <a:extLst>
              <a:ext uri="{FF2B5EF4-FFF2-40B4-BE49-F238E27FC236}">
                <a16:creationId xmlns:a16="http://schemas.microsoft.com/office/drawing/2014/main" id="{29009F89-8E54-4234-F005-502B13A8FD3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52094" y="1268760"/>
            <a:ext cx="4242430" cy="504239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517490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3"/>
          <p:cNvSpPr>
            <a:spLocks noGrp="1"/>
          </p:cNvSpPr>
          <p:nvPr>
            <p:ph type="dt" sz="half" idx="17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33FF64-A3FB-4BFC-BA0F-A64F5FE3D3F2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8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9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806B55-EB36-49A9-ADB4-61E75E31F1FA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AEDF33F4-6F90-218F-3954-2C3E49AFFF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BA937B1C-FD0E-3C8C-3A96-CA12E48673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4240388" cy="5040560"/>
          </a:xfrm>
          <a:prstGeom prst="rect">
            <a:avLst/>
          </a:prstGeom>
        </p:spPr>
        <p:txBody>
          <a:bodyPr/>
          <a:lstStyle>
            <a:lvl1pPr marL="257175" indent="-257175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05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 marL="15430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lnSpc>
                <a:spcPct val="150000"/>
              </a:lnSpc>
              <a:defRPr sz="1050"/>
            </a:lvl7pPr>
            <a:lvl8pPr marL="2400300" indent="0">
              <a:lnSpc>
                <a:spcPct val="150000"/>
              </a:lnSpc>
              <a:buNone/>
              <a:defRPr sz="1050"/>
            </a:lvl8pPr>
            <a:lvl9pPr marL="2914650" indent="0">
              <a:buNone/>
              <a:defRPr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Inhaltsplatzhalter 7">
            <a:extLst>
              <a:ext uri="{FF2B5EF4-FFF2-40B4-BE49-F238E27FC236}">
                <a16:creationId xmlns:a16="http://schemas.microsoft.com/office/drawing/2014/main" id="{7D85B1AB-FF3F-FE7C-70F5-62002DD35F0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651132" y="1268760"/>
            <a:ext cx="4240388" cy="504056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None/>
              <a:defRPr sz="1500"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3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>
              <a:lnSpc>
                <a:spcPct val="150000"/>
              </a:lnSpc>
              <a:buClr>
                <a:srgbClr val="115E67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/>
            </a:lvl4pPr>
            <a:lvl5pPr>
              <a:defRPr/>
            </a:lvl5pPr>
            <a:lvl6pP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6pPr>
          </a:lstStyle>
          <a:p>
            <a:pPr lvl="0"/>
            <a:r>
              <a:rPr lang="de-DE" dirty="0">
                <a:latin typeface="Consolas" panose="020B0609020204030204" pitchFamily="49" charset="0"/>
              </a:rPr>
              <a:t>Quellcode</a:t>
            </a:r>
          </a:p>
        </p:txBody>
      </p:sp>
    </p:spTree>
    <p:extLst>
      <p:ext uri="{BB962C8B-B14F-4D97-AF65-F5344CB8AC3E}">
        <p14:creationId xmlns:p14="http://schemas.microsoft.com/office/powerpoint/2010/main" val="3326832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: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8640000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864000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6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1F2F7E-68CC-462A-94CB-94BBC0D4D084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F684CA-D0A1-41F6-BDC0-3E2E4B5DACF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60C31720-BFF8-0AA1-F141-2142C21CAE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88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23785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Bildplatzhalter 7"/>
          <p:cNvSpPr>
            <a:spLocks noGrp="1"/>
          </p:cNvSpPr>
          <p:nvPr>
            <p:ph type="pic" sz="quarter" idx="14"/>
          </p:nvPr>
        </p:nvSpPr>
        <p:spPr>
          <a:xfrm>
            <a:off x="4658309" y="1268760"/>
            <a:ext cx="4223784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Datumsplatzhalter 3"/>
          <p:cNvSpPr>
            <a:spLocks noGrp="1"/>
          </p:cNvSpPr>
          <p:nvPr>
            <p:ph type="dt" sz="half" idx="15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D6379F-AFCE-452D-9D46-18A25C0B9626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16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17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CBEA50-28BB-424E-967D-ECCE62A9890E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3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5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C0EE613F-EAAA-76DF-3982-C651056C6D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31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2 Spalten mit Beschrift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5" y="1268760"/>
            <a:ext cx="4210185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5"/>
          </p:nvPr>
        </p:nvSpPr>
        <p:spPr>
          <a:xfrm>
            <a:off x="254525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Inhaltsplatzhalter 10"/>
          <p:cNvSpPr>
            <a:spLocks noGrp="1"/>
          </p:cNvSpPr>
          <p:nvPr>
            <p:ph sz="quarter" idx="16"/>
          </p:nvPr>
        </p:nvSpPr>
        <p:spPr>
          <a:xfrm>
            <a:off x="4639664" y="5778477"/>
            <a:ext cx="4252570" cy="530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05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Bildplatzhalter 7"/>
          <p:cNvSpPr>
            <a:spLocks noGrp="1"/>
          </p:cNvSpPr>
          <p:nvPr>
            <p:ph type="pic" sz="quarter" idx="17"/>
          </p:nvPr>
        </p:nvSpPr>
        <p:spPr>
          <a:xfrm>
            <a:off x="4658310" y="1268760"/>
            <a:ext cx="4223784" cy="432048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18"/>
          </p:nvPr>
        </p:nvSpPr>
        <p:spPr>
          <a:xfrm>
            <a:off x="263526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F5E127-8AE2-45F9-8279-D6C985C040A5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13" name="Fußzeilenplatzhalter 4"/>
          <p:cNvSpPr>
            <a:spLocks noGrp="1"/>
          </p:cNvSpPr>
          <p:nvPr>
            <p:ph type="ftr" sz="quarter" idx="19"/>
          </p:nvPr>
        </p:nvSpPr>
        <p:spPr>
          <a:xfrm>
            <a:off x="2324101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" name="Foliennummernplatzhalter 5"/>
          <p:cNvSpPr>
            <a:spLocks noGrp="1"/>
          </p:cNvSpPr>
          <p:nvPr>
            <p:ph type="sldNum" sz="quarter" idx="20"/>
          </p:nvPr>
        </p:nvSpPr>
        <p:spPr>
          <a:xfrm>
            <a:off x="7451726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8B97EE-25F5-4EFD-B8E8-0C5D00DE03FB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7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9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0210DFFF-8658-C46E-E781-0E7A905039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11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3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4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4"/>
          </p:nvPr>
        </p:nvSpPr>
        <p:spPr>
          <a:xfrm>
            <a:off x="3230850" y="1268760"/>
            <a:ext cx="2690678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5"/>
          </p:nvPr>
        </p:nvSpPr>
        <p:spPr>
          <a:xfrm>
            <a:off x="6110093" y="1268760"/>
            <a:ext cx="2772000" cy="504056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16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70B058-52FD-4490-B0D3-D3BA1A853FDA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17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18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4A88A5-D0F8-4804-8772-54364BC0F87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5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17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4FF2E71D-C421-3B6F-AB17-D0ED39D108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9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: 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xfrm>
            <a:off x="254523" y="3067058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6"/>
          </p:nvPr>
        </p:nvSpPr>
        <p:spPr>
          <a:xfrm>
            <a:off x="248067" y="4869320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19"/>
          </p:nvPr>
        </p:nvSpPr>
        <p:spPr>
          <a:xfrm>
            <a:off x="254001" y="6453188"/>
            <a:ext cx="1860550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219B38-F312-458C-89BB-09846E532A35}" type="datetime1">
              <a:rPr lang="de-DE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20"/>
          </p:nvPr>
        </p:nvSpPr>
        <p:spPr>
          <a:xfrm>
            <a:off x="2314576" y="6453188"/>
            <a:ext cx="4948238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17" name="Foliennummernplatzhalter 5"/>
          <p:cNvSpPr>
            <a:spLocks noGrp="1"/>
          </p:cNvSpPr>
          <p:nvPr>
            <p:ph type="sldNum" sz="quarter" idx="21"/>
          </p:nvPr>
        </p:nvSpPr>
        <p:spPr>
          <a:xfrm>
            <a:off x="7442201" y="6453188"/>
            <a:ext cx="1439863" cy="2857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1AA8A7-6CDB-4C1B-AF42-D508E5AB25D5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0" y="900000"/>
            <a:ext cx="9144000" cy="5820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endParaRPr lang="de-DE"/>
          </a:p>
        </p:txBody>
      </p:sp>
      <p:sp>
        <p:nvSpPr>
          <p:cNvPr id="20" name="Titel 3"/>
          <p:cNvSpPr>
            <a:spLocks noGrp="1" noChangeAspect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t">
            <a:normAutofit/>
          </a:bodyPr>
          <a:lstStyle>
            <a:lvl1pPr>
              <a:defRPr sz="150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1" name="Bildplatzhalter 7"/>
          <p:cNvSpPr>
            <a:spLocks noGrp="1" noChangeAspect="1"/>
          </p:cNvSpPr>
          <p:nvPr>
            <p:ph type="pic" sz="quarter" idx="22"/>
          </p:nvPr>
        </p:nvSpPr>
        <p:spPr>
          <a:xfrm>
            <a:off x="254000" y="1264796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Bildplatzhalter 7"/>
          <p:cNvSpPr>
            <a:spLocks noGrp="1"/>
          </p:cNvSpPr>
          <p:nvPr>
            <p:ph type="pic" sz="quarter" idx="23"/>
          </p:nvPr>
        </p:nvSpPr>
        <p:spPr>
          <a:xfrm>
            <a:off x="612048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3" name="Bildplatzhalter 7"/>
          <p:cNvSpPr>
            <a:spLocks noGrp="1"/>
          </p:cNvSpPr>
          <p:nvPr>
            <p:ph type="pic" sz="quarter" idx="24"/>
          </p:nvPr>
        </p:nvSpPr>
        <p:spPr>
          <a:xfrm>
            <a:off x="6114024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Bildplatzhalter 7"/>
          <p:cNvSpPr>
            <a:spLocks noGrp="1" noChangeAspect="1"/>
          </p:cNvSpPr>
          <p:nvPr>
            <p:ph type="pic" sz="quarter" idx="25"/>
          </p:nvPr>
        </p:nvSpPr>
        <p:spPr>
          <a:xfrm>
            <a:off x="6119957" y="126876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5" name="Bildplatzhalter 7"/>
          <p:cNvSpPr>
            <a:spLocks noGrp="1"/>
          </p:cNvSpPr>
          <p:nvPr>
            <p:ph type="pic" sz="quarter" idx="26"/>
          </p:nvPr>
        </p:nvSpPr>
        <p:spPr>
          <a:xfrm>
            <a:off x="3186000" y="3071022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Bildplatzhalter 7"/>
          <p:cNvSpPr>
            <a:spLocks noGrp="1"/>
          </p:cNvSpPr>
          <p:nvPr>
            <p:ph type="pic" sz="quarter" idx="27"/>
          </p:nvPr>
        </p:nvSpPr>
        <p:spPr>
          <a:xfrm>
            <a:off x="3186000" y="4873284"/>
            <a:ext cx="2772000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7" name="Bildplatzhalter 7"/>
          <p:cNvSpPr>
            <a:spLocks noGrp="1" noChangeAspect="1"/>
          </p:cNvSpPr>
          <p:nvPr>
            <p:ph type="pic" sz="quarter" idx="28"/>
          </p:nvPr>
        </p:nvSpPr>
        <p:spPr>
          <a:xfrm>
            <a:off x="3186001" y="1267200"/>
            <a:ext cx="2766067" cy="14400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5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pic>
        <p:nvPicPr>
          <p:cNvPr id="2" name="Grafik 1" descr="Ein Bild, das Text enthält.&#10;&#10;Automatisch generierte Beschreibung">
            <a:extLst>
              <a:ext uri="{FF2B5EF4-FFF2-40B4-BE49-F238E27FC236}">
                <a16:creationId xmlns:a16="http://schemas.microsoft.com/office/drawing/2014/main" id="{1437D6D8-0DE4-6B5C-2C5F-427A3E1E5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543" y="138342"/>
            <a:ext cx="2301977" cy="5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4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3"/>
          <p:cNvSpPr>
            <a:spLocks noGrp="1"/>
          </p:cNvSpPr>
          <p:nvPr>
            <p:ph type="dt" sz="half" idx="2"/>
          </p:nvPr>
        </p:nvSpPr>
        <p:spPr>
          <a:xfrm>
            <a:off x="250826" y="6453188"/>
            <a:ext cx="1860550" cy="285750"/>
          </a:xfrm>
          <a:prstGeom prst="rect">
            <a:avLst/>
          </a:prstGeom>
        </p:spPr>
        <p:txBody>
          <a:bodyPr/>
          <a:lstStyle>
            <a:lvl1pPr algn="l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8FB80984-C7AB-4089-8D7F-A7A8CFC97560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2311401" y="6453188"/>
            <a:ext cx="4948238" cy="285750"/>
          </a:xfrm>
          <a:prstGeom prst="rect">
            <a:avLst/>
          </a:prstGeom>
        </p:spPr>
        <p:txBody>
          <a:bodyPr/>
          <a:lstStyle>
            <a:lvl1pPr>
              <a:defRPr sz="1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40614" y="6453188"/>
            <a:ext cx="1438275" cy="285750"/>
          </a:xfrm>
          <a:prstGeom prst="rect">
            <a:avLst/>
          </a:prstGeom>
        </p:spPr>
        <p:txBody>
          <a:bodyPr/>
          <a:lstStyle>
            <a:lvl1pPr algn="r">
              <a:defRPr sz="1200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>
              <a:defRPr/>
            </a:pPr>
            <a:fld id="{AB0173C9-4951-44B4-BE8B-FB39CEF44EE9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8" name="Titelplatzhalter 7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25598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6D367DE-D509-EB0A-71F0-E3F2789DEBE1}"/>
              </a:ext>
            </a:extLst>
          </p:cNvPr>
          <p:cNvSpPr txBox="1"/>
          <p:nvPr userDrawn="1"/>
        </p:nvSpPr>
        <p:spPr>
          <a:xfrm>
            <a:off x="683568" y="3284984"/>
            <a:ext cx="405045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5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75" r:id="rId4"/>
    <p:sldLayoutId id="2147483776" r:id="rId5"/>
    <p:sldLayoutId id="2147483768" r:id="rId6"/>
    <p:sldLayoutId id="2147483777" r:id="rId7"/>
    <p:sldLayoutId id="2147483770" r:id="rId8"/>
    <p:sldLayoutId id="2147483771" r:id="rId9"/>
    <p:sldLayoutId id="2147483772" r:id="rId10"/>
    <p:sldLayoutId id="2147483773" r:id="rId11"/>
    <p:sldLayoutId id="2147483774" r:id="rId12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lwyn New Lt" panose="020B03030000000200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lwyn New Lt" panose="020B0303000000020004" pitchFamily="34" charset="0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2/adult" TargetMode="External"/><Relationship Id="rId2" Type="http://schemas.openxmlformats.org/officeDocument/2006/relationships/hyperlink" Target="https://www.tagesschau.de/ausland/europa/albanien-ki-ministerin-100.html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interpretml/DiCE" TargetMode="Externa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extplatzhalter 6"/>
          <p:cNvSpPr>
            <a:spLocks noGrp="1"/>
          </p:cNvSpPr>
          <p:nvPr>
            <p:ph type="body" sz="quarter" idx="10"/>
          </p:nvPr>
        </p:nvSpPr>
        <p:spPr bwMode="auto">
          <a:xfrm>
            <a:off x="256326" y="980728"/>
            <a:ext cx="8631343" cy="3384376"/>
          </a:xfrm>
          <a:custGeom>
            <a:avLst/>
            <a:gdLst>
              <a:gd name="T0" fmla="*/ 0 w 9144000"/>
              <a:gd name="T1" fmla="*/ 0 h 5963462"/>
              <a:gd name="T2" fmla="*/ 7263209 w 9144000"/>
              <a:gd name="T3" fmla="*/ 0 h 5963462"/>
              <a:gd name="T4" fmla="*/ 7263209 w 9144000"/>
              <a:gd name="T5" fmla="*/ 132131 h 5963462"/>
              <a:gd name="T6" fmla="*/ 0 w 9144000"/>
              <a:gd name="T7" fmla="*/ 169340 h 5963462"/>
              <a:gd name="T8" fmla="*/ 0 w 9144000"/>
              <a:gd name="T9" fmla="*/ 0 h 596346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144000"/>
              <a:gd name="T16" fmla="*/ 0 h 5963462"/>
              <a:gd name="T17" fmla="*/ 9144000 w 9144000"/>
              <a:gd name="T18" fmla="*/ 5963462 h 596346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144000" h="5963462">
                <a:moveTo>
                  <a:pt x="0" y="0"/>
                </a:moveTo>
                <a:lnTo>
                  <a:pt x="9144000" y="0"/>
                </a:lnTo>
                <a:lnTo>
                  <a:pt x="9144000" y="4653136"/>
                </a:lnTo>
                <a:lnTo>
                  <a:pt x="0" y="5963462"/>
                </a:lnTo>
                <a:lnTo>
                  <a:pt x="0" y="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>
              <a:spcBef>
                <a:spcPct val="0"/>
              </a:spcBef>
            </a:pPr>
            <a:r>
              <a:rPr lang="de-DE" altLang="de-DE" sz="2800" dirty="0"/>
              <a:t>Seminar: „Methoden der Erklärbaren KI“</a:t>
            </a:r>
          </a:p>
          <a:p>
            <a:pPr algn="ctr">
              <a:spcBef>
                <a:spcPct val="0"/>
              </a:spcBef>
            </a:pPr>
            <a:endParaRPr lang="de-DE" altLang="de-DE" dirty="0"/>
          </a:p>
          <a:p>
            <a:pPr algn="ctr">
              <a:spcBef>
                <a:spcPct val="0"/>
              </a:spcBef>
            </a:pPr>
            <a:r>
              <a:rPr lang="de-DE" altLang="de-DE" sz="2400" dirty="0"/>
              <a:t>Erklärung von Klassifikatoren des maschinellen Lernens durch vielfältige kontrafaktische Erklärungen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168784-3728-424B-947E-7EEB778900E7}"/>
              </a:ext>
            </a:extLst>
          </p:cNvPr>
          <p:cNvSpPr txBox="1"/>
          <p:nvPr/>
        </p:nvSpPr>
        <p:spPr>
          <a:xfrm>
            <a:off x="1799690" y="3682479"/>
            <a:ext cx="5544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altLang="de-DE" sz="2400" dirty="0">
              <a:solidFill>
                <a:schemeClr val="bg1"/>
              </a:solidFill>
            </a:endParaRPr>
          </a:p>
          <a:p>
            <a:pPr algn="ctr"/>
            <a:r>
              <a:rPr lang="de-DE" altLang="de-DE" sz="2000" dirty="0">
                <a:solidFill>
                  <a:schemeClr val="bg1"/>
                </a:solidFill>
              </a:rPr>
              <a:t>Fabian Wagner</a:t>
            </a:r>
          </a:p>
          <a:p>
            <a:pPr algn="l"/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25DE91A-7A1D-93F2-FD92-7D920BF17C2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3526" y="6453188"/>
            <a:ext cx="1860550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C098E26C-8BAA-4ACE-83C6-8F04F03DE16F}" type="datetime1">
              <a:rPr lang="de-DE" smtClean="0"/>
              <a:pPr>
                <a:spcAft>
                  <a:spcPts val="600"/>
                </a:spcAft>
                <a:defRPr/>
              </a:pPr>
              <a:t>26.01.2026</a:t>
            </a:fld>
            <a:endParaRPr lang="de-DE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57784369-FDFE-1B51-B8F3-DE918310EE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324101" y="6453188"/>
            <a:ext cx="4948238" cy="285750"/>
          </a:xfrm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C5B54E-1612-1707-76B4-BF6CFFA21A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451726" y="6453188"/>
            <a:ext cx="1439863" cy="28575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  <a:defRPr/>
            </a:pPr>
            <a:fld id="{7A8CEE4A-E163-47DE-8784-5B8DE9F7A78A}" type="slidenum">
              <a:rPr lang="de-DE" altLang="de-DE" smtClean="0"/>
              <a:pPr>
                <a:spcAft>
                  <a:spcPts val="600"/>
                </a:spcAft>
                <a:defRPr/>
              </a:pPr>
              <a:t>2</a:t>
            </a:fld>
            <a:endParaRPr lang="de-DE" alt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AB433C6-30C0-712D-BDFF-7F60F240C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5" y="75342"/>
            <a:ext cx="5472608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Gliederung</a:t>
            </a:r>
            <a:endParaRPr lang="de-DE" dirty="0"/>
          </a:p>
        </p:txBody>
      </p:sp>
      <p:graphicFrame>
        <p:nvGraphicFramePr>
          <p:cNvPr id="8" name="Inhaltsplatzhalter 1">
            <a:extLst>
              <a:ext uri="{FF2B5EF4-FFF2-40B4-BE49-F238E27FC236}">
                <a16:creationId xmlns:a16="http://schemas.microsoft.com/office/drawing/2014/main" id="{39BE4EFF-2E29-A200-4F15-DEB077D7EAE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50003271"/>
              </p:ext>
            </p:extLst>
          </p:nvPr>
        </p:nvGraphicFramePr>
        <p:xfrm>
          <a:off x="2033718" y="1196752"/>
          <a:ext cx="5076564" cy="5040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9553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58986C-CD79-68E0-623A-378D445104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Motivation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679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56AE5-CCB8-1D11-2349-9211BB7E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82CF10-6FB8-F0AA-9084-C56BC5502F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18457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KI-Systeme bestimmen heutzutage, ob …</a:t>
            </a:r>
          </a:p>
          <a:p>
            <a:pPr marL="0" indent="0">
              <a:buNone/>
            </a:pPr>
            <a:r>
              <a:rPr lang="de-DE" dirty="0"/>
              <a:t>		… ein Kredit gewährt wird.</a:t>
            </a:r>
          </a:p>
          <a:p>
            <a:pPr marL="0" indent="0">
              <a:buNone/>
            </a:pPr>
            <a:r>
              <a:rPr lang="de-DE" dirty="0"/>
              <a:t>		… eine Bewerbung Erfolg hat.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KI als Ministerin für öffentliche Aufträge in Albanien benannt </a:t>
            </a:r>
            <a:r>
              <a:rPr lang="de-DE" sz="1200" dirty="0"/>
              <a:t>[1]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Treffen (lebensverändernde) Entscheidungen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fair und frei von Bias?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nachvollziehbar?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voraussagbar?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Sind sie änderbar?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F90C69-1AD6-1192-43E1-0A27E86F3A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8466ED-F64D-8C25-20EF-8EF9927A96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A62195-3F2C-5893-1BB8-D6E4805D18E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C49418A-3D7B-F02F-7AA3-041C1952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Wozu Erklärbare KI?</a:t>
            </a:r>
          </a:p>
        </p:txBody>
      </p:sp>
      <p:pic>
        <p:nvPicPr>
          <p:cNvPr id="8" name="Grafik 7" descr="Ein Bild, das Menschliches Gesicht, Person, Kleidung, Mode enthält.&#10;&#10;KI-generierte Inhalte können fehlerhaft sein.">
            <a:extLst>
              <a:ext uri="{FF2B5EF4-FFF2-40B4-BE49-F238E27FC236}">
                <a16:creationId xmlns:a16="http://schemas.microsoft.com/office/drawing/2014/main" id="{66BEB3C1-B184-C331-8CC9-91EB93F81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195" y="1268760"/>
            <a:ext cx="2592288" cy="270398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8C00331-F4A8-8E6F-6EE6-50793397485B}"/>
              </a:ext>
            </a:extLst>
          </p:cNvPr>
          <p:cNvSpPr txBox="1"/>
          <p:nvPr/>
        </p:nvSpPr>
        <p:spPr>
          <a:xfrm>
            <a:off x="7668422" y="3945051"/>
            <a:ext cx="9720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Verdana" panose="020B0604030504040204" pitchFamily="34" charset="0"/>
                <a:ea typeface="Verdana" panose="020B0604030504040204" pitchFamily="34" charset="0"/>
              </a:rPr>
              <a:t>Quelle: [1]</a:t>
            </a:r>
          </a:p>
        </p:txBody>
      </p:sp>
    </p:spTree>
    <p:extLst>
      <p:ext uri="{BB962C8B-B14F-4D97-AF65-F5344CB8AC3E}">
        <p14:creationId xmlns:p14="http://schemas.microsoft.com/office/powerpoint/2010/main" val="4209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B67-0EDC-4AB3-1276-CDF10E7C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402D144-26A8-6D02-8B81-D80F68A21B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Grundlegende Begriffe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7790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A173E-7682-FD60-2AD4-9CE21ED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F84CE52-CAA2-1025-B9D8-31177E10AB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6E90C4-E011-48C5-762F-B5EB1EE8A4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EBE593-F01A-9F00-88F2-57519DF63F4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229332C-3BA1-0126-7149-8AACEF0C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924138A8-9DBC-4D79-585E-AAABCA037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82BC4E12-9D29-BE3C-1FCE-CDCC495953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F8E070-E604-B7C3-D1D4-756629CF2265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5FB9E10-5268-6EA3-3B6B-3E444BAC43B3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AE8CF78-D1F5-74F9-A263-ADA13C83D211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6AC3024-352F-1E22-9643-48780972524B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CE01A4C-B1CB-3326-8381-5C83621C94A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EC6783BF-3EB7-3391-42A8-383A5D457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C69798-126A-3901-B504-F03778692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DDB1D0CE-33D6-95B3-A544-BFC76DDB8CCF}"/>
              </a:ext>
            </a:extLst>
          </p:cNvPr>
          <p:cNvSpPr/>
          <p:nvPr/>
        </p:nvSpPr>
        <p:spPr>
          <a:xfrm>
            <a:off x="2627784" y="2645216"/>
            <a:ext cx="3024336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F6C867A-D416-CE6C-AE9A-427B0A3376A9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AEDC078-885F-7196-8FB1-1B2CC2A326B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017390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11EC-0510-1029-5840-344FB7AE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7A61A4-DD4A-5567-C7FC-F01C5B01305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E4EA44-22F6-6DFD-0EB9-C84CEFC9CF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CF3047-7DC0-E824-BA26-448EA0DCAE1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D26FB42-6B03-243C-A741-902952BB8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886F1519-1B65-715C-5B09-0034B60DA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989026B9-AA0D-C4AE-8EC2-71DD56EA80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954AEC1-2FCD-5A16-56A0-964DDD8A80BC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EEB4CDF9-0DAE-3D43-C2B6-6AF876EA89C1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FB4934-DB4F-7B1A-1C0D-F72C11FF59C3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BFD8454-A0A5-5713-A02C-F13637AD26FB}"/>
              </a:ext>
            </a:extLst>
          </p:cNvPr>
          <p:cNvSpPr txBox="1"/>
          <p:nvPr/>
        </p:nvSpPr>
        <p:spPr>
          <a:xfrm>
            <a:off x="2771800" y="4948814"/>
            <a:ext cx="288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A44944C-AFED-7883-FB1B-5E11C3E3129B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15AFE725-574D-57D2-A3EA-55B36B504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F556B36-45D7-5EBE-2251-E22122CD8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B8885724-A5AD-1055-174A-F7E7A62A243B}"/>
              </a:ext>
            </a:extLst>
          </p:cNvPr>
          <p:cNvSpPr/>
          <p:nvPr/>
        </p:nvSpPr>
        <p:spPr>
          <a:xfrm>
            <a:off x="5652119" y="1355974"/>
            <a:ext cx="3227619" cy="30880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D0E2658-960A-2395-93C9-EF9B7E64A7A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25615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52DAF-68E8-EE1E-D250-07397ECE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331640E-D731-8A3D-7C9B-E3A7BC359F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712149-DCC6-CCEF-2FC2-A9760C3DAE9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2D885A-3B81-F9AC-38C2-311ECB88E82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7CBEB71-38C5-2151-39E0-653C4CD7D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Allgemeine Begriffe</a:t>
            </a:r>
          </a:p>
        </p:txBody>
      </p:sp>
      <p:pic>
        <p:nvPicPr>
          <p:cNvPr id="7" name="Grafik 6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7B1336C9-E432-93F7-0231-50681430E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39" y="2796063"/>
            <a:ext cx="8640000" cy="1265873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795DF9D-000A-A1E5-DF1E-DB479AC2EA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7087" y="1175933"/>
            <a:ext cx="4176464" cy="79208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Eingabe bestehend aus kontinuierlichen und kategorialen Merkmalen</a:t>
            </a:r>
          </a:p>
          <a:p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0897EFA-92B8-C444-D8AF-1242CBC0CFD2}"/>
              </a:ext>
            </a:extLst>
          </p:cNvPr>
          <p:cNvCxnSpPr>
            <a:cxnSpLocks/>
          </p:cNvCxnSpPr>
          <p:nvPr/>
        </p:nvCxnSpPr>
        <p:spPr>
          <a:xfrm flipH="1">
            <a:off x="1691680" y="1916832"/>
            <a:ext cx="432396" cy="87923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3A71F993-F453-AFBC-35B4-C249B2B1A76C}"/>
              </a:ext>
            </a:extLst>
          </p:cNvPr>
          <p:cNvSpPr txBox="1"/>
          <p:nvPr/>
        </p:nvSpPr>
        <p:spPr>
          <a:xfrm>
            <a:off x="5688632" y="1652888"/>
            <a:ext cx="2699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Ergebnis der Verarbeitung ist eine diskrete (binäre) Ausgabe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E86E8C3-8AFA-3C1F-73A0-5A0D20121258}"/>
              </a:ext>
            </a:extLst>
          </p:cNvPr>
          <p:cNvCxnSpPr>
            <a:cxnSpLocks/>
          </p:cNvCxnSpPr>
          <p:nvPr/>
        </p:nvCxnSpPr>
        <p:spPr>
          <a:xfrm>
            <a:off x="6804248" y="2382042"/>
            <a:ext cx="360040" cy="5263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43C9981-1499-D02D-43B0-16454F44130D}"/>
              </a:ext>
            </a:extLst>
          </p:cNvPr>
          <p:cNvSpPr txBox="1"/>
          <p:nvPr/>
        </p:nvSpPr>
        <p:spPr>
          <a:xfrm>
            <a:off x="2771800" y="4948814"/>
            <a:ext cx="25922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Modell zur Klassifikation einer Eingabe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C13F638-AB6E-AFCB-33DC-3D6907C3F7D4}"/>
              </a:ext>
            </a:extLst>
          </p:cNvPr>
          <p:cNvCxnSpPr>
            <a:cxnSpLocks/>
          </p:cNvCxnSpPr>
          <p:nvPr/>
        </p:nvCxnSpPr>
        <p:spPr>
          <a:xfrm flipV="1">
            <a:off x="3923928" y="3968742"/>
            <a:ext cx="288032" cy="980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0" name="Grafik 19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03C20F31-CC2A-3F84-6D00-CC1748BC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912" y="3212977"/>
            <a:ext cx="1711371" cy="459676"/>
          </a:xfrm>
          <a:prstGeom prst="rect">
            <a:avLst/>
          </a:prstGeom>
        </p:spPr>
      </p:pic>
      <p:pic>
        <p:nvPicPr>
          <p:cNvPr id="18" name="Grafik 17" descr="Ein Bild, das Schrift, Typografie, Text, Grafiken enthält.&#10;&#10;KI-generierte Inhalte können fehlerhaft sein.">
            <a:extLst>
              <a:ext uri="{FF2B5EF4-FFF2-40B4-BE49-F238E27FC236}">
                <a16:creationId xmlns:a16="http://schemas.microsoft.com/office/drawing/2014/main" id="{E6B5947F-F9F1-BEAF-4FA1-C597621DA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642" y="3350098"/>
            <a:ext cx="1130194" cy="17520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19A6BEFD-8373-BF78-90E4-88850D82D95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[2]</a:t>
            </a:r>
          </a:p>
        </p:txBody>
      </p:sp>
    </p:spTree>
    <p:extLst>
      <p:ext uri="{BB962C8B-B14F-4D97-AF65-F5344CB8AC3E}">
        <p14:creationId xmlns:p14="http://schemas.microsoft.com/office/powerpoint/2010/main" val="137342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BC606-5BD4-D4A9-3CE1-EFF711712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1C94B5-F100-02B1-3DAB-38973309CD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CFB2442-5628-D318-90A6-1A8A9755D6F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931911-9EE4-8D87-90B4-93DA42D7C9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CA7825-2908-0D2A-AE25-402B9E6B9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FBFA5C-2656-A783-DAC8-E183C88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EB2E71A-D9BC-9081-339A-20B38E8CA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98CDB5-E5B1-78C5-7A5E-84E8985C7C4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B7E8D5B-A5FA-6FE7-0F5B-FD1144FAA936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551D9FC-8C9B-BE42-4EC5-1A10852303FB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F795C3D-9F2E-567F-6110-3105AE39F50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1877305-1D59-A1F5-BC7A-4887F5D44634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41CCF21-FF4E-D929-8C96-E8D42BEECC2D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3B2C45BC-ABFF-315F-BD70-96D3D58822BA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46DF5A9-18E1-7693-A1C1-2567D8E28186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25ED98E-FBC3-8F6C-EE8C-E8BB1E2B1079}"/>
              </a:ext>
            </a:extLst>
          </p:cNvPr>
          <p:cNvSpPr/>
          <p:nvPr/>
        </p:nvSpPr>
        <p:spPr>
          <a:xfrm>
            <a:off x="111252" y="2703390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448E155-6A0A-3509-BA4B-272577DF733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2273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D89DB-DAB7-8478-AA29-4C9F28BA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5D436CD-3A02-14B5-FE39-E4EB774C0B1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CF37619-DFA6-9B60-60EF-7F5A837E85B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E7CE3BE-498C-33A0-E667-49EB13F4801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88D0D5-71E7-F3F3-4659-F8320CBCBCC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6EA2D4F-AF13-DF91-9A63-68477304F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F282A5-E16D-78EE-5362-39621A087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728D065-4E6A-3F55-48A1-D914D3FABF8B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71B2F9-E3AF-6DCF-6A4D-1AD01112E97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1FD9AAB-854E-CB73-4CBC-9D6C1A14F59C}"/>
              </a:ext>
            </a:extLst>
          </p:cNvPr>
          <p:cNvSpPr txBox="1"/>
          <p:nvPr/>
        </p:nvSpPr>
        <p:spPr>
          <a:xfrm>
            <a:off x="2700339" y="5446965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unmittelbar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F5DF9B7-BF93-13F4-6AA6-4B47A8B01133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EA5E5D2-5CB4-871D-C720-A75A98B3C92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C7D9066-E67F-CDE6-9CFE-D662C71C16C9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BF53617E-9E51-891A-01A0-45ECF4A48E9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1FF82C82-5826-7FAD-3BDC-DBD1DAA95B32}"/>
              </a:ext>
            </a:extLst>
          </p:cNvPr>
          <p:cNvSpPr/>
          <p:nvPr/>
        </p:nvSpPr>
        <p:spPr>
          <a:xfrm>
            <a:off x="2771800" y="3694958"/>
            <a:ext cx="4104456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2A2E3AC-ACE4-0F20-B9AF-3BAD0C75E9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69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5CAE-D215-966B-D279-EB8B645EB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8EEE3E6-F3D1-4FC9-D2C5-B0181B9038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193CAB-41DF-111C-CC8F-8B45B57E411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423353-ECC5-93B7-4AC4-2712E5BBFA0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0EE16A2-985E-779E-2316-D5AD5F4764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54D91F-2D26-13DE-52C4-294E5290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7A5BF9A-B9A7-5F79-9223-08AD75DA6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0F9157-56CB-3B29-34DA-B7FE9961E58E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130074-2545-7707-8270-8E8C429F461E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785EC0-C745-9EC9-EFC9-63DDB4704FA4}"/>
              </a:ext>
            </a:extLst>
          </p:cNvPr>
          <p:cNvSpPr txBox="1"/>
          <p:nvPr/>
        </p:nvSpPr>
        <p:spPr>
          <a:xfrm>
            <a:off x="2700339" y="5446965"/>
            <a:ext cx="33873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7044214-B589-AAB1-574E-314961150645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AFD5D64-06B2-7395-DFF0-0874171BD92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3D8913A-7884-74DE-4F0A-AACEC7AFFCBB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09960F34-0600-27F2-2FAE-84282D85DAB7}"/>
              </a:ext>
            </a:extLst>
          </p:cNvPr>
          <p:cNvSpPr/>
          <p:nvPr/>
        </p:nvSpPr>
        <p:spPr>
          <a:xfrm>
            <a:off x="5721141" y="2830862"/>
            <a:ext cx="3387363" cy="2398338"/>
          </a:xfrm>
          <a:prstGeom prst="rect">
            <a:avLst/>
          </a:prstGeom>
          <a:solidFill>
            <a:schemeClr val="bg2"/>
          </a:solidFill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A4922C-A3A9-0666-B33E-F3441C7A8F2E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16539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8E731-FBE1-661F-FCFA-39E099D5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87040D0-BF6E-61F7-B0FC-E5D4F8CA32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544" y="1196752"/>
            <a:ext cx="8504438" cy="511256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>
                <a:solidFill>
                  <a:srgbClr val="115E67"/>
                </a:solidFill>
              </a:rPr>
              <a:t>DiCE</a:t>
            </a:r>
            <a:r>
              <a:rPr lang="de-DE" sz="1600" dirty="0"/>
              <a:t> - </a:t>
            </a:r>
            <a:r>
              <a:rPr lang="de-DE" sz="1600" dirty="0">
                <a:solidFill>
                  <a:srgbClr val="115E67"/>
                </a:solidFill>
              </a:rPr>
              <a:t>Di</a:t>
            </a:r>
            <a:r>
              <a:rPr lang="de-DE" sz="1600" dirty="0"/>
              <a:t>verse </a:t>
            </a:r>
            <a:r>
              <a:rPr lang="de-DE" sz="1600" dirty="0">
                <a:solidFill>
                  <a:srgbClr val="115E67"/>
                </a:solidFill>
              </a:rPr>
              <a:t>C</a:t>
            </a:r>
            <a:r>
              <a:rPr lang="de-DE" sz="1600" dirty="0"/>
              <a:t>ounterfactual </a:t>
            </a:r>
            <a:r>
              <a:rPr lang="de-DE" sz="1600" dirty="0">
                <a:solidFill>
                  <a:srgbClr val="115E67"/>
                </a:solidFill>
              </a:rPr>
              <a:t>E</a:t>
            </a:r>
            <a:r>
              <a:rPr lang="de-DE" sz="1600" dirty="0"/>
              <a:t>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Lokal: Erklärung nur für Einzelfälle, nicht für gesamtes Modellverhalten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Post-hoc: Erklärt bereits trainierte ML-Modelle</a:t>
            </a:r>
          </a:p>
          <a:p>
            <a:pPr marL="0" indent="0">
              <a:buNone/>
            </a:pPr>
            <a:endParaRPr lang="de-DE" b="1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B918060-3352-C944-0AC4-2A589D015B8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AAC9B8E-842D-4461-629E-3B2CF39BF8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809A87-C0B9-E718-608A-C5AAE564E6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03878AD-6C82-4EB9-9B95-377D4786D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Methodisch-spezifische Begriffe</a:t>
            </a:r>
          </a:p>
        </p:txBody>
      </p:sp>
      <p:pic>
        <p:nvPicPr>
          <p:cNvPr id="8" name="Grafik 7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8592459D-25A1-4AB5-7F7F-3B4CEF307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15" y="3927378"/>
            <a:ext cx="8689268" cy="130182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0379391-6E0E-4F98-35E2-AF5D6987A995}"/>
              </a:ext>
            </a:extLst>
          </p:cNvPr>
          <p:cNvSpPr txBox="1"/>
          <p:nvPr/>
        </p:nvSpPr>
        <p:spPr>
          <a:xfrm>
            <a:off x="683568" y="2729885"/>
            <a:ext cx="30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Modifiziertes Gegenbeispiel zur ursprünglichen Eingabe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E4CE8F-5CA1-CB73-93BB-7301A92A8367}"/>
              </a:ext>
            </a:extLst>
          </p:cNvPr>
          <p:cNvSpPr txBox="1"/>
          <p:nvPr/>
        </p:nvSpPr>
        <p:spPr>
          <a:xfrm>
            <a:off x="6372200" y="3130718"/>
            <a:ext cx="20105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Gewünschte Klasse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D96DF9-AE2D-1BB1-3C4E-83EA97B0C7EB}"/>
              </a:ext>
            </a:extLst>
          </p:cNvPr>
          <p:cNvSpPr txBox="1"/>
          <p:nvPr/>
        </p:nvSpPr>
        <p:spPr>
          <a:xfrm>
            <a:off x="2700339" y="5446965"/>
            <a:ext cx="3887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/>
              <a:t>Interne Logik ist aufgrund der Komplexität nicht nachvollziehbar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B5C53F6-F203-C4FB-FD7F-8C88D37125C6}"/>
              </a:ext>
            </a:extLst>
          </p:cNvPr>
          <p:cNvCxnSpPr>
            <a:cxnSpLocks/>
          </p:cNvCxnSpPr>
          <p:nvPr/>
        </p:nvCxnSpPr>
        <p:spPr>
          <a:xfrm flipH="1">
            <a:off x="1691680" y="3438143"/>
            <a:ext cx="288032" cy="580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B824290-FE21-CDC2-427D-6834B1585D29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377456" y="3500050"/>
            <a:ext cx="121975" cy="583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0A71FC8-1754-A181-6B44-C89B7DCF6306}"/>
              </a:ext>
            </a:extLst>
          </p:cNvPr>
          <p:cNvCxnSpPr>
            <a:cxnSpLocks/>
          </p:cNvCxnSpPr>
          <p:nvPr/>
        </p:nvCxnSpPr>
        <p:spPr>
          <a:xfrm flipV="1">
            <a:off x="4499992" y="4797152"/>
            <a:ext cx="72008" cy="7200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D8850-090A-FE0F-DD18-0BA1B4A40477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078279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A9069-7EA5-A403-C28C-551558D3D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8A7256A-996D-8503-38FA-1AB1FB5B31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/>
              <a:t>Methodisches Vorgehen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8549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DDFBB-726C-25C9-FF2E-57B5C95FB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890E7D0-5B30-7FE5-9685-7E63A68BB2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Ursprungssituation</a:t>
            </a:r>
            <a:br>
              <a:rPr lang="de-DE" sz="1800" b="1" dirty="0"/>
            </a:br>
            <a:endParaRPr lang="de-DE" sz="1800" b="1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Initialisierung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Optimierung</a:t>
            </a:r>
            <a:br>
              <a:rPr lang="de-DE" sz="1800" dirty="0"/>
            </a:br>
            <a:endParaRPr lang="de-DE" sz="1800" dirty="0"/>
          </a:p>
          <a:p>
            <a:pPr marL="342900" indent="-342900">
              <a:buFont typeface="+mj-lt"/>
              <a:buAutoNum type="arabicPeriod"/>
            </a:pPr>
            <a:r>
              <a:rPr lang="de-DE" sz="1800" dirty="0">
                <a:solidFill>
                  <a:srgbClr val="115E67"/>
                </a:solidFill>
              </a:rPr>
              <a:t>Nachbearbeitung (optional)</a:t>
            </a: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77EF1-8836-BFF8-5CBD-D7E7941EDA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EB1748-A781-8BB2-18F3-60B9BDFBB8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50C7BC-5A22-5494-8E73-1B0E80AECC9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119B7FD-D322-4277-966B-64865F096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C73C1FA-874B-19AC-682E-466F319BBF8F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379328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6907EB0-7A14-0225-2A37-4332B793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2865956-3925-BF27-3F7D-C42E99E4E45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Ungewünschte Klassifikation einer Eingabe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Initialisierung</a:t>
            </a:r>
            <a:br>
              <a:rPr lang="de-DE" dirty="0"/>
            </a:br>
            <a:r>
              <a:rPr lang="de-DE" dirty="0"/>
              <a:t>Zufällige Initialisierung der Counterfactuals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Optimierung</a:t>
            </a:r>
            <a:br>
              <a:rPr lang="de-DE" dirty="0"/>
            </a:br>
            <a:r>
              <a:rPr lang="de-DE" dirty="0"/>
              <a:t>Iterative Optimierung der Verlustfunktion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Nachbearbeitung (optional)</a:t>
            </a:r>
            <a:br>
              <a:rPr lang="de-DE" dirty="0"/>
            </a:br>
            <a:r>
              <a:rPr lang="de-DE" dirty="0"/>
              <a:t>Optionale Nachbearbeitung zur Steigerung der Sparsität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E23640F-06EB-8929-9770-0BA20811C3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94E1F3-2D88-1660-2809-B44904A3EA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E829C3-7880-BEE1-C613-931DB6D8D3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821E7F-4AE6-FC99-A0D6-CA6036D80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Methodisches Vorgehen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BFC1810-0D8B-B5B6-C426-15C53891F0F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6440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34F9-ADCD-FA98-C5FF-D80F96361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DA79BACD-E2D4-7F06-98AA-E12005909031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17223EA0-5EDF-306A-1B7C-3A23720535DC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b="1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77D5A54-E4B3-25E8-9FCB-BE807BDCF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6FD4B67-0FA0-3067-E96C-D1AD29F1E9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C6FDB4-3DA9-8835-0CE0-3DF2C514BA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AA2A55-1960-CB0F-95AD-FCB6259248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2293726-2536-7CA8-3700-1070EDE09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5832C57-3F0E-2F19-5A71-63D046741F4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F8150F8C-E922-FEDD-9A4F-9449B4F4B303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F03EF9B-07AC-9BFA-0FA8-291B0EB37697}"/>
              </a:ext>
            </a:extLst>
          </p:cNvPr>
          <p:cNvSpPr/>
          <p:nvPr/>
        </p:nvSpPr>
        <p:spPr>
          <a:xfrm>
            <a:off x="5731623" y="1155064"/>
            <a:ext cx="3304427" cy="2777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93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75B7-1967-928A-D940-EF97E809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5B8EB7E-025C-104F-0CF6-27F35659E715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DF6898-C7A7-A817-26E0-7DDD3016F6D7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AC3D0A1-CDEA-74D3-F74C-0BA26CCED4D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1268760"/>
            <a:ext cx="5255693" cy="504056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>
                <a:solidFill>
                  <a:srgbClr val="115E67"/>
                </a:solidFill>
              </a:rPr>
              <a:t>Ursprungssituation</a:t>
            </a:r>
            <a:br>
              <a:rPr lang="de-DE" b="1" dirty="0"/>
            </a:br>
            <a:r>
              <a:rPr lang="de-DE" dirty="0"/>
              <a:t>Ursprüngliche Eingabe resultiert in ungewünschter Klasse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Was muss sich ändern, damit die gewünschte Klasse erreicht wird?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b="1" u="sng" dirty="0"/>
              <a:t>Initialisierung der Erklärungen</a:t>
            </a:r>
            <a:br>
              <a:rPr lang="de-DE" dirty="0"/>
            </a:br>
            <a:r>
              <a:rPr lang="de-DE" dirty="0"/>
              <a:t>Zufällige Initialisierung von </a:t>
            </a:r>
            <a:r>
              <a:rPr lang="de-DE" i="1" dirty="0"/>
              <a:t>k</a:t>
            </a:r>
            <a:r>
              <a:rPr lang="de-DE" dirty="0"/>
              <a:t> Counterfactuals</a:t>
            </a:r>
            <a:br>
              <a:rPr lang="de-DE" dirty="0"/>
            </a:br>
            <a:r>
              <a:rPr lang="de-DE" dirty="0"/>
              <a:t>	</a:t>
            </a:r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C18E19D-D210-346B-388C-0C5E329424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7597753-C870-209A-A5E5-E9ED1EC935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B055A7-5538-C764-57B9-61DA6363BA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7914470-655A-9106-22BE-FE67A1FA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58A43D7-DCD7-0078-1F80-F41CB35E0F89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810BF80-3447-1489-F6AA-3EF0A97AB888}"/>
              </a:ext>
            </a:extLst>
          </p:cNvPr>
          <p:cNvSpPr/>
          <p:nvPr/>
        </p:nvSpPr>
        <p:spPr>
          <a:xfrm>
            <a:off x="251520" y="3789040"/>
            <a:ext cx="8640069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6489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E5B1D-7D46-51AD-3F85-6E70984D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8E45BFD6-E6A9-FBDE-EFDF-9FD681453E76}"/>
              </a:ext>
            </a:extLst>
          </p:cNvPr>
          <p:cNvSpPr/>
          <p:nvPr/>
        </p:nvSpPr>
        <p:spPr>
          <a:xfrm>
            <a:off x="5796136" y="1268760"/>
            <a:ext cx="3095453" cy="36004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B2BF273-427D-F8CC-DB85-6C7C1D5597F9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3888432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4AAAEC3-4453-53C3-38BA-9B5FEF6FF9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4E678DC-1248-34E1-57ED-EBF586218D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BD98BD-43CB-D4E1-8B7B-E2EDB4D737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272170-A3BF-D9A1-3E92-A0B87A2AD1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3A48-6BC0-BF7A-2C5F-295A5682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7EDDD59-BB26-9EF7-AC5D-40E8E655D0F1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DB7942C0-CCF3-A47B-CF9F-AA7BAD7818BC}"/>
              </a:ext>
            </a:extLst>
          </p:cNvPr>
          <p:cNvSpPr/>
          <p:nvPr/>
        </p:nvSpPr>
        <p:spPr>
          <a:xfrm>
            <a:off x="5731623" y="3789040"/>
            <a:ext cx="3159966" cy="193255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7C9B364-3B5D-4ACA-259F-B380EF7783D0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239481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03F45-516C-40ED-F771-FFDC1DE94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F9119DC-C029-EE09-62B5-C71262A168D6}"/>
              </a:ext>
            </a:extLst>
          </p:cNvPr>
          <p:cNvSpPr/>
          <p:nvPr/>
        </p:nvSpPr>
        <p:spPr>
          <a:xfrm>
            <a:off x="5796136" y="1268760"/>
            <a:ext cx="3095453" cy="43204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19DEA1D-3CC6-E33B-48E1-F0DEBBCCAEF1}"/>
              </a:ext>
            </a:extLst>
          </p:cNvPr>
          <p:cNvSpPr txBox="1">
            <a:spLocks/>
          </p:cNvSpPr>
          <p:nvPr/>
        </p:nvSpPr>
        <p:spPr>
          <a:xfrm>
            <a:off x="5651674" y="1359744"/>
            <a:ext cx="3384376" cy="4373364"/>
          </a:xfrm>
          <a:prstGeom prst="rect">
            <a:avLst/>
          </a:prstGeom>
          <a:ln>
            <a:noFill/>
          </a:ln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37160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0574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sz="1500" u="sng" dirty="0"/>
              <a:t>Beispiel</a:t>
            </a:r>
          </a:p>
          <a:p>
            <a:pPr marL="0" indent="0" algn="ctr">
              <a:buNone/>
            </a:pPr>
            <a:r>
              <a:rPr lang="de-DE" sz="1500" i="1" dirty="0"/>
              <a:t>Was muss sich ändern, damit der Kredit gewährt wird?</a:t>
            </a:r>
            <a:endParaRPr lang="de-DE" i="1" dirty="0"/>
          </a:p>
          <a:p>
            <a:pPr marL="0" indent="0" algn="ctr">
              <a:buNone/>
            </a:pPr>
            <a:r>
              <a:rPr lang="de-DE" sz="1500" dirty="0"/>
              <a:t>[3.000€, Abitur, 35h/Woche]</a:t>
            </a:r>
          </a:p>
          <a:p>
            <a:pPr marL="0" indent="0" algn="ctr">
              <a:buNone/>
            </a:pPr>
            <a:endParaRPr lang="de-DE" sz="1500" dirty="0"/>
          </a:p>
          <a:p>
            <a:pPr marL="0" indent="0" algn="ctr">
              <a:buNone/>
            </a:pPr>
            <a:r>
              <a:rPr lang="de-DE" sz="1500" dirty="0"/>
              <a:t>„Kredit abgelehnt“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u="sng" dirty="0"/>
              <a:t>Initialisierung</a:t>
            </a:r>
            <a:br>
              <a:rPr lang="de-DE" dirty="0"/>
            </a:br>
            <a:r>
              <a:rPr lang="de-DE" dirty="0"/>
              <a:t>[7.839€, Abitur, 57h/Woche]</a:t>
            </a:r>
          </a:p>
          <a:p>
            <a:pPr marL="0" indent="0" algn="ctr">
              <a:buNone/>
            </a:pPr>
            <a:r>
              <a:rPr lang="de-DE" dirty="0"/>
              <a:t>[132€, Bachelor, 140h/Woche]</a:t>
            </a:r>
          </a:p>
          <a:p>
            <a:pPr marL="0" indent="0" algn="ctr">
              <a:buNone/>
            </a:pPr>
            <a:r>
              <a:rPr lang="de-DE" dirty="0"/>
              <a:t>[103.700€, Keiner, 1h/Woche]</a:t>
            </a:r>
          </a:p>
          <a:p>
            <a:pPr marL="0" indent="0" algn="ctr">
              <a:buNone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  <a:p>
            <a:pPr marL="342900" indent="-342900">
              <a:buFont typeface="+mj-lt"/>
              <a:buAutoNum type="arabicPeriod"/>
            </a:pP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</p:spPr>
            <p:txBody>
              <a:bodyPr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Ursprungssituation</a:t>
                </a:r>
                <a:br>
                  <a:rPr lang="de-DE" b="1" dirty="0"/>
                </a:br>
                <a:r>
                  <a:rPr lang="de-DE" dirty="0"/>
                  <a:t>Ursprüngliche Eingabe resultiert in ungewünschter Klasse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Was muss sich ändern, damit die gewünschte Klasse erreicht wird?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342900" lvl="1" indent="0">
                  <a:buNone/>
                </a:pPr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>
                    <a:solidFill>
                      <a:srgbClr val="115E67"/>
                    </a:solidFill>
                  </a:rPr>
                  <a:t>Initialisierung der Erklärungen</a:t>
                </a:r>
                <a:br>
                  <a:rPr lang="de-DE" dirty="0"/>
                </a:br>
                <a:r>
                  <a:rPr lang="de-DE" dirty="0"/>
                  <a:t>Zufällige Initialisierung von </a:t>
                </a:r>
                <a:r>
                  <a:rPr lang="de-DE" i="1" dirty="0"/>
                  <a:t>k</a:t>
                </a:r>
                <a:r>
                  <a:rPr lang="de-DE" dirty="0"/>
                  <a:t>-vielen Counterfactuals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342900" lvl="1" indent="0">
                  <a:buNone/>
                </a:pPr>
                <a:br>
                  <a:rPr lang="de-DE" dirty="0"/>
                </a:br>
                <a:r>
                  <a:rPr lang="de-DE" dirty="0"/>
                  <a:t>	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4D45F82-60AB-CF3F-B63B-4C1598385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5255693" cy="5040560"/>
              </a:xfrm>
              <a:blipFill>
                <a:blip r:embed="rId3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5C584DB-6157-DE43-12E7-5295E3B5D4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DD4D9-3E99-F4F2-253A-775564E774B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88497A4-55A7-2F66-5507-6EC6A562017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19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61B212-0DB2-AF4C-AC8D-65B7D367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Eingabe und Initialisierung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3677AF3-5DB3-66B6-F55E-D7E0CB47A116}"/>
              </a:ext>
            </a:extLst>
          </p:cNvPr>
          <p:cNvCxnSpPr>
            <a:cxnSpLocks/>
          </p:cNvCxnSpPr>
          <p:nvPr/>
        </p:nvCxnSpPr>
        <p:spPr>
          <a:xfrm>
            <a:off x="7380312" y="2852936"/>
            <a:ext cx="0" cy="5040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38109256-5F0B-E9C6-364C-3014BE3E95AA}"/>
              </a:ext>
            </a:extLst>
          </p:cNvPr>
          <p:cNvSpPr txBox="1"/>
          <p:nvPr/>
        </p:nvSpPr>
        <p:spPr>
          <a:xfrm>
            <a:off x="3905481" y="501317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73783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8646-192B-FB38-6E95-1DA39B2B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/>
                  <a:t>     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dpp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542751F0-185D-1A2D-5BC5-65D44A670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BD2C1A6-01F8-5709-2D31-A0E94791F3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2034B0B-B8A6-DC32-26A2-EBA5A19F7D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56F522-12CB-311D-0233-36A5905A50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27C3C29-CD6A-59ED-1919-8EC5FB24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69265270-96B4-79D7-5D1E-01BD6905DFAE}"/>
              </a:ext>
            </a:extLst>
          </p:cNvPr>
          <p:cNvSpPr/>
          <p:nvPr/>
        </p:nvSpPr>
        <p:spPr>
          <a:xfrm rot="5400000">
            <a:off x="3126124" y="2426605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E11CBC69-C678-8ABF-38EF-6582DBFDE0DE}"/>
              </a:ext>
            </a:extLst>
          </p:cNvPr>
          <p:cNvSpPr/>
          <p:nvPr/>
        </p:nvSpPr>
        <p:spPr>
          <a:xfrm rot="5400000">
            <a:off x="4714048" y="2502360"/>
            <a:ext cx="299464" cy="143266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2C496FA1-3016-9745-F274-E04108C033B7}"/>
              </a:ext>
            </a:extLst>
          </p:cNvPr>
          <p:cNvSpPr/>
          <p:nvPr/>
        </p:nvSpPr>
        <p:spPr>
          <a:xfrm rot="5400000">
            <a:off x="6774029" y="2042063"/>
            <a:ext cx="299464" cy="2353261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DF4B12B-C6A1-608E-AAEB-0D3199DE4936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D6EDA78-9DA1-7BD4-05C6-87E26D5DD63A}"/>
              </a:ext>
            </a:extLst>
          </p:cNvPr>
          <p:cNvSpPr txBox="1"/>
          <p:nvPr/>
        </p:nvSpPr>
        <p:spPr>
          <a:xfrm>
            <a:off x="4355976" y="339303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C346616-4E16-2A7D-C8F9-8BBDE3570EE4}"/>
              </a:ext>
            </a:extLst>
          </p:cNvPr>
          <p:cNvSpPr txBox="1"/>
          <p:nvPr/>
        </p:nvSpPr>
        <p:spPr>
          <a:xfrm>
            <a:off x="6372200" y="3381364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7C0C44-50D9-BD78-0A6F-F926FB97D89A}"/>
              </a:ext>
            </a:extLst>
          </p:cNvPr>
          <p:cNvSpPr/>
          <p:nvPr/>
        </p:nvSpPr>
        <p:spPr>
          <a:xfrm>
            <a:off x="323528" y="2204864"/>
            <a:ext cx="8208912" cy="3168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D3E31-53B5-B9B5-3B03-7F68F4D7E51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31637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5A1C-7E8F-FCAB-769D-61E6A693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Iterative Optimierung durch Gradientenabstiegsverfahren</a:t>
                </a:r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∇C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 Abbruch bei Konvergenz oder nach 5000 Iterationen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140013A-4812-981E-AC3B-14A5507FD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CDB9A5-7A01-247F-CFEF-3FF0970CDC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1276B-78E6-C295-4493-484E34A4F79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6CF22E-28FA-7B2F-29E7-EE93E6C96A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C529C7-5973-DB85-75D7-3B1505F01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974F298F-DCA5-2F59-469F-857CE0050481}"/>
              </a:ext>
            </a:extLst>
          </p:cNvPr>
          <p:cNvSpPr/>
          <p:nvPr/>
        </p:nvSpPr>
        <p:spPr>
          <a:xfrm rot="5400000">
            <a:off x="4572000" y="3861048"/>
            <a:ext cx="216024" cy="936104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1D8F9F3-57F1-1EEE-4342-A91FE959D879}"/>
              </a:ext>
            </a:extLst>
          </p:cNvPr>
          <p:cNvSpPr txBox="1"/>
          <p:nvPr/>
        </p:nvSpPr>
        <p:spPr>
          <a:xfrm>
            <a:off x="4266046" y="4417948"/>
            <a:ext cx="3095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Schritt in entgegengesetzte Richtung des Gradienten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64B350-5CA8-A45E-B7A3-5BAADC679417}"/>
              </a:ext>
            </a:extLst>
          </p:cNvPr>
          <p:cNvCxnSpPr>
            <a:cxnSpLocks/>
          </p:cNvCxnSpPr>
          <p:nvPr/>
        </p:nvCxnSpPr>
        <p:spPr>
          <a:xfrm flipV="1">
            <a:off x="3635896" y="4221088"/>
            <a:ext cx="360040" cy="9361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1FABE45-72C7-37D3-1BF7-B4316C4D5444}"/>
              </a:ext>
            </a:extLst>
          </p:cNvPr>
          <p:cNvSpPr txBox="1"/>
          <p:nvPr/>
        </p:nvSpPr>
        <p:spPr>
          <a:xfrm>
            <a:off x="2843808" y="5137447"/>
            <a:ext cx="3095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Aktuelle Counterfactuals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D991D31-386C-8525-FE13-7B71A470B12C}"/>
              </a:ext>
            </a:extLst>
          </p:cNvPr>
          <p:cNvCxnSpPr>
            <a:cxnSpLocks/>
          </p:cNvCxnSpPr>
          <p:nvPr/>
        </p:nvCxnSpPr>
        <p:spPr>
          <a:xfrm flipV="1">
            <a:off x="2411760" y="4185084"/>
            <a:ext cx="936104" cy="468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2740B40A-7F2E-CA49-DF0D-7A092A8834AD}"/>
              </a:ext>
            </a:extLst>
          </p:cNvPr>
          <p:cNvSpPr txBox="1"/>
          <p:nvPr/>
        </p:nvSpPr>
        <p:spPr>
          <a:xfrm>
            <a:off x="540146" y="4633972"/>
            <a:ext cx="277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Optimierten Counterfactuals in Iteration t+1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3DDD57E-04AA-8385-27D5-21E5ED0003F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753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21" grpId="0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8C2-8A26-99AF-1236-18557EB7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 </a:t>
                </a:r>
                <a:r>
                  <a:rPr lang="de-DE" dirty="0"/>
                  <a:t>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Gültigkeit prüft, ob gewünschte Zielklasse erreicht wurde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ED3E35F-D73A-37CA-38C4-ED22205A0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D4DCEFB-82B2-D3E2-B42E-DE9DE81A2E1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D75757-04A2-542A-5B88-90CDB73818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F78B4-7B3E-9AD1-AEE9-8191BB403F9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ADDEC43-E7F5-827E-589B-ED20F41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513546-F6AA-9995-5125-DB645D16397A}"/>
              </a:ext>
            </a:extLst>
          </p:cNvPr>
          <p:cNvSpPr/>
          <p:nvPr/>
        </p:nvSpPr>
        <p:spPr>
          <a:xfrm rot="5400000">
            <a:off x="3090120" y="2462609"/>
            <a:ext cx="299464" cy="1512168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0CBED528-BCD1-9774-369E-D6E69975449D}"/>
              </a:ext>
            </a:extLst>
          </p:cNvPr>
          <p:cNvSpPr/>
          <p:nvPr/>
        </p:nvSpPr>
        <p:spPr>
          <a:xfrm rot="5400000">
            <a:off x="4940178" y="2368453"/>
            <a:ext cx="299464" cy="1700483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7C88AADC-9871-2FAF-950D-D2F87714E1EA}"/>
              </a:ext>
            </a:extLst>
          </p:cNvPr>
          <p:cNvSpPr/>
          <p:nvPr/>
        </p:nvSpPr>
        <p:spPr>
          <a:xfrm rot="5400000">
            <a:off x="6978552" y="2246586"/>
            <a:ext cx="299464" cy="1944215"/>
          </a:xfrm>
          <a:prstGeom prst="rightBrace">
            <a:avLst>
              <a:gd name="adj1" fmla="val 8333"/>
              <a:gd name="adj2" fmla="val 4962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B8DB94-6363-74DA-C29E-7F33DCCF3E2B}"/>
              </a:ext>
            </a:extLst>
          </p:cNvPr>
          <p:cNvSpPr txBox="1"/>
          <p:nvPr/>
        </p:nvSpPr>
        <p:spPr>
          <a:xfrm>
            <a:off x="2735796" y="3381364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ABE0BF-F906-20FD-34BB-1671792B5D91}"/>
              </a:ext>
            </a:extLst>
          </p:cNvPr>
          <p:cNvSpPr txBox="1"/>
          <p:nvPr/>
        </p:nvSpPr>
        <p:spPr>
          <a:xfrm>
            <a:off x="4553673" y="3368426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D4AA90-7E43-A433-40B4-B02EEB434017}"/>
              </a:ext>
            </a:extLst>
          </p:cNvPr>
          <p:cNvSpPr txBox="1"/>
          <p:nvPr/>
        </p:nvSpPr>
        <p:spPr>
          <a:xfrm>
            <a:off x="6669399" y="3365240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08C1F72-CD07-9327-FC45-56D0A1AC333F}"/>
              </a:ext>
            </a:extLst>
          </p:cNvPr>
          <p:cNvSpPr/>
          <p:nvPr/>
        </p:nvSpPr>
        <p:spPr>
          <a:xfrm>
            <a:off x="323528" y="3861048"/>
            <a:ext cx="8208912" cy="160338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CEE8629-945C-CD08-2D1E-F45D63F02D42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524301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5B02F-FA74-0A52-4850-2BA50D31D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endParaRPr lang="de-DE" sz="1500" dirty="0"/>
              </a:p>
              <a:p>
                <a:pPr marL="585788" lvl="1" indent="-285750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Drückt Counterfactuals in Richtung der gewünschten Zielklasse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     </a:t>
                </a:r>
                <a:endParaRPr lang="de-DE" sz="150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D32E62E-5022-D16D-2B98-3B6F0B2425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8BA5E4-A27E-6D58-0B62-C9547F57BC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5CA329-6CE2-7C95-9513-514B388326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28E6E-9BBD-14F9-07B2-E1EC264D8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F7E7A71-4C27-CBB3-EBB4-669776EA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D564704-9DA0-48AE-A271-1FBEB19AE7F5}"/>
              </a:ext>
            </a:extLst>
          </p:cNvPr>
          <p:cNvSpPr txBox="1"/>
          <p:nvPr/>
        </p:nvSpPr>
        <p:spPr>
          <a:xfrm>
            <a:off x="1763688" y="3625860"/>
            <a:ext cx="2376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Vorhersage des Modells für ein Counterfactual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07B7201-87DA-1605-9C3B-E49EFD6E549A}"/>
              </a:ext>
            </a:extLst>
          </p:cNvPr>
          <p:cNvCxnSpPr>
            <a:cxnSpLocks/>
          </p:cNvCxnSpPr>
          <p:nvPr/>
        </p:nvCxnSpPr>
        <p:spPr>
          <a:xfrm flipV="1">
            <a:off x="3131840" y="2924944"/>
            <a:ext cx="36004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71D3438B-C65A-2A7C-8EB4-34CFB2659BB6}"/>
              </a:ext>
            </a:extLst>
          </p:cNvPr>
          <p:cNvCxnSpPr>
            <a:cxnSpLocks/>
          </p:cNvCxnSpPr>
          <p:nvPr/>
        </p:nvCxnSpPr>
        <p:spPr>
          <a:xfrm flipH="1" flipV="1">
            <a:off x="3923928" y="2924944"/>
            <a:ext cx="720080" cy="7009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004F49C-5616-96A2-ABEC-4218B4814AC4}"/>
              </a:ext>
            </a:extLst>
          </p:cNvPr>
          <p:cNvSpPr txBox="1"/>
          <p:nvPr/>
        </p:nvSpPr>
        <p:spPr>
          <a:xfrm>
            <a:off x="4572000" y="362586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E6B8F29-D343-9667-7C86-0BB4D929C26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3567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EDFD-38FA-2E80-C3ED-E5B638F9B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653C66F-13CC-53A4-E89B-8F74EE4BD74A}"/>
              </a:ext>
            </a:extLst>
          </p:cNvPr>
          <p:cNvSpPr/>
          <p:nvPr/>
        </p:nvSpPr>
        <p:spPr>
          <a:xfrm>
            <a:off x="2651047" y="1354805"/>
            <a:ext cx="1200873" cy="2924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08699C8-7F79-A965-EAE1-EDF2B61447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1520" y="980728"/>
            <a:ext cx="8640000" cy="5328592"/>
          </a:xfrm>
        </p:spPr>
        <p:txBody>
          <a:bodyPr/>
          <a:lstStyle/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/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sz="16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sz="1600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ABA18CF-F9D0-53E3-51D9-F3A2753A2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1058483"/>
                <a:ext cx="9145016" cy="8850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2C0C91AC-67B2-81D7-0872-B8AAF8F23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696" y="2840838"/>
            <a:ext cx="5033648" cy="3192547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9AB1DA-8F2A-2636-CE14-AE95EFFBA0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231AF2-1028-0B74-7603-BC64387B13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27DC1-6101-3F12-A83F-6F308154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BDE4932-E9D2-08E4-2C3C-FC910018539B}"/>
              </a:ext>
            </a:extLst>
          </p:cNvPr>
          <p:cNvSpPr txBox="1"/>
          <p:nvPr/>
        </p:nvSpPr>
        <p:spPr>
          <a:xfrm>
            <a:off x="611560" y="1990993"/>
            <a:ext cx="820891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Verwendung einer </a:t>
            </a:r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Hinge-Loss-Funktion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de-DE" sz="1500" dirty="0" err="1">
                <a:latin typeface="Verdana" panose="020B0604030504040204" pitchFamily="34" charset="0"/>
                <a:ea typeface="Verdana" panose="020B0604030504040204" pitchFamily="34" charset="0"/>
              </a:rPr>
              <a:t>yloss</a:t>
            </a: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):</a:t>
            </a:r>
          </a:p>
          <a:p>
            <a:pPr marL="342900" indent="-342900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Modell muss nur gewünschte Klasse vorhersagen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55F3022-8A9C-7312-CF41-F922138D41D7}"/>
              </a:ext>
            </a:extLst>
          </p:cNvPr>
          <p:cNvSpPr/>
          <p:nvPr/>
        </p:nvSpPr>
        <p:spPr>
          <a:xfrm rot="16200000">
            <a:off x="5669704" y="3950640"/>
            <a:ext cx="396880" cy="1440160"/>
          </a:xfrm>
          <a:prstGeom prst="rightBrac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D85174-4D5A-7F56-B923-837D2AC43FC6}"/>
              </a:ext>
            </a:extLst>
          </p:cNvPr>
          <p:cNvSpPr txBox="1"/>
          <p:nvPr/>
        </p:nvSpPr>
        <p:spPr>
          <a:xfrm>
            <a:off x="5029704" y="4149115"/>
            <a:ext cx="25202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Keine Bestrafung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335FA7B-D386-74ED-6D8C-BA61255C495F}"/>
              </a:ext>
            </a:extLst>
          </p:cNvPr>
          <p:cNvCxnSpPr>
            <a:cxnSpLocks/>
          </p:cNvCxnSpPr>
          <p:nvPr/>
        </p:nvCxnSpPr>
        <p:spPr>
          <a:xfrm flipH="1" flipV="1">
            <a:off x="3139458" y="3360107"/>
            <a:ext cx="1792582" cy="179708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25C280A0-9C85-70D3-E10B-89FC496DE37A}"/>
              </a:ext>
            </a:extLst>
          </p:cNvPr>
          <p:cNvSpPr txBox="1"/>
          <p:nvPr/>
        </p:nvSpPr>
        <p:spPr>
          <a:xfrm>
            <a:off x="1241042" y="3885889"/>
            <a:ext cx="266638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Zunehmende Bestrafung je schlechter klassifiziert wurde 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B22A230-3CA3-1702-374C-4DDDD21FB222}"/>
              </a:ext>
            </a:extLst>
          </p:cNvPr>
          <p:cNvSpPr/>
          <p:nvPr/>
        </p:nvSpPr>
        <p:spPr>
          <a:xfrm>
            <a:off x="935116" y="2700227"/>
            <a:ext cx="7272808" cy="38342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20F6F4E-AF17-001C-5B9C-9D5700E3035C}"/>
              </a:ext>
            </a:extLst>
          </p:cNvPr>
          <p:cNvSpPr txBox="1"/>
          <p:nvPr/>
        </p:nvSpPr>
        <p:spPr>
          <a:xfrm>
            <a:off x="7542404" y="2472394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CCFD1D0C-7ED0-67EA-B826-AD3D7806256B}"/>
              </a:ext>
            </a:extLst>
          </p:cNvPr>
          <p:cNvSpPr txBox="1"/>
          <p:nvPr/>
        </p:nvSpPr>
        <p:spPr>
          <a:xfrm>
            <a:off x="7554930" y="597095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</p:spTree>
    <p:extLst>
      <p:ext uri="{BB962C8B-B14F-4D97-AF65-F5344CB8AC3E}">
        <p14:creationId xmlns:p14="http://schemas.microsoft.com/office/powerpoint/2010/main" val="42365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32D9F-D245-6A0C-A134-2BFEACEDD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9EC9ED34-3CC4-E2C1-220D-CE0DFA68F448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922E95A-AB17-2D94-617A-B43431CE5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C719B2-CB29-0261-25FD-FB64F904E8C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7043AB1-12A6-C112-B3AE-5351BA1B28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29681D-6547-6423-76FC-B097AF1EE8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5586191-1F03-EBA3-13B7-D287D445D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E464C04-2B54-AB93-2E48-67846C038998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AC3524D-3910-23C5-618C-5011767B5F25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73CA1B6-24FD-34FD-4BD3-90F38E512690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FDC663C-C1DC-2274-2144-3BC6F4A87B83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550894D-F177-E257-EFB9-F6D81511D0F1}"/>
              </a:ext>
            </a:extLst>
          </p:cNvPr>
          <p:cNvSpPr/>
          <p:nvPr/>
        </p:nvSpPr>
        <p:spPr>
          <a:xfrm>
            <a:off x="322568" y="2710806"/>
            <a:ext cx="8568952" cy="3454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A0EF9F-F0B5-5EF6-A4CD-295BB11659EB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51874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21BB-214E-880D-8549-7371AF91C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613BC01-B486-1212-0003-65EB999F5E7F}"/>
              </a:ext>
            </a:extLst>
          </p:cNvPr>
          <p:cNvSpPr/>
          <p:nvPr/>
        </p:nvSpPr>
        <p:spPr>
          <a:xfrm>
            <a:off x="962473" y="4221088"/>
            <a:ext cx="7200800" cy="16561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289B78F-77FE-93E7-E946-D42919A5D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54C514-FDB2-6D91-2BCE-7B568AFFFF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18B011-F03C-906A-660E-7F9DF49CA3B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5346AA-080A-4058-8F9A-B22D11B1B38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FABC2D-FB59-6F7F-7EED-BFF5C075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7CADE6B-6C63-A7FE-1DB8-C319A9589E05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07D8ED8-1816-061A-50DF-5C409ADCC0E0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E93D357-C5B3-BA07-213D-139CBBA5DC96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EC7A55-B300-AAF9-909B-F7F0DB7D7472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9799BE85-DC31-0307-5C48-CCF560E6424B}"/>
              </a:ext>
            </a:extLst>
          </p:cNvPr>
          <p:cNvCxnSpPr/>
          <p:nvPr/>
        </p:nvCxnSpPr>
        <p:spPr>
          <a:xfrm rot="5400000" flipH="1" flipV="1">
            <a:off x="4103948" y="2384884"/>
            <a:ext cx="504056" cy="432048"/>
          </a:xfrm>
          <a:prstGeom prst="bentConnector3">
            <a:avLst>
              <a:gd name="adj1" fmla="val -391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56580103-470D-134A-AE1C-D8345481CA00}"/>
              </a:ext>
            </a:extLst>
          </p:cNvPr>
          <p:cNvSpPr/>
          <p:nvPr/>
        </p:nvSpPr>
        <p:spPr>
          <a:xfrm>
            <a:off x="755576" y="3933056"/>
            <a:ext cx="8064896" cy="1944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FA68953-E4CD-F807-1A58-978892299B7D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659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122E-6A26-69AA-AD46-FB8AE7AA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5D329AA-0920-EA89-772E-6C31DFCDCF80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[100.000€, Abitur, 90h/Woche]	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2E71478-06D1-E1F8-9200-E7041B158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2F3F5E-D012-95C2-74FB-823C9ED789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B35B56-A1F3-6B44-C986-25CF0C6991D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E81081-DC29-2384-0674-0D1F65EE01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1B8F54-9C3F-299F-E86F-CFBC205B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FACDEAB-0EF5-A928-83F8-8D7EBD09777A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E06F045E-3BB5-F6DE-945F-2902988AC47A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327938-0994-4230-787B-F0100BEDE661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494551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AC58F-2060-ED9A-0054-63745862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FF5AD11D-9C55-830E-53F5-3AC3F9A0E1FD}"/>
              </a:ext>
            </a:extLst>
          </p:cNvPr>
          <p:cNvSpPr/>
          <p:nvPr/>
        </p:nvSpPr>
        <p:spPr>
          <a:xfrm>
            <a:off x="962473" y="3861048"/>
            <a:ext cx="7200800" cy="20162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Nähe</a:t>
                </a:r>
                <a:r>
                  <a:rPr lang="de-DE" dirty="0"/>
                  <a:t> der Counterfactuals </a:t>
                </a:r>
                <a:r>
                  <a:rPr lang="de-DE" i="1" dirty="0"/>
                  <a:t>c</a:t>
                </a:r>
                <a:r>
                  <a:rPr lang="de-DE" i="1" baseline="-25000" dirty="0"/>
                  <a:t>i</a:t>
                </a:r>
                <a:r>
                  <a:rPr lang="de-DE" dirty="0"/>
                  <a:t> zur ursprünglichen Eingabe </a:t>
                </a:r>
                <a:r>
                  <a:rPr lang="de-DE" i="1" dirty="0"/>
                  <a:t>x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342900" lvl="1" indent="0">
                  <a:buNone/>
                </a:pPr>
                <a:r>
                  <a:rPr lang="de-DE" sz="1500" dirty="0"/>
                  <a:t>Kleiner Abstand </a:t>
                </a:r>
                <a14:m>
                  <m:oMath xmlns:m="http://schemas.openxmlformats.org/officeDocument/2006/math">
                    <m:r>
                      <a:rPr lang="de-DE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Hohe Proximität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Hohe Proximität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Proximität stellt Bezug zur Ursprungssituation her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endParaRPr lang="de-DE" sz="1500" strike="sngStrike" dirty="0"/>
              </a:p>
              <a:p>
                <a:pPr marL="685800" lvl="2" indent="0">
                  <a:buNone/>
                </a:pPr>
                <a:r>
                  <a:rPr lang="de-DE" sz="1500" dirty="0"/>
                  <a:t>  </a:t>
                </a:r>
                <a:r>
                  <a:rPr lang="de-DE" sz="1500" strike="sngStrike" dirty="0"/>
                  <a:t>[100.000€, Abitur, 90h/Woche]</a:t>
                </a:r>
                <a:r>
                  <a:rPr lang="de-DE" sz="1500" dirty="0"/>
                  <a:t>	     [3.500€, Abitur, 40h/Woche] 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999E3C7A-14A6-9081-DAAA-E7350747F8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536504"/>
              </a:xfrm>
              <a:blipFill>
                <a:blip r:embed="rId3"/>
                <a:stretch>
                  <a:fillRect l="-282" b="-1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68202-C37F-EE98-291D-B4622F8F09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3AB279-5D32-D90F-9F8B-CAFEF07CE19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C882C06-661F-4711-30A9-7FA8ED00F70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B135529-38A7-7CBB-6B4A-6DED86F9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F2F0737-3E67-5A6C-CF51-22C729F6F6E6}"/>
              </a:ext>
            </a:extLst>
          </p:cNvPr>
          <p:cNvCxnSpPr>
            <a:cxnSpLocks/>
          </p:cNvCxnSpPr>
          <p:nvPr/>
        </p:nvCxnSpPr>
        <p:spPr>
          <a:xfrm flipH="1">
            <a:off x="3347864" y="4581128"/>
            <a:ext cx="659794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577C1F-5825-568C-ED9F-277A56D4BA27}"/>
              </a:ext>
            </a:extLst>
          </p:cNvPr>
          <p:cNvCxnSpPr>
            <a:cxnSpLocks/>
          </p:cNvCxnSpPr>
          <p:nvPr/>
        </p:nvCxnSpPr>
        <p:spPr>
          <a:xfrm>
            <a:off x="5731623" y="4581128"/>
            <a:ext cx="856601" cy="8640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5B02F7-E96D-17D8-7AAA-6828408B6508}"/>
              </a:ext>
            </a:extLst>
          </p:cNvPr>
          <p:cNvSpPr txBox="1"/>
          <p:nvPr/>
        </p:nvSpPr>
        <p:spPr>
          <a:xfrm>
            <a:off x="241964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Proximität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EE9E7EC-6A05-50B2-635D-4375D379977F}"/>
              </a:ext>
            </a:extLst>
          </p:cNvPr>
          <p:cNvSpPr txBox="1"/>
          <p:nvPr/>
        </p:nvSpPr>
        <p:spPr>
          <a:xfrm>
            <a:off x="6299598" y="4696398"/>
            <a:ext cx="1152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Hohe Proximität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E76C48A-3CA9-051A-9AC3-3C4A045B3FFA}"/>
              </a:ext>
            </a:extLst>
          </p:cNvPr>
          <p:cNvSpPr txBox="1"/>
          <p:nvPr/>
        </p:nvSpPr>
        <p:spPr>
          <a:xfrm>
            <a:off x="7164288" y="3323232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4067178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4D6F5-4769-EE10-EF0F-DE1FC5E3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</a:t>
                </a:r>
                <a:r>
                  <a:rPr lang="de-DE" b="0" dirty="0"/>
                  <a:t>weier sehr ähnlichen Counterfactuals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b="0" dirty="0"/>
                  <a:t> 1 </a:t>
                </a:r>
              </a:p>
              <a:p>
                <a:pPr marL="342900" lvl="1" indent="0">
                  <a:buNone/>
                </a:pPr>
                <a:r>
                  <a:rPr lang="de-DE" dirty="0"/>
                  <a:t>		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=0,19</m:t>
                    </m:r>
                  </m:oMath>
                </a14:m>
                <a:r>
                  <a:rPr lang="de-DE" dirty="0"/>
                  <a:t>  (niedrige Diversität)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de-DE" dirty="0"/>
                  <a:t> zweier sehr unterschiedlichen Counterfactuals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dirty="0"/>
                  <a:t> 0 </a:t>
                </a:r>
              </a:p>
              <a:p>
                <a:pPr marL="342900" lvl="1" indent="0">
                  <a:buNone/>
                </a:pPr>
                <a:r>
                  <a:rPr lang="de-DE" sz="1350" dirty="0"/>
                  <a:t>  	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  <m:r>
                      <m:rPr>
                        <m:sty m:val="p"/>
                      </m:rP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det</m:t>
                    </m:r>
                    <m:d>
                      <m:dPr>
                        <m:begChr m:val="|"/>
                        <m:endChr m:val="|"/>
                        <m:ctrlPr>
                          <a:rPr lang="de-DE" sz="13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de-DE" sz="13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de-DE" sz="135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de-DE" sz="13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  <m:r>
                      <a:rPr lang="de-DE" sz="135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de-DE" sz="135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de-DE" sz="1350" dirty="0"/>
                  <a:t>   (hohe Diversität)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2CC5926-4710-FCEC-C91F-4583982A5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104456"/>
              </a:xfrm>
              <a:blipFill>
                <a:blip r:embed="rId3"/>
                <a:stretch>
                  <a:fillRect l="-282" b="-1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3E458C-845A-C120-E398-58B3FC70A3E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65F790-1C25-D899-0535-79E9E54CB8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A8BBA1-ECDB-8CF1-2870-AD5B2A54AEF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29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976C229-0932-030E-A47F-55AE8DCA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78E3A6D-AF90-771C-5175-80E40B66CFC5}"/>
              </a:ext>
            </a:extLst>
          </p:cNvPr>
          <p:cNvSpPr txBox="1"/>
          <p:nvPr/>
        </p:nvSpPr>
        <p:spPr>
          <a:xfrm>
            <a:off x="7020272" y="249289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81492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D3B1F-5162-6EA2-40C7-8FB12A01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3B7D5EFC-BBB1-DC1A-793C-99BD39B6DB54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5087F01-4952-7823-AF9E-A10E0E790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513C8FE-6530-53C2-0E68-81BE859E98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45FD6A-7B6B-0D75-7BC0-B7AD783DE6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9EEC05-7E7B-AAEA-3D38-F1EF63CCEAE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35087D-65AC-0157-179C-2FD596EE1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14EEBB5-F967-55A7-5BB7-6DA18A0D849E}"/>
              </a:ext>
            </a:extLst>
          </p:cNvPr>
          <p:cNvCxnSpPr>
            <a:cxnSpLocks/>
          </p:cNvCxnSpPr>
          <p:nvPr/>
        </p:nvCxnSpPr>
        <p:spPr>
          <a:xfrm flipH="1">
            <a:off x="377991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EBAD236-70DD-FCE8-51F1-2F5BF86F5E49}"/>
              </a:ext>
            </a:extLst>
          </p:cNvPr>
          <p:cNvCxnSpPr>
            <a:cxnSpLocks/>
          </p:cNvCxnSpPr>
          <p:nvPr/>
        </p:nvCxnSpPr>
        <p:spPr>
          <a:xfrm>
            <a:off x="536409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1A37BA88-9C15-201D-228D-71B3E2538B73}"/>
              </a:ext>
            </a:extLst>
          </p:cNvPr>
          <p:cNvSpPr/>
          <p:nvPr/>
        </p:nvSpPr>
        <p:spPr>
          <a:xfrm>
            <a:off x="899592" y="4437112"/>
            <a:ext cx="7272808" cy="16561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147B626-D399-E014-01EB-43EA9F5D93C3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22442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877DF-AE18-B9AA-9187-324E1660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7960649-06A7-1DF3-4C3C-5AC3D5541723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[4.001€, Abitur,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FB5272ED-1DB4-E08E-4525-D57002774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AB93233-A5BA-62B5-4BE7-35209BBF4C5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7F0BC3-25AD-5BA3-52E9-BB464B2406F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49B3A08-CF98-8C44-D5C3-1B3E91C945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D2E2DB8-EC6B-F54B-29CF-EE48A587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7FB532C-52E2-0E63-F58C-F8B74D5BA978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3C1FBF9-DCB0-49D3-D714-BFB73DDF56AA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A9E85B31-EA10-AE49-82FA-8A5378504E28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BE531C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Niedrige Diversität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8E40D7-8B0D-DC86-5AD7-F5E514278B3F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7673459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1ECF-57D3-DAA6-8714-4669E1C80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73E2396-CDF7-6EAC-99C4-A7095A9EB926}"/>
              </a:ext>
            </a:extLst>
          </p:cNvPr>
          <p:cNvSpPr/>
          <p:nvPr/>
        </p:nvSpPr>
        <p:spPr>
          <a:xfrm>
            <a:off x="971600" y="4437112"/>
            <a:ext cx="7128792" cy="15841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Unterscheidung</a:t>
                </a:r>
                <a:r>
                  <a:rPr lang="de-DE" b="1" dirty="0"/>
                  <a:t> </a:t>
                </a:r>
                <a:r>
                  <a:rPr lang="de-DE" dirty="0"/>
                  <a:t>zwischen den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untereinander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𝑑𝑖𝑣𝑒𝑟𝑠𝑖𝑡𝑦</m:t>
                      </m:r>
                      <m:r>
                        <a:rPr lang="de-DE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b="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sollen möglichst unterschiedliche Alternativszenarien beschreiben</a:t>
                </a:r>
              </a:p>
              <a:p>
                <a:pPr marL="0" indent="0">
                  <a:buNone/>
                </a:pPr>
                <a:r>
                  <a:rPr lang="de-DE" dirty="0"/>
                  <a:t>    </a:t>
                </a:r>
                <a:r>
                  <a:rPr lang="de-DE" sz="1500" dirty="0"/>
                  <a:t>Hohe Diversität </a:t>
                </a:r>
                <a14:m>
                  <m:oMath xmlns:m="http://schemas.openxmlformats.org/officeDocument/2006/math">
                    <m:r>
                      <a:rPr lang="de-DE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 sz="1500" dirty="0"/>
                  <a:t> Höhere Machbarkeit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Niedrige Diversität: Counterfactuals beschreiben gleiche Alternativszenarien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Kein Informationsgewinn für den Anwender durch weitere Erklärungen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Beispiel: </a:t>
                </a:r>
                <a:r>
                  <a:rPr lang="de-DE" sz="1500" i="1" dirty="0"/>
                  <a:t>Was muss sich ändern, damit der Kredit gewährt wird?</a:t>
                </a:r>
              </a:p>
              <a:p>
                <a:pPr marL="685800" lvl="2" indent="0">
                  <a:buNone/>
                </a:pPr>
                <a:r>
                  <a:rPr lang="de-DE" sz="1500" dirty="0"/>
                  <a:t>			      [3.000€, Abitur, 35h/Woche] </a:t>
                </a:r>
              </a:p>
              <a:p>
                <a:pPr marL="685800" lvl="2" indent="0">
                  <a:buNone/>
                </a:pPr>
                <a:endParaRPr lang="de-DE" sz="1500" dirty="0"/>
              </a:p>
              <a:p>
                <a:pPr marL="685800" lvl="2" indent="0">
                  <a:buNone/>
                </a:pPr>
                <a:r>
                  <a:rPr lang="de-DE" sz="1500" dirty="0"/>
                  <a:t>       [4.000€, Abitur, 35h/Woche]            [3.000€, Bachelor, 35h/Woche]</a:t>
                </a:r>
              </a:p>
              <a:p>
                <a:pPr marL="685800" lvl="2" indent="0">
                  <a:buNone/>
                </a:pPr>
                <a:endParaRPr lang="de-DE" sz="1350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437E4455-0A3D-33E1-C005-19D84C8F05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1268760"/>
                <a:ext cx="8640000" cy="4968552"/>
              </a:xfrm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7F1CDC-EF15-3F7A-1383-BC5CB171DC3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E5E1CA-A242-CEE8-C7AA-427315CD622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C919C1-65D2-919C-A037-F5331BEE09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55A7223-A952-F830-32A6-FA00FC6BB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D6C6981-5276-8720-E768-A90CCAC6C12B}"/>
              </a:ext>
            </a:extLst>
          </p:cNvPr>
          <p:cNvCxnSpPr>
            <a:cxnSpLocks/>
          </p:cNvCxnSpPr>
          <p:nvPr/>
        </p:nvCxnSpPr>
        <p:spPr>
          <a:xfrm flipH="1">
            <a:off x="3588651" y="5086300"/>
            <a:ext cx="288032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B685EE7-537F-2406-4344-412355B413F8}"/>
              </a:ext>
            </a:extLst>
          </p:cNvPr>
          <p:cNvCxnSpPr>
            <a:cxnSpLocks/>
          </p:cNvCxnSpPr>
          <p:nvPr/>
        </p:nvCxnSpPr>
        <p:spPr>
          <a:xfrm>
            <a:off x="5555350" y="5086300"/>
            <a:ext cx="352545" cy="5029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5CC2CAA7-93A1-F282-47D2-EFABD731A607}"/>
              </a:ext>
            </a:extLst>
          </p:cNvPr>
          <p:cNvSpPr txBox="1"/>
          <p:nvPr/>
        </p:nvSpPr>
        <p:spPr>
          <a:xfrm>
            <a:off x="3797795" y="5111650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Hohe Diversität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9DD57D3-04D6-EA46-9CD1-26AFF82AA6B4}"/>
              </a:ext>
            </a:extLst>
          </p:cNvPr>
          <p:cNvSpPr txBox="1"/>
          <p:nvPr/>
        </p:nvSpPr>
        <p:spPr>
          <a:xfrm>
            <a:off x="7542404" y="4126577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131646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6281-8674-FA57-612F-1B0741C0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de-DE" dirty="0">
                    <a:solidFill>
                      <a:srgbClr val="115E67"/>
                    </a:solidFill>
                  </a:rPr>
                  <a:t>Optimierung der Verlustfunktion</a:t>
                </a:r>
              </a:p>
              <a:p>
                <a:pPr marL="0" indent="0">
                  <a:buNone/>
                </a:pPr>
                <a:r>
                  <a:rPr lang="de-DE" b="1" dirty="0"/>
                  <a:t>     </a:t>
                </a:r>
                <a:r>
                  <a:rPr lang="de-DE" dirty="0"/>
                  <a:t> Gleichzeitige Optimierung aller </a:t>
                </a:r>
                <a:r>
                  <a:rPr lang="de-DE" i="1" dirty="0"/>
                  <a:t>k</a:t>
                </a:r>
                <a:r>
                  <a:rPr lang="de-DE" dirty="0"/>
                  <a:t>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 = 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,.. 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func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yloss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f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diversity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sz="1500" dirty="0"/>
                  <a:t>Einfluss von Proximität und Diversität steuerbar durch </a:t>
                </a:r>
                <a:r>
                  <a:rPr lang="el-GR" sz="1500" dirty="0"/>
                  <a:t>λ</a:t>
                </a:r>
                <a:r>
                  <a:rPr lang="de-DE" sz="1500" dirty="0"/>
                  <a:t>-Parameter</a:t>
                </a:r>
              </a:p>
              <a:p>
                <a:pPr marL="342900" lvl="1" indent="0">
                  <a:buNone/>
                </a:pPr>
                <a:r>
                  <a:rPr lang="de-DE" sz="1500" dirty="0"/>
                  <a:t>    mit</a:t>
                </a:r>
                <a14:m>
                  <m:oMath xmlns:m="http://schemas.openxmlformats.org/officeDocument/2006/math">
                    <m:r>
                      <a:rPr lang="de-DE" sz="1500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de-DE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15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1500" dirty="0"/>
              </a:p>
              <a:p>
                <a:pPr lvl="2">
                  <a:buFont typeface="Wingdings" panose="05000000000000000000" pitchFamily="2" charset="2"/>
                  <a:buChar char="Ø"/>
                </a:pPr>
                <a:r>
                  <a:rPr lang="de-DE" sz="1350" dirty="0"/>
                  <a:t>Einfluss der Gültigkeit bleibt konstant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E61400E-D05E-58ED-5401-1E24B33635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D82674-302E-9259-4996-F0F830FDBB5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B24DC8-70CD-1F0A-499B-270BAF1C175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76618D-B549-49C5-9370-C85219CD81E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F79736-4030-7568-672F-667E862C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Optimierung der Verlustfunktion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16AAB1E0-BC2F-E066-FEBC-7B24C4456818}"/>
              </a:ext>
            </a:extLst>
          </p:cNvPr>
          <p:cNvSpPr/>
          <p:nvPr/>
        </p:nvSpPr>
        <p:spPr>
          <a:xfrm rot="5400000">
            <a:off x="3072118" y="2487181"/>
            <a:ext cx="299464" cy="158417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8" name="Geschweifte Klammer rechts 7">
            <a:extLst>
              <a:ext uri="{FF2B5EF4-FFF2-40B4-BE49-F238E27FC236}">
                <a16:creationId xmlns:a16="http://schemas.microsoft.com/office/drawing/2014/main" id="{886BAF22-1E11-7567-BC1D-7B57C23A8EC5}"/>
              </a:ext>
            </a:extLst>
          </p:cNvPr>
          <p:cNvSpPr/>
          <p:nvPr/>
        </p:nvSpPr>
        <p:spPr>
          <a:xfrm rot="5400000">
            <a:off x="4934958" y="2406539"/>
            <a:ext cx="299464" cy="1745460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A984819E-9FF5-D60E-3F5B-12758AFFCED0}"/>
              </a:ext>
            </a:extLst>
          </p:cNvPr>
          <p:cNvSpPr/>
          <p:nvPr/>
        </p:nvSpPr>
        <p:spPr>
          <a:xfrm rot="5400000">
            <a:off x="6995354" y="2307161"/>
            <a:ext cx="299464" cy="1944216"/>
          </a:xfrm>
          <a:prstGeom prst="rightBrace">
            <a:avLst>
              <a:gd name="adj1" fmla="val 8333"/>
              <a:gd name="adj2" fmla="val 49620"/>
            </a:avLst>
          </a:prstGeom>
          <a:ln>
            <a:solidFill>
              <a:srgbClr val="115E67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de-DE" dirty="0"/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D9559B-5786-57DB-6A2E-822BFF8BD4CE}"/>
              </a:ext>
            </a:extLst>
          </p:cNvPr>
          <p:cNvSpPr txBox="1"/>
          <p:nvPr/>
        </p:nvSpPr>
        <p:spPr>
          <a:xfrm>
            <a:off x="2681790" y="3481263"/>
            <a:ext cx="1080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Gültigkeit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10CF039-F170-AE1F-F3C8-0FD1F510B01A}"/>
              </a:ext>
            </a:extLst>
          </p:cNvPr>
          <p:cNvSpPr txBox="1"/>
          <p:nvPr/>
        </p:nvSpPr>
        <p:spPr>
          <a:xfrm>
            <a:off x="4571520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Proximität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C50F3E-B5EA-73A4-BBAD-B7B57C4E2EE9}"/>
              </a:ext>
            </a:extLst>
          </p:cNvPr>
          <p:cNvSpPr txBox="1"/>
          <p:nvPr/>
        </p:nvSpPr>
        <p:spPr>
          <a:xfrm>
            <a:off x="6669399" y="3481263"/>
            <a:ext cx="1205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Diversität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AF04894-9779-BED7-BA56-04E471C696E5}"/>
              </a:ext>
            </a:extLst>
          </p:cNvPr>
          <p:cNvCxnSpPr/>
          <p:nvPr/>
        </p:nvCxnSpPr>
        <p:spPr>
          <a:xfrm>
            <a:off x="4283968" y="227687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4A6547-8783-B88A-01CB-DE099646E05D}"/>
              </a:ext>
            </a:extLst>
          </p:cNvPr>
          <p:cNvCxnSpPr/>
          <p:nvPr/>
        </p:nvCxnSpPr>
        <p:spPr>
          <a:xfrm>
            <a:off x="6012160" y="2464842"/>
            <a:ext cx="144016" cy="2160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7933B90D-E1DA-BF3B-C56D-B0C6CF665C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87572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941C6-F19E-E0B0-AC65-BF8A96A2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B5464B6-93E6-AF63-910F-C934F9FAC0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</a:p>
          <a:p>
            <a:pPr marL="300038" lvl="1" indent="0">
              <a:lnSpc>
                <a:spcPct val="200000"/>
              </a:lnSpc>
              <a:buNone/>
            </a:pPr>
            <a:r>
              <a:rPr lang="de-DE" sz="1500" dirty="0"/>
              <a:t>Minimale Änderung jedes Features möglich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Hohe Proximität</a:t>
            </a:r>
          </a:p>
          <a:p>
            <a:pPr marL="585788" lvl="1" indent="-285750">
              <a:buFont typeface="Wingdings" panose="05000000000000000000" pitchFamily="2" charset="2"/>
              <a:buChar char="Ø"/>
            </a:pPr>
            <a:r>
              <a:rPr lang="de-DE" sz="1500" dirty="0"/>
              <a:t>Niedrige Machbarkeit</a:t>
            </a:r>
          </a:p>
          <a:p>
            <a:pPr marL="342900" lvl="1" indent="0">
              <a:buNone/>
            </a:pPr>
            <a:endParaRPr lang="de-DE" sz="1500" dirty="0"/>
          </a:p>
          <a:p>
            <a:pPr marL="300038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Sparsität</a:t>
            </a:r>
          </a:p>
          <a:p>
            <a:pPr marL="300038" lvl="1" indent="0">
              <a:buNone/>
            </a:pPr>
            <a:r>
              <a:rPr lang="de-DE" sz="1500" dirty="0"/>
              <a:t>Minimierung der Anzahl der Feature-Änderungen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1500" dirty="0"/>
              <a:t>Verbesserung der Machbarkeit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E204DE-8537-4FBD-B7C2-C924113C1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46786E-D2CA-F8EE-BB49-D5293EA8A23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1F15D-F5F1-6309-D0EF-814AF59949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5FCE83F-2E8B-D2BC-FCEC-AE0300F38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5BFC34-D819-E6A2-14E8-4402D3426ED1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62286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BE9D-CC1B-F894-D59B-7FC15ECA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9D448E2D-940D-EA54-0E39-2B66770557ED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4A8621C-A814-87B0-7B15-AFD5B39935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4FABA6-5150-2022-9867-8CC9089BADD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AE59DF-CA4E-02CA-73DD-82A2A355C4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49AA90-4A3C-8EF2-82C3-731AB92D98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D650474-C2D6-92AA-9E31-BDC5FCFD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B1073D-BB89-4E46-A3A9-70E517AB8F3F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FB4C578-1CF4-E512-0490-83F1138ED98C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B6CF78-6C2F-C791-FC06-A1CB3EF511D3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EB57F5A-0FFE-FDF6-1803-5D5041A8BEAA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4230900-2997-8B35-FE7E-3777B55EE3AE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96C3289-AA83-46C2-4866-2670B2D5B928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624B929-DB53-B54C-3C52-231FCAF006CF}"/>
              </a:ext>
            </a:extLst>
          </p:cNvPr>
          <p:cNvSpPr/>
          <p:nvPr/>
        </p:nvSpPr>
        <p:spPr>
          <a:xfrm>
            <a:off x="611560" y="3861048"/>
            <a:ext cx="8136902" cy="244827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8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FB39D-831C-61CB-E47F-F7195EA36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72C2C1A-D4D5-663A-55F4-0629ACED57F1}"/>
              </a:ext>
            </a:extLst>
          </p:cNvPr>
          <p:cNvSpPr/>
          <p:nvPr/>
        </p:nvSpPr>
        <p:spPr>
          <a:xfrm>
            <a:off x="683568" y="3933056"/>
            <a:ext cx="7992888" cy="23762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EE7693F-7789-16EC-AFDB-7160679957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>
                <a:solidFill>
                  <a:srgbClr val="115E67"/>
                </a:solidFill>
              </a:rPr>
              <a:t>Nachbearbeitung der optimierten Counterfactuals</a:t>
            </a:r>
            <a:endParaRPr lang="de-DE" dirty="0"/>
          </a:p>
          <a:p>
            <a:pPr marL="342900" lvl="1" indent="0">
              <a:buNone/>
            </a:pPr>
            <a:r>
              <a:rPr lang="de-DE" sz="1500" dirty="0">
                <a:solidFill>
                  <a:srgbClr val="115E67"/>
                </a:solidFill>
              </a:rPr>
              <a:t>Greedy-Algorithmus</a:t>
            </a:r>
            <a:r>
              <a:rPr lang="de-DE" sz="1500" b="1" dirty="0"/>
              <a:t> </a:t>
            </a:r>
            <a:r>
              <a:rPr lang="de-DE" sz="1500" dirty="0"/>
              <a:t>(für jedes Counterfactual)</a:t>
            </a:r>
          </a:p>
          <a:p>
            <a:pPr lvl="1"/>
            <a:r>
              <a:rPr lang="de-DE" sz="1500" dirty="0"/>
              <a:t>Iteratives Zurücksetzen der kontinuierlichen Features</a:t>
            </a:r>
          </a:p>
          <a:p>
            <a:pPr lvl="1"/>
            <a:r>
              <a:rPr lang="de-DE" sz="1500" dirty="0"/>
              <a:t>Sortiere Feature-Änderungen nach der Abweichung zum ursprünglichen Wert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Starte das Zurücksetzten bei Features mit geringster Abweichung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de-DE" sz="1500" dirty="0"/>
              <a:t> Nur Zurücksetzen, falls Zielklasse unverändert bleibt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18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C6604D-A3EB-B6CC-C360-D74DAB7A235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7F150A-B370-59FD-A9A6-D3349760451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6252E5-D4CA-9606-353C-9F017C2D78E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58D3B17-6FDA-1C22-FEA4-5BAACD63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Nachbearbeitungsschritt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01AF60-DF6F-95B5-9E22-C588A2C0AE78}"/>
              </a:ext>
            </a:extLst>
          </p:cNvPr>
          <p:cNvSpPr txBox="1"/>
          <p:nvPr/>
        </p:nvSpPr>
        <p:spPr>
          <a:xfrm>
            <a:off x="35496" y="3933056"/>
            <a:ext cx="88560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lvl="2" indent="0">
              <a:buNone/>
            </a:pPr>
            <a:r>
              <a:rPr lang="de-DE" sz="1800" dirty="0"/>
              <a:t>Beispiel: </a:t>
            </a:r>
            <a:r>
              <a:rPr lang="de-DE" sz="1800" i="1" dirty="0"/>
              <a:t>Was muss sich ändern, damit der Kredit gewährt wird?</a:t>
            </a:r>
          </a:p>
          <a:p>
            <a:pPr marL="685800" lvl="2" indent="0">
              <a:buNone/>
            </a:pPr>
            <a:r>
              <a:rPr lang="de-DE" dirty="0"/>
              <a:t>	    </a:t>
            </a:r>
            <a:r>
              <a:rPr lang="de-DE" sz="1800" dirty="0"/>
              <a:t>Urspr</a:t>
            </a:r>
            <a:r>
              <a:rPr lang="de-DE" dirty="0"/>
              <a:t>üngliche Eingabe:</a:t>
            </a:r>
            <a:r>
              <a:rPr lang="de-DE" sz="1800" dirty="0"/>
              <a:t>                   [3.000€, Abitur, 35h/Woche]</a:t>
            </a:r>
          </a:p>
          <a:p>
            <a:pPr marL="685800" lvl="2" indent="0">
              <a:buNone/>
            </a:pPr>
            <a:r>
              <a:rPr lang="de-DE" sz="1800" dirty="0"/>
              <a:t> 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sz="1800" dirty="0"/>
              <a:t>	     Optimiertes Counterfactual:          [</a:t>
            </a:r>
            <a:r>
              <a:rPr lang="de-DE" dirty="0"/>
              <a:t>4</a:t>
            </a:r>
            <a:r>
              <a:rPr lang="de-DE" sz="1800" dirty="0"/>
              <a:t>.500€, Bachelor, </a:t>
            </a:r>
            <a:r>
              <a:rPr lang="de-DE" dirty="0"/>
              <a:t>36</a:t>
            </a:r>
            <a:r>
              <a:rPr lang="de-DE" sz="1800" dirty="0"/>
              <a:t>h/Woche]</a:t>
            </a:r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endParaRPr lang="de-DE" sz="1800" dirty="0"/>
          </a:p>
          <a:p>
            <a:pPr marL="685800" lvl="2" indent="0">
              <a:buNone/>
            </a:pPr>
            <a:r>
              <a:rPr lang="de-DE" dirty="0"/>
              <a:t>	     Nachbearbeitetes Counterfactual: [4.500€, Bachelor, 35h/Woche]</a:t>
            </a:r>
            <a:endParaRPr lang="de-DE" sz="1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5E30F3-876A-1EF5-70E0-CB527D1D4864}"/>
              </a:ext>
            </a:extLst>
          </p:cNvPr>
          <p:cNvCxnSpPr/>
          <p:nvPr/>
        </p:nvCxnSpPr>
        <p:spPr>
          <a:xfrm>
            <a:off x="5731623" y="4509120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2A1BC3C-4DD7-F069-577F-00117887DE4A}"/>
              </a:ext>
            </a:extLst>
          </p:cNvPr>
          <p:cNvCxnSpPr/>
          <p:nvPr/>
        </p:nvCxnSpPr>
        <p:spPr>
          <a:xfrm>
            <a:off x="5748246" y="5373216"/>
            <a:ext cx="0" cy="5760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F63B801-E7F1-BB56-23A2-405AA89D069F}"/>
              </a:ext>
            </a:extLst>
          </p:cNvPr>
          <p:cNvSpPr txBox="1"/>
          <p:nvPr/>
        </p:nvSpPr>
        <p:spPr>
          <a:xfrm>
            <a:off x="5748246" y="5507359"/>
            <a:ext cx="22140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Zurücksetzten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679234A-4157-88BE-657D-6BB22414710B}"/>
              </a:ext>
            </a:extLst>
          </p:cNvPr>
          <p:cNvSpPr txBox="1"/>
          <p:nvPr/>
        </p:nvSpPr>
        <p:spPr>
          <a:xfrm>
            <a:off x="5760524" y="4643263"/>
            <a:ext cx="2987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Initialisierung + Optimierung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5D84D9B-E75E-C2FA-4566-019C5B388080}"/>
              </a:ext>
            </a:extLst>
          </p:cNvPr>
          <p:cNvSpPr txBox="1"/>
          <p:nvPr/>
        </p:nvSpPr>
        <p:spPr>
          <a:xfrm>
            <a:off x="7560481" y="3450486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1297282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66E7-91B7-85FD-BB99-4676790A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5011486-5105-1C91-3EE1-AB10EA6953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Evaluationsmetriken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023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E31A-3CCA-EC0C-5A53-43E4105C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17CCEAC7-A32F-40DF-3DBD-CA06FE1B5E12}"/>
              </a:ext>
            </a:extLst>
          </p:cNvPr>
          <p:cNvSpPr/>
          <p:nvPr/>
        </p:nvSpPr>
        <p:spPr>
          <a:xfrm>
            <a:off x="3635896" y="2132856"/>
            <a:ext cx="1800200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2BA0C5C-0A40-9724-4D7C-7B253F633A66}"/>
              </a:ext>
            </a:extLst>
          </p:cNvPr>
          <p:cNvSpPr/>
          <p:nvPr/>
        </p:nvSpPr>
        <p:spPr>
          <a:xfrm>
            <a:off x="5719791" y="2132856"/>
            <a:ext cx="1000617" cy="285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Prüft für die Menge der </a:t>
                </a:r>
                <a:r>
                  <a:rPr lang="de-DE" i="1" dirty="0"/>
                  <a:t>k</a:t>
                </a:r>
                <a:r>
                  <a:rPr lang="de-DE" dirty="0"/>
                  <a:t> Counterfactuals C , ob die Counterfactuals </a:t>
                </a:r>
                <a:r>
                  <a:rPr lang="de-DE" dirty="0">
                    <a:solidFill>
                      <a:srgbClr val="115E67"/>
                    </a:solidFill>
                  </a:rPr>
                  <a:t>eindeutig und gültig</a:t>
                </a:r>
                <a:r>
                  <a:rPr lang="de-DE" b="1" dirty="0"/>
                  <a:t> </a:t>
                </a:r>
                <a:r>
                  <a:rPr lang="de-DE" dirty="0"/>
                  <a:t>sind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%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ValidCFs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unique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instance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) &gt; 0.5}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/>
                  <a:t>Eindeutigkeit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Duplikate aus der generierten Counterfactual-Menge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1" dirty="0"/>
                  <a:t>Gültigkeit</a:t>
                </a:r>
              </a:p>
              <a:p>
                <a:pPr marL="0" indent="0">
                  <a:buNone/>
                </a:pPr>
                <a:r>
                  <a:rPr lang="de-DE" dirty="0"/>
                  <a:t>Entfernt Counterfactuals, welche nicht die gewünschte Klasse vorhersagen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EA493BA8-C8C6-F9D4-A662-FB8EB6147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F8FC45E-8CCD-0A39-9AFA-91EE6206CE6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402ABC-A443-C6DD-B88B-E380E14B14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C56D251-1824-6128-F919-759CB1C7937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08B10B7-A4CD-F351-2C6E-F45FEF480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Gültigkeitsmetrik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84769E-1C3F-FD3B-AD3F-AF791D1468D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42722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308CC-F972-C0D8-DD17-F8A531C0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  <a:latin typeface="+mn-lt"/>
                  </a:rPr>
                  <a:t>Proximitätsmetrik</a:t>
                </a:r>
                <a:r>
                  <a:rPr lang="de-DE" dirty="0">
                    <a:latin typeface="+mn-lt"/>
                  </a:rPr>
                  <a:t> misst die Nähe</a:t>
                </a:r>
                <a:r>
                  <a:rPr lang="de-DE" b="1" dirty="0">
                    <a:latin typeface="+mn-lt"/>
                  </a:rPr>
                  <a:t> </a:t>
                </a:r>
                <a:r>
                  <a:rPr lang="de-DE" dirty="0">
                    <a:latin typeface="+mn-lt"/>
                  </a:rPr>
                  <a:t>der kontinuierlichen Features zur ursprünglichen Eingabe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Kontinuierliche Proximität nahe 0 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r>
                  <a:rPr lang="de-DE" dirty="0"/>
                  <a:t>Counterfactuals sehr nah an ursprünglicher Eingabe</a:t>
                </a:r>
              </a:p>
              <a:p>
                <a:pPr lvl="1"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115E67"/>
                    </a:solidFill>
                  </a:rPr>
                  <a:t>Sparsitätsmetrik</a:t>
                </a:r>
                <a:r>
                  <a:rPr lang="de-DE" dirty="0"/>
                  <a:t> misst Anzahl der nicht-veränderten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186005D4-4565-C4C3-F44B-BEF42FDE4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19AC419-9E78-51A3-157F-A3AC3F1EA52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20369E-5C17-E90C-3014-BAA2031BADE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39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E3F1A32-CE5C-7571-2CE2-3C9A445C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AF97E0CD-7D4A-5BCB-9413-55B34AC2C729}"/>
              </a:ext>
            </a:extLst>
          </p:cNvPr>
          <p:cNvSpPr/>
          <p:nvPr/>
        </p:nvSpPr>
        <p:spPr>
          <a:xfrm rot="5400000">
            <a:off x="5395565" y="5476701"/>
            <a:ext cx="225078" cy="1008112"/>
          </a:xfrm>
          <a:prstGeom prst="rightBrace">
            <a:avLst/>
          </a:prstGeom>
          <a:ln w="190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1DEAE2A-73E5-3DF7-0EEC-3A84863338CB}"/>
              </a:ext>
            </a:extLst>
          </p:cNvPr>
          <p:cNvSpPr txBox="1"/>
          <p:nvPr/>
        </p:nvSpPr>
        <p:spPr>
          <a:xfrm>
            <a:off x="4499398" y="6072843"/>
            <a:ext cx="2952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Mittlere Feature-Änderungen eines Counterfactuals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FEA6583-45B4-A2A0-2AE5-6C7D8CA0A9C4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342166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3619-0215-20C9-EFF7-AD641DE2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+mn-lt"/>
                    <a:ea typeface="Cambria Math" panose="02040503050406030204" pitchFamily="18" charset="0"/>
                  </a:rPr>
                  <a:t>Misst wie stark sich die Counterfactuals </a:t>
                </a:r>
                <a:r>
                  <a:rPr lang="de-DE" dirty="0">
                    <a:solidFill>
                      <a:srgbClr val="115E67"/>
                    </a:solidFill>
                    <a:latin typeface="+mn-lt"/>
                    <a:ea typeface="Cambria Math" panose="02040503050406030204" pitchFamily="18" charset="0"/>
                  </a:rPr>
                  <a:t>voneinander unterscheiden</a:t>
                </a:r>
                <a:endParaRPr lang="de-DE" b="0" dirty="0">
                  <a:solidFill>
                    <a:srgbClr val="115E67"/>
                  </a:solidFill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Große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2644CAF3-315C-D9F2-4AD6-805730C7D4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289DA68-791D-9290-F5CA-B983AFA772B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A5B15A-E02D-0B43-7DE9-A38C8BBA8D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E8E8A7-01B0-A5AB-4076-64AD19ADB4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015F529-7A08-3011-D07C-A51F2FCB4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D5D048A-F5F1-B288-6D2F-532B52ABA678}"/>
              </a:ext>
            </a:extLst>
          </p:cNvPr>
          <p:cNvCxnSpPr>
            <a:cxnSpLocks/>
          </p:cNvCxnSpPr>
          <p:nvPr/>
        </p:nvCxnSpPr>
        <p:spPr>
          <a:xfrm flipV="1">
            <a:off x="3923928" y="2564904"/>
            <a:ext cx="288032" cy="3600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9CC2B2CB-6200-0DE4-DCD1-5B4E7893FA94}"/>
              </a:ext>
            </a:extLst>
          </p:cNvPr>
          <p:cNvSpPr txBox="1"/>
          <p:nvPr/>
        </p:nvSpPr>
        <p:spPr>
          <a:xfrm>
            <a:off x="3095356" y="2924944"/>
            <a:ext cx="16926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möglichen Paare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64AF6A4-71AF-91D5-EF92-B1D057E594C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28237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1972-7E89-25CE-E7A9-28FEC1BD3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AAB4698-9184-E07B-4345-00E4F8553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Ergebnisse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13302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7E8F-2FB6-D8D6-E42B-5E01C96A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 err="1"/>
                  <a:t>SingleCF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ein einzelnes CF auf Proximität und Gültigkeit optimiert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RandomInitCF</a:t>
                </a:r>
                <a:r>
                  <a:rPr lang="de-DE" b="1" dirty="0"/>
                  <a:t> </a:t>
                </a:r>
                <a:r>
                  <a:rPr lang="de-DE" dirty="0"/>
                  <a:t>(erweitert </a:t>
                </a:r>
                <a:r>
                  <a:rPr lang="de-DE" dirty="0" err="1"/>
                  <a:t>SingleCF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Generiert nacheinander </a:t>
                </a:r>
                <a:r>
                  <a:rPr lang="de-DE" i="1" dirty="0"/>
                  <a:t>k</a:t>
                </a:r>
                <a:r>
                  <a:rPr lang="de-DE" dirty="0"/>
                  <a:t>-viele CFs mit zufälligen Startpunkten (auf Proximität und Gültigkeit optimiert)</a:t>
                </a:r>
              </a:p>
              <a:p>
                <a:pPr marL="0" indent="0">
                  <a:buNone/>
                </a:pPr>
                <a:endParaRPr lang="de-DE" b="1" dirty="0"/>
              </a:p>
              <a:p>
                <a:pPr marL="0" indent="0">
                  <a:buNone/>
                </a:pPr>
                <a:r>
                  <a:rPr lang="de-DE" b="1" dirty="0" err="1"/>
                  <a:t>NoDiversityCF</a:t>
                </a:r>
                <a:endParaRPr lang="de-DE" b="1" dirty="0"/>
              </a:p>
              <a:p>
                <a:pPr marL="0" indent="0">
                  <a:buNone/>
                </a:pPr>
                <a:r>
                  <a:rPr lang="de-DE" dirty="0"/>
                  <a:t>Generiert gleichzeitig </a:t>
                </a:r>
                <a:r>
                  <a:rPr lang="de-DE" i="1" dirty="0"/>
                  <a:t>k</a:t>
                </a:r>
                <a:r>
                  <a:rPr lang="de-DE" dirty="0"/>
                  <a:t>-viele CFs nach der DiCE-Methodik, aber ohne Diversität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04B0B55A-BC95-E90B-18CE-0612B1635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DCE522-FA78-E04C-529A-116A2323907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6D96DD-3F87-435C-ACF3-16753EFEE39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5F579C-F736-AE1F-F6E9-AC0EB144430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1F353C-DB47-EEF7-1706-BF623F05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AB311DA-A744-7453-DE05-587141D5DB1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269503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410F0-E011-5A62-9FFD-CAC12DE1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FD7982A-4DCB-DD53-4576-FC5E9A04821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75737C-D707-BF22-EA77-A6BB1C152A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C9F845-3A34-8281-27DA-2F0E3E5ABB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43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1DADA54-DCE8-1307-5045-6F91AA6C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F4D16089-2EA1-D43A-970D-7C288BD01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5387436"/>
            <a:ext cx="6228184" cy="340944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DF995FF0-1F07-D967-2EB5-4D16BAE0B3AE}"/>
              </a:ext>
            </a:extLst>
          </p:cNvPr>
          <p:cNvSpPr txBox="1"/>
          <p:nvPr/>
        </p:nvSpPr>
        <p:spPr>
          <a:xfrm>
            <a:off x="602182" y="1196985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Datensatz: Adult-Income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1D16B21-4221-57DB-2B7C-295EAE3805FC}"/>
              </a:ext>
            </a:extLst>
          </p:cNvPr>
          <p:cNvSpPr txBox="1"/>
          <p:nvPr/>
        </p:nvSpPr>
        <p:spPr>
          <a:xfrm>
            <a:off x="1583668" y="5028400"/>
            <a:ext cx="33843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Legende: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41E8A93-3DEA-0123-4205-C453E59C6E98}"/>
              </a:ext>
            </a:extLst>
          </p:cNvPr>
          <p:cNvSpPr/>
          <p:nvPr/>
        </p:nvSpPr>
        <p:spPr>
          <a:xfrm>
            <a:off x="1403648" y="5301287"/>
            <a:ext cx="244533" cy="720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37B850D3-7792-A036-4608-B64B86EE6A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400" y="1628800"/>
            <a:ext cx="8005199" cy="3315586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B4C98FD7-C559-CBEB-3204-DA1BAD5C85C9}"/>
              </a:ext>
            </a:extLst>
          </p:cNvPr>
          <p:cNvSpPr/>
          <p:nvPr/>
        </p:nvSpPr>
        <p:spPr>
          <a:xfrm>
            <a:off x="6084168" y="1700808"/>
            <a:ext cx="2376264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5C22227-0220-E154-C3C2-7275E2E9C2B2}"/>
              </a:ext>
            </a:extLst>
          </p:cNvPr>
          <p:cNvSpPr/>
          <p:nvPr/>
        </p:nvSpPr>
        <p:spPr>
          <a:xfrm>
            <a:off x="3275856" y="1563297"/>
            <a:ext cx="2520280" cy="32435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37CD635-A05F-931E-7F71-960DA9A60A9D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409126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E5D66-20EC-3924-B354-3DA68B652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701B3DA-CC0A-B29A-8C00-1F00197C31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1844824"/>
            <a:ext cx="8631343" cy="1872208"/>
          </a:xfrm>
        </p:spPr>
        <p:txBody>
          <a:bodyPr/>
          <a:lstStyle/>
          <a:p>
            <a:pPr algn="ctr"/>
            <a:r>
              <a:rPr lang="de-DE" sz="3600" dirty="0"/>
              <a:t>Anwendung in der Praxis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929850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1CF4A-E582-2237-538D-A30A19B3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65E459-F256-67AD-6F17-ED759EF6428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EDECEB-4D26-F4C1-2BD9-38FC66104E9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78EEF-9C33-58DD-E4A9-290B2305EE7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45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7598ECC-7CE6-0D58-8A66-248AFE233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6B2BD2E5-D375-4C1D-6356-DB8A028B705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498030249"/>
              </p:ext>
            </p:extLst>
          </p:nvPr>
        </p:nvGraphicFramePr>
        <p:xfrm>
          <a:off x="442062" y="1700486"/>
          <a:ext cx="8259876" cy="18389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7706FD0C-45F7-0EEA-6A06-16C4D79FC302}"/>
              </a:ext>
            </a:extLst>
          </p:cNvPr>
          <p:cNvSpPr txBox="1"/>
          <p:nvPr/>
        </p:nvSpPr>
        <p:spPr>
          <a:xfrm>
            <a:off x="410840" y="3982154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941D5C-9F98-3897-5844-CE60FA4C1C56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2CEF867-AC39-A02D-A77E-23ABF9FA8CF9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[4]</a:t>
            </a:r>
          </a:p>
        </p:txBody>
      </p:sp>
    </p:spTree>
    <p:extLst>
      <p:ext uri="{BB962C8B-B14F-4D97-AF65-F5344CB8AC3E}">
        <p14:creationId xmlns:p14="http://schemas.microsoft.com/office/powerpoint/2010/main" val="2337729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ABC3-3801-BDEB-CB4C-471DCF9D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6A1EEC5-BE51-8603-E2A5-31F7D14773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FABC93-D752-786C-208F-564060ADAC4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3A323-9B25-0CB9-CEBD-026D9724A4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46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1217B24-32BB-BC5F-2E87-69C30F418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AB41529-A73D-B497-9D92-09DCEF99D36E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5616624" cy="49770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endParaRPr lang="en-US" sz="12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1BC78EA4-9936-7AFD-89C3-0E71118885A2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F9E80067-A8CE-040A-A4C4-F0CFEC65BA33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5FC66C8-CE96-4F3E-4320-39A2A71D9291}"/>
              </a:ext>
            </a:extLst>
          </p:cNvPr>
          <p:cNvCxnSpPr>
            <a:cxnSpLocks/>
          </p:cNvCxnSpPr>
          <p:nvPr/>
        </p:nvCxnSpPr>
        <p:spPr>
          <a:xfrm flipV="1">
            <a:off x="2124076" y="1509457"/>
            <a:ext cx="791740" cy="6233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20090C7-5CD2-7CB0-B955-C052E197CAFC}"/>
              </a:ext>
            </a:extLst>
          </p:cNvPr>
          <p:cNvSpPr txBox="1"/>
          <p:nvPr/>
        </p:nvSpPr>
        <p:spPr>
          <a:xfrm>
            <a:off x="438723" y="2013513"/>
            <a:ext cx="26965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Data-Objekt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Kontinuierliche Features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Klassifikationsfeature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BE1DB3B-BFB0-4BBC-058C-38171E3C78D0}"/>
              </a:ext>
            </a:extLst>
          </p:cNvPr>
          <p:cNvSpPr txBox="1"/>
          <p:nvPr/>
        </p:nvSpPr>
        <p:spPr>
          <a:xfrm>
            <a:off x="2519946" y="3210809"/>
            <a:ext cx="31321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Model-Objekt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Pfad zum trainierten ML-Modell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Technische Voraussetzungen an das Datenformat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1EEDDF36-32CE-D06F-94C3-1857CFC4BA4F}"/>
              </a:ext>
            </a:extLst>
          </p:cNvPr>
          <p:cNvCxnSpPr>
            <a:cxnSpLocks/>
          </p:cNvCxnSpPr>
          <p:nvPr/>
        </p:nvCxnSpPr>
        <p:spPr>
          <a:xfrm flipV="1">
            <a:off x="3635896" y="1509457"/>
            <a:ext cx="72008" cy="17013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274A567-5718-C710-EA60-4F15DA9452A4}"/>
              </a:ext>
            </a:extLst>
          </p:cNvPr>
          <p:cNvSpPr txBox="1"/>
          <p:nvPr/>
        </p:nvSpPr>
        <p:spPr>
          <a:xfrm>
            <a:off x="5166621" y="2327639"/>
            <a:ext cx="31497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Methode zur Optimierung der Verlustfunktion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sz="1400" dirty="0">
                <a:latin typeface="Verdana" panose="020B0604030504040204" pitchFamily="34" charset="0"/>
                <a:ea typeface="Verdana" panose="020B0604030504040204" pitchFamily="34" charset="0"/>
              </a:rPr>
              <a:t>Gradientenabstiegsverfahren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9A3C3E1-A74B-5F6B-2CA9-B8F4794795A3}"/>
              </a:ext>
            </a:extLst>
          </p:cNvPr>
          <p:cNvCxnSpPr>
            <a:cxnSpLocks/>
          </p:cNvCxnSpPr>
          <p:nvPr/>
        </p:nvCxnSpPr>
        <p:spPr>
          <a:xfrm flipH="1" flipV="1">
            <a:off x="4860032" y="1509457"/>
            <a:ext cx="792088" cy="7762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7627DD96-18BC-8F73-7548-C21CD62C71C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[5]</a:t>
            </a:r>
          </a:p>
        </p:txBody>
      </p:sp>
    </p:spTree>
    <p:extLst>
      <p:ext uri="{BB962C8B-B14F-4D97-AF65-F5344CB8AC3E}">
        <p14:creationId xmlns:p14="http://schemas.microsoft.com/office/powerpoint/2010/main" val="507054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3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BF611-B4E1-6A46-0F30-866065E4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DAA8B1DA-A36D-FEF7-E8C8-28228D6C8A2A}"/>
              </a:ext>
            </a:extLst>
          </p:cNvPr>
          <p:cNvSpPr/>
          <p:nvPr/>
        </p:nvSpPr>
        <p:spPr>
          <a:xfrm>
            <a:off x="395536" y="1700808"/>
            <a:ext cx="7200800" cy="7200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E4D4C8-38C4-B2B1-3E4F-DDA905C7148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EF1E0CC-4EB6-1122-617E-A117CAFFBB7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A48137-0487-1CCE-D854-2A1BBE88F64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47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C7CAFD3-6E8F-BF10-E383-6F1F68B51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3CF67297-8D91-A1C1-4A9A-0EF183E4F14B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endParaRPr lang="en-US" sz="1400" dirty="0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DF3DB80-A699-7019-52F8-803AC497D83A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0A168EE7-C485-222B-4394-490700C6E7EE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B591D71-7A6F-A299-BBFB-F9AFE8560D93}"/>
              </a:ext>
            </a:extLst>
          </p:cNvPr>
          <p:cNvCxnSpPr>
            <a:cxnSpLocks/>
          </p:cNvCxnSpPr>
          <p:nvPr/>
        </p:nvCxnSpPr>
        <p:spPr>
          <a:xfrm flipV="1">
            <a:off x="5076056" y="1988840"/>
            <a:ext cx="0" cy="14704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7874EDE-05D7-8BC1-4D4A-E28D83436530}"/>
              </a:ext>
            </a:extLst>
          </p:cNvPr>
          <p:cNvCxnSpPr>
            <a:cxnSpLocks/>
          </p:cNvCxnSpPr>
          <p:nvPr/>
        </p:nvCxnSpPr>
        <p:spPr>
          <a:xfrm flipH="1" flipV="1">
            <a:off x="6876256" y="1967954"/>
            <a:ext cx="216024" cy="9681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711CF782-F293-8B9B-5D83-66ACE5D3709D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2367612" y="2421296"/>
            <a:ext cx="69056" cy="6722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A9881AD-086B-141D-237F-CA69366D0423}"/>
              </a:ext>
            </a:extLst>
          </p:cNvPr>
          <p:cNvSpPr txBox="1"/>
          <p:nvPr/>
        </p:nvSpPr>
        <p:spPr>
          <a:xfrm>
            <a:off x="3707904" y="3482424"/>
            <a:ext cx="24105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Auswahl einer Zeile des Datensatzes als ursprüngliche Eingabe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924338CE-2711-4361-A84D-CC73A6355730}"/>
              </a:ext>
            </a:extLst>
          </p:cNvPr>
          <p:cNvSpPr txBox="1"/>
          <p:nvPr/>
        </p:nvSpPr>
        <p:spPr>
          <a:xfrm>
            <a:off x="6166356" y="2924944"/>
            <a:ext cx="2798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Anzahl der zu generierenden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0C376828-5406-8791-DA78-D37893FD041A}"/>
              </a:ext>
            </a:extLst>
          </p:cNvPr>
          <p:cNvSpPr txBox="1"/>
          <p:nvPr/>
        </p:nvSpPr>
        <p:spPr>
          <a:xfrm>
            <a:off x="1737678" y="3093500"/>
            <a:ext cx="1397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Gewünschte Zielklasse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55F311AD-81FE-05C0-9F78-97B36F706C3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72412" y="1996052"/>
            <a:ext cx="1922473" cy="1804017"/>
          </a:xfrm>
          <a:prstGeom prst="bentConnector3">
            <a:avLst>
              <a:gd name="adj1" fmla="val 89636"/>
            </a:avLst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6AE3F98-2F7E-41B7-7BB0-6FF5850E82EC}"/>
              </a:ext>
            </a:extLst>
          </p:cNvPr>
          <p:cNvSpPr txBox="1"/>
          <p:nvPr/>
        </p:nvSpPr>
        <p:spPr>
          <a:xfrm>
            <a:off x="632650" y="3848490"/>
            <a:ext cx="1691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Generierung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A836031F-7DFA-D5B5-9446-5D65FF029B3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2487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  <p:bldP spid="4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9ADD2-AF67-2CBC-CB36-80D18B9A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AD5F97D5-B452-655D-D1B6-00A83A80EFF3}"/>
              </a:ext>
            </a:extLst>
          </p:cNvPr>
          <p:cNvSpPr/>
          <p:nvPr/>
        </p:nvSpPr>
        <p:spPr>
          <a:xfrm>
            <a:off x="401464" y="2559322"/>
            <a:ext cx="5610696" cy="31749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16BB5C06-A7D8-AE88-A33E-3BD8119DBF57}"/>
              </a:ext>
            </a:extLst>
          </p:cNvPr>
          <p:cNvSpPr txBox="1">
            <a:spLocks/>
          </p:cNvSpPr>
          <p:nvPr/>
        </p:nvSpPr>
        <p:spPr>
          <a:xfrm>
            <a:off x="395536" y="1059089"/>
            <a:ext cx="8748464" cy="1817731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pPr>
              <a:lnSpc>
                <a:spcPct val="200000"/>
              </a:lnSpc>
            </a:pPr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    	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pPr>
              <a:lnSpc>
                <a:spcPct val="200000"/>
              </a:lnSpc>
            </a:pPr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pPr>
              <a:lnSpc>
                <a:spcPct val="200000"/>
              </a:lnSpc>
            </a:pPr>
            <a:endParaRPr lang="en-US" sz="1400" dirty="0"/>
          </a:p>
          <a:p>
            <a:endParaRPr lang="en-US" sz="140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1C3CA1C-E282-4766-20E9-12817CCB33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730C734-DD1C-A15A-B26F-8C458DF52AE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339AC7-7C12-0157-D2FD-42FD4A734A8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48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C41CF6D-731C-050B-9AC6-89F2C8569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57151EEC-A4AC-A6D3-225B-7DF0FA862D60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84BEA69E-42E0-E514-0E92-A995F9C04C4F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1D5A8A-F1D9-4004-1574-D742B7F25E7C}"/>
              </a:ext>
            </a:extLst>
          </p:cNvPr>
          <p:cNvCxnSpPr>
            <a:cxnSpLocks/>
          </p:cNvCxnSpPr>
          <p:nvPr/>
        </p:nvCxnSpPr>
        <p:spPr>
          <a:xfrm flipH="1" flipV="1">
            <a:off x="5321735" y="2876820"/>
            <a:ext cx="114361" cy="678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EF38EC1-0758-E4D6-1819-69D599C3A51A}"/>
              </a:ext>
            </a:extLst>
          </p:cNvPr>
          <p:cNvSpPr txBox="1"/>
          <p:nvPr/>
        </p:nvSpPr>
        <p:spPr>
          <a:xfrm>
            <a:off x="4644008" y="3571690"/>
            <a:ext cx="2410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Zeige nur Feature-Änderungen an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275509-4214-D1BB-3F9C-F2F35AEC6349}"/>
              </a:ext>
            </a:extLst>
          </p:cNvPr>
          <p:cNvCxnSpPr>
            <a:cxnSpLocks/>
          </p:cNvCxnSpPr>
          <p:nvPr/>
        </p:nvCxnSpPr>
        <p:spPr>
          <a:xfrm flipV="1">
            <a:off x="2157276" y="2868438"/>
            <a:ext cx="173671" cy="8627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1A5C867-DF7A-EC30-27D4-CDDCCFC6B371}"/>
              </a:ext>
            </a:extLst>
          </p:cNvPr>
          <p:cNvSpPr txBox="1"/>
          <p:nvPr/>
        </p:nvSpPr>
        <p:spPr>
          <a:xfrm>
            <a:off x="949578" y="3735665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Tabellarische Darstellung der Counterfactuals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557F35F-1D2A-841A-3AE6-AE1EB988059C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918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348A5-1B7D-7EFB-F93C-E04676581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7FEAA5-6394-8A8F-F1E7-605780E36ED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CFF035-B688-66AF-92F2-211B1589118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45E6CE-6F8E-FA66-2525-B0679DF43B9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49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A433F84-EF57-7D77-2610-3B000FDE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257201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Generierung ohne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5649A6E7-5EB3-731E-DB56-6F09E0926680}"/>
              </a:ext>
            </a:extLst>
          </p:cNvPr>
          <p:cNvSpPr txBox="1">
            <a:spLocks/>
          </p:cNvSpPr>
          <p:nvPr/>
        </p:nvSpPr>
        <p:spPr>
          <a:xfrm>
            <a:off x="395536" y="1059090"/>
            <a:ext cx="7272808" cy="14580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dice_obj</a:t>
            </a:r>
            <a:r>
              <a:rPr lang="en-US" sz="1400" dirty="0"/>
              <a:t> = </a:t>
            </a:r>
            <a:r>
              <a:rPr lang="en-US" sz="1400" dirty="0" err="1"/>
              <a:t>dice_ml.Dice</a:t>
            </a:r>
            <a:r>
              <a:rPr lang="en-US" sz="1400" dirty="0"/>
              <a:t>(data, model, method="gradient")</a:t>
            </a:r>
            <a:endParaRPr lang="de-DE" sz="1400" dirty="0"/>
          </a:p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dice_obj.generate_counterfactuals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 	  </a:t>
            </a:r>
            <a:r>
              <a:rPr lang="en-US" sz="1400" dirty="0" err="1"/>
              <a:t>desired_class</a:t>
            </a:r>
            <a:r>
              <a:rPr lang="en-US" sz="1400" dirty="0"/>
              <a:t>="opposite")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2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38F29AB2-A2E5-F3E5-8F45-CD6D3B568F98}"/>
              </a:ext>
            </a:extLst>
          </p:cNvPr>
          <p:cNvGraphicFramePr>
            <a:graphicFrameLocks/>
          </p:cNvGraphicFramePr>
          <p:nvPr/>
        </p:nvGraphicFramePr>
        <p:xfrm>
          <a:off x="395536" y="2780928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status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D063312C-C473-AE7E-7893-650DBAA13DC0}"/>
              </a:ext>
            </a:extLst>
          </p:cNvPr>
          <p:cNvGraphicFramePr>
            <a:graphicFrameLocks/>
          </p:cNvGraphicFramePr>
          <p:nvPr/>
        </p:nvGraphicFramePr>
        <p:xfrm>
          <a:off x="395536" y="4132791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8" name="Rechteck 17">
            <a:extLst>
              <a:ext uri="{FF2B5EF4-FFF2-40B4-BE49-F238E27FC236}">
                <a16:creationId xmlns:a16="http://schemas.microsoft.com/office/drawing/2014/main" id="{2FF3E0A5-0FF9-BEFD-A926-230C920AAFE5}"/>
              </a:ext>
            </a:extLst>
          </p:cNvPr>
          <p:cNvSpPr/>
          <p:nvPr/>
        </p:nvSpPr>
        <p:spPr>
          <a:xfrm>
            <a:off x="395536" y="4818340"/>
            <a:ext cx="576064" cy="338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EB5115-1E19-4006-5F20-356B6187DF56}"/>
              </a:ext>
            </a:extLst>
          </p:cNvPr>
          <p:cNvSpPr/>
          <p:nvPr/>
        </p:nvSpPr>
        <p:spPr>
          <a:xfrm>
            <a:off x="6660232" y="4132791"/>
            <a:ext cx="864096" cy="13711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0B096517-5FA1-53DC-BA94-2E245FCD58F4}"/>
              </a:ext>
            </a:extLst>
          </p:cNvPr>
          <p:cNvSpPr txBox="1"/>
          <p:nvPr/>
        </p:nvSpPr>
        <p:spPr>
          <a:xfrm>
            <a:off x="395536" y="5661248"/>
            <a:ext cx="8208912" cy="738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Änderung des Alters oder extreme Arbeitszeiten nicht machbar</a:t>
            </a:r>
          </a:p>
          <a:p>
            <a:pPr marL="742950" lvl="1" indent="-285750">
              <a:lnSpc>
                <a:spcPct val="150000"/>
              </a:lnSpc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Manuelle Beschränkung der Feature-Änderungen durch Anwender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46E879F-C2E8-D89B-30CC-85DBDBD04F71}"/>
              </a:ext>
            </a:extLst>
          </p:cNvPr>
          <p:cNvSpPr txBox="1">
            <a:spLocks/>
          </p:cNvSpPr>
          <p:nvPr/>
        </p:nvSpPr>
        <p:spPr>
          <a:xfrm>
            <a:off x="226136" y="1509457"/>
            <a:ext cx="3121728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12" name="Inhaltsplatzhalter 5">
            <a:extLst>
              <a:ext uri="{FF2B5EF4-FFF2-40B4-BE49-F238E27FC236}">
                <a16:creationId xmlns:a16="http://schemas.microsoft.com/office/drawing/2014/main" id="{29638F1E-8539-32FC-4ECA-4F5C59D8D382}"/>
              </a:ext>
            </a:extLst>
          </p:cNvPr>
          <p:cNvSpPr txBox="1">
            <a:spLocks/>
          </p:cNvSpPr>
          <p:nvPr/>
        </p:nvSpPr>
        <p:spPr>
          <a:xfrm>
            <a:off x="259014" y="2285710"/>
            <a:ext cx="3736922" cy="407375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e-DE" sz="1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5691EE1-FF09-76D2-3884-2CEEB7D4C5C1}"/>
              </a:ext>
            </a:extLst>
          </p:cNvPr>
          <p:cNvSpPr txBox="1"/>
          <p:nvPr/>
        </p:nvSpPr>
        <p:spPr>
          <a:xfrm>
            <a:off x="7741780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59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FEB-958B-8274-4945-AAC509C6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22BD9C07-FA66-AE50-1FC6-4A52CDF4F60F}"/>
              </a:ext>
            </a:extLst>
          </p:cNvPr>
          <p:cNvSpPr/>
          <p:nvPr/>
        </p:nvSpPr>
        <p:spPr>
          <a:xfrm>
            <a:off x="1547664" y="1188372"/>
            <a:ext cx="280947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7C773B-0A21-2328-198B-7B61F6F1625D}"/>
              </a:ext>
            </a:extLst>
          </p:cNvPr>
          <p:cNvSpPr/>
          <p:nvPr/>
        </p:nvSpPr>
        <p:spPr>
          <a:xfrm>
            <a:off x="1331640" y="1484784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5508A48-345B-21C3-930F-FD7AC9E051ED}"/>
              </a:ext>
            </a:extLst>
          </p:cNvPr>
          <p:cNvSpPr/>
          <p:nvPr/>
        </p:nvSpPr>
        <p:spPr>
          <a:xfrm>
            <a:off x="4355976" y="1188372"/>
            <a:ext cx="2592288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39C4728-DC39-675A-36FC-7F99964D830C}"/>
              </a:ext>
            </a:extLst>
          </p:cNvPr>
          <p:cNvSpPr/>
          <p:nvPr/>
        </p:nvSpPr>
        <p:spPr>
          <a:xfrm>
            <a:off x="1331640" y="2160456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99504215-7B21-4DFA-094A-B5FD824FD3A9}"/>
              </a:ext>
            </a:extLst>
          </p:cNvPr>
          <p:cNvSpPr/>
          <p:nvPr/>
        </p:nvSpPr>
        <p:spPr>
          <a:xfrm>
            <a:off x="3909776" y="1484784"/>
            <a:ext cx="4834841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F18953C-3897-334A-55E4-8F96B5F05EF6}"/>
              </a:ext>
            </a:extLst>
          </p:cNvPr>
          <p:cNvSpPr/>
          <p:nvPr/>
        </p:nvSpPr>
        <p:spPr>
          <a:xfrm>
            <a:off x="1331641" y="1822620"/>
            <a:ext cx="4608512" cy="2964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6ED3AA90-785B-ACC3-7F6C-7E125AE2245B}"/>
              </a:ext>
            </a:extLst>
          </p:cNvPr>
          <p:cNvSpPr txBox="1">
            <a:spLocks/>
          </p:cNvSpPr>
          <p:nvPr/>
        </p:nvSpPr>
        <p:spPr>
          <a:xfrm>
            <a:off x="399382" y="1124744"/>
            <a:ext cx="8424936" cy="1512168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9C2E5C3-2713-3BDB-95D6-C0D3EA75A41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526831-A5F3-8EBD-C978-A60FF0F9F9F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705DB3-6316-E885-148A-A500231F194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7654EE6B-7EA5-7757-F04A-8424EE244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DF8D49E-FE11-F199-2C64-A9FAA6D66D58}"/>
              </a:ext>
            </a:extLst>
          </p:cNvPr>
          <p:cNvCxnSpPr>
            <a:cxnSpLocks/>
          </p:cNvCxnSpPr>
          <p:nvPr/>
        </p:nvCxnSpPr>
        <p:spPr>
          <a:xfrm flipH="1" flipV="1">
            <a:off x="5917778" y="1913451"/>
            <a:ext cx="432048" cy="100451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3C15FCDB-4E58-0D8B-8AF2-60B2534C6666}"/>
              </a:ext>
            </a:extLst>
          </p:cNvPr>
          <p:cNvSpPr txBox="1"/>
          <p:nvPr/>
        </p:nvSpPr>
        <p:spPr>
          <a:xfrm>
            <a:off x="5292080" y="2930964"/>
            <a:ext cx="25890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Veränderbare Features werden explizit angegeben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62C64D3-5C1B-063F-3FA4-DE207FE5D52B}"/>
              </a:ext>
            </a:extLst>
          </p:cNvPr>
          <p:cNvCxnSpPr>
            <a:cxnSpLocks/>
          </p:cNvCxnSpPr>
          <p:nvPr/>
        </p:nvCxnSpPr>
        <p:spPr>
          <a:xfrm flipV="1">
            <a:off x="2843808" y="2456868"/>
            <a:ext cx="154141" cy="82811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0368EC0-056C-5C48-BA32-0B7E487287A6}"/>
              </a:ext>
            </a:extLst>
          </p:cNvPr>
          <p:cNvSpPr txBox="1"/>
          <p:nvPr/>
        </p:nvSpPr>
        <p:spPr>
          <a:xfrm>
            <a:off x="1662744" y="3254933"/>
            <a:ext cx="29491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400" dirty="0">
                <a:solidFill>
                  <a:srgbClr val="115E67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Wertebereichs von kontinuierlichen Features können eingeschränkt werden</a:t>
            </a:r>
            <a:endParaRPr lang="de-DE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52C204C-666E-40FE-D548-9181EE362DE5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9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9" grpId="0" animBg="1"/>
      <p:bldP spid="18" grpId="0" animBg="1"/>
      <p:bldP spid="41" grpId="0" animBg="1"/>
      <p:bldP spid="42" grpId="0" animBg="1"/>
      <p:bldP spid="42" grpId="1" animBg="1"/>
      <p:bldP spid="43" grpId="0" animBg="1"/>
      <p:bldP spid="43" grpId="1" animBg="1"/>
      <p:bldP spid="46" grpId="0"/>
      <p:bldP spid="4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0AF01-E0CA-1B4C-2265-38D2A60A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E32AA5-B83F-AFE4-2CBA-B94B7FD56E0C}"/>
              </a:ext>
            </a:extLst>
          </p:cNvPr>
          <p:cNvSpPr/>
          <p:nvPr/>
        </p:nvSpPr>
        <p:spPr>
          <a:xfrm>
            <a:off x="395537" y="2492896"/>
            <a:ext cx="5616623" cy="3600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D24BD0C-6984-38F2-4E43-C0B3BDBBC5B8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CC493F4-7EC4-96EA-4DE7-5BBBAC8F3D5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CFD333-11F6-2C1A-55AA-57BD038C636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F39739-DEEF-DDA3-C7A0-75C625D18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8FFF8EF8-AB35-6B06-14D8-215FF65A6018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noFill/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5AABEF-CD84-0883-CA97-A4FFFACA4E2A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46449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3DA58-2536-8717-9F6E-D1ECA221B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A7D99FE-4C8A-F748-619B-49F6CB36BCD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6A88244-E62B-DFAE-FB20-4E9962709E6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69FCC-D135-C462-7E71-9742CDEE3A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636557E-E68C-B7E4-9A2F-C45EACA3C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Generierung mit Beschränkungen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03A45F15-8103-497D-5102-372AB6B4E499}"/>
              </a:ext>
            </a:extLst>
          </p:cNvPr>
          <p:cNvSpPr txBox="1">
            <a:spLocks/>
          </p:cNvSpPr>
          <p:nvPr/>
        </p:nvSpPr>
        <p:spPr>
          <a:xfrm>
            <a:off x="395537" y="1124744"/>
            <a:ext cx="8424936" cy="1728192"/>
          </a:xfrm>
          <a:prstGeom prst="rect">
            <a:avLst/>
          </a:prstGeom>
          <a:solidFill>
            <a:schemeClr val="bg2">
              <a:lumMod val="95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/>
              <a:t>dice_exp</a:t>
            </a:r>
            <a:r>
              <a:rPr lang="en-US" sz="1400" dirty="0"/>
              <a:t> = </a:t>
            </a:r>
            <a:r>
              <a:rPr lang="en-US" sz="1400" dirty="0" err="1"/>
              <a:t>exp.generate_counterfactuals</a:t>
            </a:r>
            <a:r>
              <a:rPr lang="en-US" sz="1400" dirty="0"/>
              <a:t>(</a:t>
            </a:r>
            <a:r>
              <a:rPr lang="en-US" sz="1400" dirty="0" err="1"/>
              <a:t>x_test</a:t>
            </a:r>
            <a:r>
              <a:rPr lang="en-US" sz="1400" dirty="0"/>
              <a:t>[8:9], </a:t>
            </a:r>
            <a:r>
              <a:rPr lang="en-US" sz="1400" dirty="0" err="1"/>
              <a:t>total_CFs</a:t>
            </a:r>
            <a:r>
              <a:rPr lang="en-US" sz="1400" dirty="0"/>
              <a:t>=4, 	</a:t>
            </a:r>
            <a:r>
              <a:rPr lang="en-US" sz="1400" dirty="0" err="1"/>
              <a:t>desired_class</a:t>
            </a:r>
            <a:r>
              <a:rPr lang="en-US" sz="1400" dirty="0"/>
              <a:t>="opposite", </a:t>
            </a:r>
            <a:r>
              <a:rPr lang="en-US" sz="1400" dirty="0" err="1"/>
              <a:t>features_to_vary</a:t>
            </a:r>
            <a:r>
              <a:rPr lang="en-US" sz="1400" dirty="0"/>
              <a:t>=['</a:t>
            </a:r>
            <a:r>
              <a:rPr lang="en-US" sz="1400" dirty="0" err="1"/>
              <a:t>workclass</a:t>
            </a:r>
            <a:r>
              <a:rPr lang="en-US" sz="1400" dirty="0"/>
              <a:t>', '</a:t>
            </a:r>
            <a:r>
              <a:rPr lang="en-US" sz="1400" dirty="0" err="1"/>
              <a:t>hours_per_week</a:t>
            </a:r>
            <a:r>
              <a:rPr lang="en-US" sz="1400" dirty="0"/>
              <a:t>’, 	'education', 'occupation’, '</a:t>
            </a:r>
            <a:r>
              <a:rPr lang="en-US" sz="1400" dirty="0" err="1"/>
              <a:t>marital_status</a:t>
            </a:r>
            <a:r>
              <a:rPr lang="en-US" sz="1400" dirty="0"/>
              <a:t>’], 	</a:t>
            </a:r>
            <a:r>
              <a:rPr lang="en-US" sz="1400" dirty="0" err="1"/>
              <a:t>permitted_range</a:t>
            </a:r>
            <a:r>
              <a:rPr lang="en-US" sz="1400" dirty="0"/>
              <a:t>={'</a:t>
            </a:r>
            <a:r>
              <a:rPr lang="en-US" sz="1400" dirty="0" err="1"/>
              <a:t>hours_per_week</a:t>
            </a:r>
            <a:r>
              <a:rPr lang="en-US" sz="1400" dirty="0"/>
              <a:t>': [10, 50]})</a:t>
            </a:r>
          </a:p>
          <a:p>
            <a:r>
              <a:rPr lang="en-US" sz="1400" dirty="0" err="1"/>
              <a:t>dice_exp.visualize_as_dataframe</a:t>
            </a:r>
            <a:r>
              <a:rPr lang="en-US" sz="1400" dirty="0"/>
              <a:t>(</a:t>
            </a:r>
            <a:r>
              <a:rPr lang="en-US" sz="1400" dirty="0" err="1"/>
              <a:t>show_only_changes</a:t>
            </a:r>
            <a:r>
              <a:rPr lang="en-US" sz="1400" dirty="0"/>
              <a:t>=True)</a:t>
            </a:r>
          </a:p>
          <a:p>
            <a:endParaRPr lang="en-US" sz="1400" dirty="0"/>
          </a:p>
        </p:txBody>
      </p:sp>
      <p:graphicFrame>
        <p:nvGraphicFramePr>
          <p:cNvPr id="15" name="Inhaltsplatzhalter 9">
            <a:extLst>
              <a:ext uri="{FF2B5EF4-FFF2-40B4-BE49-F238E27FC236}">
                <a16:creationId xmlns:a16="http://schemas.microsoft.com/office/drawing/2014/main" id="{A49194EE-61CB-440F-C050-2F0C872DBB38}"/>
              </a:ext>
            </a:extLst>
          </p:cNvPr>
          <p:cNvGraphicFramePr>
            <a:graphicFrameLocks/>
          </p:cNvGraphicFramePr>
          <p:nvPr/>
        </p:nvGraphicFramePr>
        <p:xfrm>
          <a:off x="395536" y="3195816"/>
          <a:ext cx="8259876" cy="1097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627217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239174">
                <a:tc>
                  <a:txBody>
                    <a:bodyPr/>
                    <a:lstStyle/>
                    <a:p>
                      <a:r>
                        <a:rPr lang="de-DE" sz="1200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Goverment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</a:tbl>
          </a:graphicData>
        </a:graphic>
      </p:graphicFrame>
      <p:graphicFrame>
        <p:nvGraphicFramePr>
          <p:cNvPr id="16" name="Inhaltsplatzhalter 9">
            <a:extLst>
              <a:ext uri="{FF2B5EF4-FFF2-40B4-BE49-F238E27FC236}">
                <a16:creationId xmlns:a16="http://schemas.microsoft.com/office/drawing/2014/main" id="{07EC4876-48A4-BD60-C01C-7BFD9A5F20D2}"/>
              </a:ext>
            </a:extLst>
          </p:cNvPr>
          <p:cNvGraphicFramePr>
            <a:graphicFrameLocks/>
          </p:cNvGraphicFramePr>
          <p:nvPr/>
        </p:nvGraphicFramePr>
        <p:xfrm>
          <a:off x="395536" y="4506172"/>
          <a:ext cx="8259876" cy="13711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420329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Prof-school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361551"/>
                  </a:ext>
                </a:extLst>
              </a:tr>
              <a:tr h="342775"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Doctorate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72918"/>
                  </a:ext>
                </a:extLst>
              </a:tr>
            </a:tbl>
          </a:graphicData>
        </a:graphic>
      </p:graphicFrame>
      <p:sp>
        <p:nvSpPr>
          <p:cNvPr id="12" name="Textfeld 11">
            <a:extLst>
              <a:ext uri="{FF2B5EF4-FFF2-40B4-BE49-F238E27FC236}">
                <a16:creationId xmlns:a16="http://schemas.microsoft.com/office/drawing/2014/main" id="{B01AAC05-49DA-3C84-9304-E250B2CA078C}"/>
              </a:ext>
            </a:extLst>
          </p:cNvPr>
          <p:cNvSpPr txBox="1"/>
          <p:nvPr/>
        </p:nvSpPr>
        <p:spPr>
          <a:xfrm>
            <a:off x="395536" y="5933481"/>
            <a:ext cx="82089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Clr>
                <a:srgbClr val="115E67"/>
              </a:buClr>
              <a:buFont typeface="Wingdings" panose="05000000000000000000" pitchFamily="2" charset="2"/>
              <a:buChar char="Ø"/>
            </a:pPr>
            <a:r>
              <a:rPr lang="de-DE" sz="1500" dirty="0">
                <a:latin typeface="Verdana" panose="020B0604030504040204" pitchFamily="34" charset="0"/>
                <a:ea typeface="Verdana" panose="020B0604030504040204" pitchFamily="34" charset="0"/>
              </a:rPr>
              <a:t>Bias im Datensatz: Hohes Einkommen setzt Heirat für Frauen voraus!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B17D717-CEFE-122E-7BA1-E8F7FE8377CB}"/>
              </a:ext>
            </a:extLst>
          </p:cNvPr>
          <p:cNvSpPr/>
          <p:nvPr/>
        </p:nvSpPr>
        <p:spPr>
          <a:xfrm>
            <a:off x="3131840" y="4526874"/>
            <a:ext cx="864096" cy="13503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6BD0246-2254-E599-6F80-D6B870B34097}"/>
              </a:ext>
            </a:extLst>
          </p:cNvPr>
          <p:cNvSpPr txBox="1"/>
          <p:nvPr/>
        </p:nvSpPr>
        <p:spPr>
          <a:xfrm>
            <a:off x="7956376" y="5951848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: [</a:t>
            </a:r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de-DE" sz="1200">
                <a:latin typeface="Verdana" panose="020B0604030504040204" pitchFamily="34" charset="0"/>
                <a:ea typeface="Verdana" panose="020B0604030504040204" pitchFamily="34" charset="0"/>
              </a:rPr>
              <a:t>]</a:t>
            </a:r>
            <a:endParaRPr lang="de-DE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70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59D4C-D56B-1EE7-38EA-C49CEC48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6C95AE-52A5-F1BB-29AA-750808BAEF00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2E5DF7-499C-E47F-2599-F60298AF999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78608E-EFE8-875F-D1F8-9D8AD305872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53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273BCCC-B159-BDB0-1BE2-8069AE2E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B28C01A-D527-7EB9-E9C1-36EF4489032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1A059E44-EEAA-60CD-3537-5CFD7029E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123111"/>
              </p:ext>
            </p:extLst>
          </p:nvPr>
        </p:nvGraphicFramePr>
        <p:xfrm>
          <a:off x="1367644" y="1724176"/>
          <a:ext cx="6408711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D3A30DF-39EE-AA1C-3122-69B3D3D3BF5E}"/>
              </a:ext>
            </a:extLst>
          </p:cNvPr>
          <p:cNvSpPr txBox="1">
            <a:spLocks/>
          </p:cNvSpPr>
          <p:nvPr/>
        </p:nvSpPr>
        <p:spPr>
          <a:xfrm>
            <a:off x="259014" y="3501008"/>
            <a:ext cx="8705474" cy="2808312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werden in Metriken </a:t>
            </a:r>
            <a:r>
              <a:rPr lang="de-DE" b="1" dirty="0"/>
              <a:t>nicht </a:t>
            </a:r>
            <a:r>
              <a:rPr lang="de-DE" dirty="0"/>
              <a:t>berücksichtigt!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Nur eingeschränkte Aussagekraft über Machbarkeit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26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822A8-33CA-7FBC-FAFC-4C72AD8D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9FBE108-B00D-82AE-3489-F607561E20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Fazit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4523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5BB8-E36A-EB69-1B66-79F69A402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15569C1-50B9-3585-96AD-6E756EA5032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Grenzen von DiCE</a:t>
            </a:r>
          </a:p>
          <a:p>
            <a:r>
              <a:rPr lang="de-DE" dirty="0"/>
              <a:t>Abwägung zwischen Proximität und Diversität</a:t>
            </a:r>
          </a:p>
          <a:p>
            <a:r>
              <a:rPr lang="de-DE" dirty="0"/>
              <a:t>Machbarkeit setzt Vorarbeit durch Anwender voraus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Kritisch für Akzeptanz im praktischen Einsatz </a:t>
            </a:r>
          </a:p>
          <a:p>
            <a:r>
              <a:rPr lang="de-DE" dirty="0"/>
              <a:t>Kognitive Überlastung durch viele Counterfactuals</a:t>
            </a:r>
          </a:p>
          <a:p>
            <a:r>
              <a:rPr lang="de-DE" dirty="0"/>
              <a:t>Nur binäre Klassifikation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Vorteile von DiCE</a:t>
            </a:r>
          </a:p>
          <a:p>
            <a:r>
              <a:rPr lang="de-DE" dirty="0"/>
              <a:t>Mehrere vielseitige Erklärungen</a:t>
            </a:r>
            <a:endParaRPr lang="de-DE" dirty="0">
              <a:solidFill>
                <a:srgbClr val="115E67"/>
              </a:solidFill>
            </a:endParaRPr>
          </a:p>
          <a:p>
            <a:r>
              <a:rPr lang="de-DE" dirty="0"/>
              <a:t>Leicht verständliche Erklärungen durch „Was-wäre-wenn“-Szenarien</a:t>
            </a:r>
          </a:p>
          <a:p>
            <a:r>
              <a:rPr lang="de-DE" dirty="0"/>
              <a:t>Individualisierte Handlungsmöglichkeiten durch Beschränkungen der Features</a:t>
            </a:r>
          </a:p>
          <a:p>
            <a:pPr marL="342900" lvl="1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342900" lvl="1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2350F74-8D65-ED72-BBEB-082B7C98F21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27.01.2026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FB61B2-79D9-35F0-762F-EF7C2D08D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6B65C6-AE1F-6EA5-EAAF-30FBC74426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4DAB1A5-4ED6-5622-99AC-12FF86B0A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Fazit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02695D7-58DC-96E7-5F6B-9D6275A2D5D3}"/>
              </a:ext>
            </a:extLst>
          </p:cNvPr>
          <p:cNvSpPr txBox="1"/>
          <p:nvPr/>
        </p:nvSpPr>
        <p:spPr>
          <a:xfrm>
            <a:off x="7479234" y="5949280"/>
            <a:ext cx="1115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Quelle: [3]</a:t>
            </a:r>
          </a:p>
        </p:txBody>
      </p:sp>
    </p:spTree>
    <p:extLst>
      <p:ext uri="{BB962C8B-B14F-4D97-AF65-F5344CB8AC3E}">
        <p14:creationId xmlns:p14="http://schemas.microsoft.com/office/powerpoint/2010/main" val="57527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B0873-28A8-BA6F-9615-864EE2AC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593FE5-1117-8032-E7D1-C516EED2D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9" y="2060848"/>
            <a:ext cx="8631343" cy="1656184"/>
          </a:xfrm>
        </p:spPr>
        <p:txBody>
          <a:bodyPr/>
          <a:lstStyle/>
          <a:p>
            <a:pPr algn="ctr"/>
            <a:r>
              <a:rPr lang="de-DE" sz="3600" dirty="0"/>
              <a:t>Quellen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456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FE30-644F-2CDE-0BEB-8EC0007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F37573-9E3D-D704-F4D5-1ABD71620A0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200" dirty="0"/>
              <a:t>[1] </a:t>
            </a:r>
            <a:r>
              <a:rPr lang="de-DE" sz="1200" dirty="0">
                <a:hlinkClick r:id="rId2"/>
              </a:rPr>
              <a:t>https://www.tagesschau.de/ausland/europa/albanien-ki-ministerin-100.html</a:t>
            </a:r>
            <a:r>
              <a:rPr lang="de-DE" sz="1200" dirty="0"/>
              <a:t>, besucht am 23.12.25.</a:t>
            </a:r>
          </a:p>
          <a:p>
            <a:pPr marL="0" indent="0">
              <a:buNone/>
            </a:pPr>
            <a:r>
              <a:rPr lang="de-DE" sz="1200" dirty="0"/>
              <a:t>[2]</a:t>
            </a:r>
            <a:r>
              <a:rPr lang="de-DE" sz="1200" b="1" dirty="0"/>
              <a:t> </a:t>
            </a:r>
            <a:r>
              <a:rPr lang="de-DE" sz="1200" dirty="0" err="1"/>
              <a:t>Barredo</a:t>
            </a:r>
            <a:r>
              <a:rPr lang="de-DE" sz="1200" dirty="0"/>
              <a:t> Arrieta, et al.: </a:t>
            </a:r>
            <a:r>
              <a:rPr lang="de-DE" sz="1200" dirty="0" err="1"/>
              <a:t>Explainable</a:t>
            </a:r>
            <a:r>
              <a:rPr lang="de-DE" sz="1200" dirty="0"/>
              <a:t> </a:t>
            </a:r>
            <a:r>
              <a:rPr lang="de-DE" sz="1200" dirty="0" err="1"/>
              <a:t>Artificial</a:t>
            </a:r>
            <a:r>
              <a:rPr lang="de-DE" sz="1200" dirty="0"/>
              <a:t> </a:t>
            </a:r>
            <a:r>
              <a:rPr lang="de-DE" sz="1200" dirty="0" err="1"/>
              <a:t>Intelligence</a:t>
            </a:r>
            <a:r>
              <a:rPr lang="de-DE" sz="1200" dirty="0"/>
              <a:t> (XAI): </a:t>
            </a:r>
            <a:r>
              <a:rPr lang="de-DE" sz="1200" dirty="0" err="1"/>
              <a:t>Concepts</a:t>
            </a:r>
            <a:r>
              <a:rPr lang="de-DE" sz="1200" dirty="0"/>
              <a:t>, </a:t>
            </a:r>
            <a:r>
              <a:rPr lang="de-DE" sz="1200" dirty="0" err="1"/>
              <a:t>taxonomies</a:t>
            </a:r>
            <a:r>
              <a:rPr lang="de-DE" sz="1200" dirty="0"/>
              <a:t>, </a:t>
            </a:r>
            <a:r>
              <a:rPr lang="de-DE" sz="1200" dirty="0" err="1"/>
              <a:t>opportunities</a:t>
            </a:r>
            <a:r>
              <a:rPr lang="de-DE" sz="1200" dirty="0"/>
              <a:t> and </a:t>
            </a:r>
            <a:r>
              <a:rPr lang="de-DE" sz="1200" dirty="0" err="1"/>
              <a:t>challenges</a:t>
            </a:r>
            <a:r>
              <a:rPr lang="de-DE" sz="1200" dirty="0"/>
              <a:t> </a:t>
            </a:r>
            <a:r>
              <a:rPr lang="de-DE" sz="1200" dirty="0" err="1"/>
              <a:t>toward</a:t>
            </a:r>
            <a:r>
              <a:rPr lang="de-DE" sz="1200" dirty="0"/>
              <a:t> </a:t>
            </a:r>
            <a:r>
              <a:rPr lang="de-DE" sz="1200" dirty="0" err="1"/>
              <a:t>responsible</a:t>
            </a:r>
            <a:r>
              <a:rPr lang="de-DE" sz="1200" dirty="0"/>
              <a:t> AI. Information Fusion, (2019), 58, 82–115.</a:t>
            </a:r>
          </a:p>
          <a:p>
            <a:pPr marL="0" indent="0">
              <a:buNone/>
            </a:pPr>
            <a:r>
              <a:rPr lang="de-DE" sz="1200" dirty="0"/>
              <a:t>[3] </a:t>
            </a:r>
            <a:r>
              <a:rPr lang="de-DE" sz="1200" dirty="0" err="1"/>
              <a:t>Mothilal</a:t>
            </a:r>
            <a:r>
              <a:rPr lang="de-DE" sz="1200" dirty="0"/>
              <a:t>, </a:t>
            </a:r>
            <a:r>
              <a:rPr lang="de-DE" sz="1200" dirty="0" err="1"/>
              <a:t>Ramaravind</a:t>
            </a:r>
            <a:r>
              <a:rPr lang="de-DE" sz="1200" dirty="0"/>
              <a:t> K, Amit Sharma, </a:t>
            </a:r>
            <a:r>
              <a:rPr lang="de-DE" sz="1200" dirty="0" err="1"/>
              <a:t>Chenhao</a:t>
            </a:r>
            <a:r>
              <a:rPr lang="de-DE" sz="1200" dirty="0"/>
              <a:t> Tan: </a:t>
            </a:r>
            <a:r>
              <a:rPr lang="en-US" sz="1200" dirty="0"/>
              <a:t>Explaining machine learning classifiers through diverse counterfactual explanations. In: Proceedings of the 2020 Conference on Fairness, Accountability, and Transparency (2020), 607-617.</a:t>
            </a:r>
            <a:endParaRPr lang="de-DE" sz="1200" dirty="0"/>
          </a:p>
          <a:p>
            <a:pPr marL="0" indent="0">
              <a:buNone/>
            </a:pPr>
            <a:r>
              <a:rPr lang="de-DE" sz="1200" dirty="0"/>
              <a:t>[4] https://medium.com/@amitbalharakr93/activation-functions-loss-functions-and-optimizer-a5da4571e401, besucht am 24.01.26.</a:t>
            </a:r>
          </a:p>
          <a:p>
            <a:pPr marL="0" indent="0">
              <a:buNone/>
            </a:pPr>
            <a:r>
              <a:rPr lang="de-DE" sz="1200" dirty="0"/>
              <a:t>[5] </a:t>
            </a:r>
            <a:r>
              <a:rPr lang="de-DE" sz="1200" dirty="0">
                <a:hlinkClick r:id="rId3"/>
              </a:rPr>
              <a:t>https://archive.ics.uci.edu/dataset/2/adult</a:t>
            </a:r>
            <a:r>
              <a:rPr lang="de-DE" sz="1200" dirty="0"/>
              <a:t>, besucht am 26.01.26.</a:t>
            </a:r>
          </a:p>
          <a:p>
            <a:pPr marL="0" indent="0">
              <a:buNone/>
            </a:pPr>
            <a:r>
              <a:rPr lang="de-DE" sz="1200" dirty="0"/>
              <a:t>[6] </a:t>
            </a:r>
            <a:r>
              <a:rPr lang="de-DE" sz="1200" dirty="0">
                <a:hlinkClick r:id="rId4"/>
              </a:rPr>
              <a:t>https://github.com/interpretml/DiCE</a:t>
            </a:r>
            <a:r>
              <a:rPr lang="de-DE" sz="1200" dirty="0"/>
              <a:t>, besucht am 26.01.26.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18E15F-F4C4-682D-D8D9-64C44013FBA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F800F-7D77-80D3-02D4-BE0BF75531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C54FF-C4A7-0685-42B6-A8D4C5EA0CE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57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1D5BBAD-F7ED-4838-C3D0-99CB4FAE4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Quellen</a:t>
            </a:r>
          </a:p>
        </p:txBody>
      </p:sp>
    </p:spTree>
    <p:extLst>
      <p:ext uri="{BB962C8B-B14F-4D97-AF65-F5344CB8AC3E}">
        <p14:creationId xmlns:p14="http://schemas.microsoft.com/office/powerpoint/2010/main" val="499653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2CBFD-D633-1845-E30D-DEF94008F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63C75-198A-EB25-2113-5811837983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Vielen Dank für </a:t>
            </a:r>
          </a:p>
          <a:p>
            <a:pPr algn="ctr"/>
            <a:r>
              <a:rPr lang="de-DE" sz="3600" dirty="0"/>
              <a:t>Ihre Aufmerksamkeit!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081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1EF95-F76A-BDD9-24C0-8D286C00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6C25D02-B78C-3580-DF08-42138FDCDE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6328" y="2060848"/>
            <a:ext cx="8631343" cy="1440160"/>
          </a:xfrm>
        </p:spPr>
        <p:txBody>
          <a:bodyPr/>
          <a:lstStyle/>
          <a:p>
            <a:pPr algn="ctr"/>
            <a:r>
              <a:rPr lang="de-DE" sz="3600" dirty="0"/>
              <a:t>Fragen?</a:t>
            </a:r>
          </a:p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77018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E8823-2D48-D286-A8C5-4A42409BA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yloss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600" i="1"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(0, 1−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logit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)))      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mit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sz="16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1, 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falls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6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0D5BC17-08E9-1600-ED69-5D1CC8B6E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251520" y="795342"/>
                <a:ext cx="8640000" cy="551397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0C7FFBE-B1DE-1276-2C96-6573CB449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602" y="1772816"/>
            <a:ext cx="6825836" cy="4329226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F6B954-76B9-496C-197E-A7B3360BBE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A66F11-4A15-8449-A58B-A744270646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60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1A9EBF-5724-745F-CF3A-389AAA42B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Hinge-Loss-Funktion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97D65EC-CAE3-F0FA-32B1-2FFA6611521F}"/>
              </a:ext>
            </a:extLst>
          </p:cNvPr>
          <p:cNvSpPr txBox="1"/>
          <p:nvPr/>
        </p:nvSpPr>
        <p:spPr>
          <a:xfrm>
            <a:off x="2042040" y="5991523"/>
            <a:ext cx="5491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[https://medium.com/@amitbalharakr93/activation-functions-loss-functions-and-optimizer-a5da4571e401,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1674004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B920-8EA0-27B4-F046-AA57FD27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F7E1FDD-555F-4EAB-A2E1-CAFE8DE06AC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2B18E3D-C8DD-667E-B836-D943FDA041C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6D085FF-3AD7-219E-730B-18BC68069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31115D-92F6-CA8A-20EA-C39DA21101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61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6E29DD7-4926-C4FE-6416-7113FA50B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Logit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653680-3B6D-9702-CC09-7DB65BBDC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1332" y="1428734"/>
            <a:ext cx="6336704" cy="412622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BB49DDC-E9B5-347B-A4A8-7F94FAE42429}"/>
              </a:ext>
            </a:extLst>
          </p:cNvPr>
          <p:cNvSpPr txBox="1"/>
          <p:nvPr/>
        </p:nvSpPr>
        <p:spPr>
          <a:xfrm>
            <a:off x="1331640" y="5661248"/>
            <a:ext cx="6624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>
                <a:latin typeface="Verdana" panose="020B0604030504040204" pitchFamily="34" charset="0"/>
                <a:ea typeface="Verdana" panose="020B0604030504040204" pitchFamily="34" charset="0"/>
              </a:rPr>
              <a:t>[https://en.wikipedia.org/wiki/Logit#/media/File:Logit.svg, besucht am 24.01.26.]</a:t>
            </a:r>
          </a:p>
        </p:txBody>
      </p:sp>
    </p:spTree>
    <p:extLst>
      <p:ext uri="{BB962C8B-B14F-4D97-AF65-F5344CB8AC3E}">
        <p14:creationId xmlns:p14="http://schemas.microsoft.com/office/powerpoint/2010/main" val="34810150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6B6C8-FA1D-D5B7-FB6E-F63D6EBDC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d: Anzahl der Features</a:t>
                </a:r>
              </a:p>
              <a:p>
                <a:pPr marL="0" indent="0">
                  <a:buNone/>
                </a:pPr>
                <a:r>
                  <a:rPr lang="de-DE" dirty="0">
                    <a:latin typeface="Cambria Math" panose="02040503050406030204" pitchFamily="18" charset="0"/>
                  </a:rPr>
                  <a:t>MAD: Median absolute </a:t>
                </a:r>
                <a:r>
                  <a:rPr lang="de-DE" dirty="0" err="1">
                    <a:latin typeface="Cambria Math" panose="02040503050406030204" pitchFamily="18" charset="0"/>
                  </a:rPr>
                  <a:t>deviation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cont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MAD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n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dist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cat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p>
                                    <m:sSup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n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CC4F1BA3-D148-B78C-94AC-4C36D7A9C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8E52479-23C3-C29A-3832-F818B11E566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E184D5-983D-4599-8365-8B82A83C575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00516F1-85AF-A56E-164E-098502F1F3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62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2AFE1E-B7BA-BDDC-5499-A9D6DD9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Distanzen</a:t>
            </a:r>
          </a:p>
        </p:txBody>
      </p:sp>
    </p:spTree>
    <p:extLst>
      <p:ext uri="{BB962C8B-B14F-4D97-AF65-F5344CB8AC3E}">
        <p14:creationId xmlns:p14="http://schemas.microsoft.com/office/powerpoint/2010/main" val="19165449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4A76-D1D5-25B7-C73B-435D52565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für die Counterfactuals, wie groß die </a:t>
                </a:r>
                <a:r>
                  <a:rPr lang="de-DE" b="1" dirty="0">
                    <a:latin typeface="+mn-lt"/>
                  </a:rPr>
                  <a:t>kontinuierliche und kategoriale Nähe </a:t>
                </a:r>
                <a:r>
                  <a:rPr lang="de-DE" dirty="0">
                    <a:latin typeface="+mn-lt"/>
                  </a:rPr>
                  <a:t>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𝐶𝑜𝑛𝑡𝑖𝑛𝑜𝑢𝑠𝑃𝑟𝑜𝑥𝑖𝑚𝑖𝑡𝑦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𝑃𝑟𝑜𝑥𝑖𝑚𝑖𝑡𝑦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= 1−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dist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cat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Kategoriale Proximität nahe 1: Wenige Änderungen der kategorialen Features</a:t>
                </a:r>
              </a:p>
            </p:txBody>
          </p:sp>
        </mc:Choice>
        <mc:Fallback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7CA9476B-248E-080D-7259-7F3F5F0041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ACB0AA8-1255-991D-00AF-744610DF4F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ED4A6A7-2AB3-9662-ECEC-1CE7B44A2A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BFB1A4-1753-F20B-B862-39ABDBE94D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63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F8C3B81-B2B3-BD76-C670-4912CC68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Proximitätsmetrik</a:t>
            </a:r>
          </a:p>
        </p:txBody>
      </p:sp>
    </p:spTree>
    <p:extLst>
      <p:ext uri="{BB962C8B-B14F-4D97-AF65-F5344CB8AC3E}">
        <p14:creationId xmlns:p14="http://schemas.microsoft.com/office/powerpoint/2010/main" val="32445061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B054-C7FC-0054-4A30-84CC1D77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</a:rPr>
                  <a:t>Prüft</a:t>
                </a:r>
                <a:r>
                  <a:rPr lang="de-DE" dirty="0">
                    <a:latin typeface="+mn-lt"/>
                  </a:rPr>
                  <a:t> die </a:t>
                </a:r>
                <a:r>
                  <a:rPr lang="de-DE" b="1" dirty="0">
                    <a:latin typeface="+mn-lt"/>
                  </a:rPr>
                  <a:t>Machbarkeit</a:t>
                </a:r>
                <a:r>
                  <a:rPr lang="de-DE" dirty="0">
                    <a:latin typeface="+mn-lt"/>
                  </a:rPr>
                  <a:t> der generierten Counterfactuals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[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Sup>
                                    <m:sSubSup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</m:sup>
                                  </m:sSubSup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Sparsität nahe 1: Geringe Anzahl an Änderungen der Features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Erklärungen mit </a:t>
                </a:r>
                <a:r>
                  <a:rPr lang="de-DE" b="1" dirty="0"/>
                  <a:t>wenigen</a:t>
                </a:r>
                <a:r>
                  <a:rPr lang="de-DE" dirty="0"/>
                  <a:t> </a:t>
                </a:r>
                <a:r>
                  <a:rPr lang="de-DE" b="1" dirty="0"/>
                  <a:t>Änderungen</a:t>
                </a:r>
                <a:r>
                  <a:rPr lang="de-DE" dirty="0"/>
                  <a:t> sind eher machbar</a:t>
                </a:r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D4DC887F-4021-4498-2050-F83D6B33C9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9B6F3E-7646-6CF3-14C4-6C6EB8488E9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FBF96B-05B8-74C8-A8C0-7D1AD998C7D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DA68B-8C2C-B199-276F-D9999BB730B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6562A97-FDFE-EDFF-4D71-185CB4A0C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Sparsitätsmetrik</a:t>
            </a:r>
          </a:p>
        </p:txBody>
      </p:sp>
    </p:spTree>
    <p:extLst>
      <p:ext uri="{BB962C8B-B14F-4D97-AF65-F5344CB8AC3E}">
        <p14:creationId xmlns:p14="http://schemas.microsoft.com/office/powerpoint/2010/main" val="35112920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7075-5C22-493E-7B71-EE168BBBA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Prüft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wie groß der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Abstand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zwischen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den einzelnen </a:t>
                </a: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Counterfactuals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 ist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𝐶𝑜𝑛𝑡𝑖𝑛𝑜𝑢𝑠𝐷𝑖𝑣𝑒𝑟𝑠𝑖𝑡𝑦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cont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ategorical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=∆ 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dist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cat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de-DE" dirty="0"/>
                  <a:t>Hohe Werte entsprechen einer großen Diversität der Counterfactuals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1" dirty="0">
                    <a:latin typeface="+mn-lt"/>
                    <a:ea typeface="Cambria Math" panose="02040503050406030204" pitchFamily="18" charset="0"/>
                  </a:rPr>
                  <a:t>Analog zur Sparsität </a:t>
                </a:r>
                <a:r>
                  <a:rPr lang="de-DE" b="0" dirty="0">
                    <a:latin typeface="+mn-lt"/>
                    <a:ea typeface="Cambria Math" panose="02040503050406030204" pitchFamily="18" charset="0"/>
                  </a:rPr>
                  <a:t>misst Count Diversität die Anzahl der unterschiedlichen Features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𝐶𝑜𝑢𝑛𝑡𝐷𝑖𝑣𝑒𝑟𝑠𝑖𝑡𝑦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[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≠</m:t>
                                      </m:r>
                                      <m:sSubSup>
                                        <m:sSubSup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j</m:t>
                                          </m:r>
                                        </m:sub>
                                        <m:sup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]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" name="Inhaltsplatzhalter 1">
                <a:extLst>
                  <a:ext uri="{FF2B5EF4-FFF2-40B4-BE49-F238E27FC236}">
                    <a16:creationId xmlns:a16="http://schemas.microsoft.com/office/drawing/2014/main" id="{B91D38E5-2E16-1C78-C116-8258A9BCD6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3"/>
                <a:stretch>
                  <a:fillRect l="-2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FBE289-4412-0B99-F08E-6EC2268943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5D4EE4-FDD9-4CF6-1EB4-2D998F9078F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D56ADA-64E5-8311-D14F-BF8DE8A49AE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65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B380FEC-0C81-9D07-4AF5-D6B701ABC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Diversitätsmetrik</a:t>
            </a:r>
          </a:p>
        </p:txBody>
      </p:sp>
    </p:spTree>
    <p:extLst>
      <p:ext uri="{BB962C8B-B14F-4D97-AF65-F5344CB8AC3E}">
        <p14:creationId xmlns:p14="http://schemas.microsoft.com/office/powerpoint/2010/main" val="25078015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B6C2F-BDDE-32CF-90E4-2F3AEDBF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6AE11ED-936B-329E-7EF5-FC192600309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Ziel: </a:t>
            </a:r>
            <a:r>
              <a:rPr lang="de-DE" dirty="0"/>
              <a:t>Ein Anwender kann die Entscheidungen eines Modells für ähnliche Eingaben vorhersagen.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6CD4EBD-8688-9DFA-95C9-86543B7B324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CBB121-797D-D118-77A5-40F4DF6436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4A38B4-E856-0563-293C-FDDF0A491B5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66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9B40FE7-5D92-A4E9-46E7-3D22668F0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14" y="75342"/>
            <a:ext cx="6545233" cy="720000"/>
          </a:xfrm>
        </p:spPr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  <p:pic>
        <p:nvPicPr>
          <p:cNvPr id="10" name="Grafik 9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6D9DF965-BB00-B332-678A-065A58477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959" y="2132856"/>
            <a:ext cx="6014082" cy="385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75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6B8C0-901E-A59D-4826-CCCF0C60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354B8D6-DE10-B8A7-A1BD-5B7A1A0BDD3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5" y="1196752"/>
            <a:ext cx="8424936" cy="5040560"/>
          </a:xfrm>
        </p:spPr>
        <p:txBody>
          <a:bodyPr/>
          <a:lstStyle/>
          <a:p>
            <a:pPr marL="0" indent="0">
              <a:buNone/>
            </a:pPr>
            <a:r>
              <a:rPr lang="de-DE" b="1" dirty="0"/>
              <a:t>Endgültiges Ziel: </a:t>
            </a:r>
            <a:r>
              <a:rPr lang="de-DE" dirty="0"/>
              <a:t>Näherung der lokalen Entscheidungsgrenze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Entscheidungsgrenze</a:t>
            </a:r>
          </a:p>
          <a:p>
            <a:pPr marL="0" indent="0">
              <a:buNone/>
            </a:pPr>
            <a:r>
              <a:rPr lang="de-DE" dirty="0"/>
              <a:t>Ein Anwender kann die Entscheidungen eines Modells für ähnliche Eingaben vorhersagen.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Bewertung der Näherung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Simulation eines Anwenders durch Verwendung eines zweiten Modells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Training mit Counterfactuals und ursprünglicher Eingabe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Messen wie gut die Entscheidungen des Ursprungsmodell vorhergesagt werden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Durchführung einer Studie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Menschen bewerten, wie gut eine Entscheidung vorhergesagt werden konnte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ABDF7B-6D1D-47FE-8F6F-79C5B09E272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74560C7-9859-ADA1-B67C-369D0E33DF1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73411-0B2F-A4C0-FACB-7B43C8A997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67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13D9C35-CD8D-1F88-0D69-6458F9D4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Entscheidungsgrenze</a:t>
            </a:r>
          </a:p>
        </p:txBody>
      </p:sp>
    </p:spTree>
    <p:extLst>
      <p:ext uri="{BB962C8B-B14F-4D97-AF65-F5344CB8AC3E}">
        <p14:creationId xmlns:p14="http://schemas.microsoft.com/office/powerpoint/2010/main" val="371350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46-D339-59CE-6C7E-3A64AB1A7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807900-CA91-8BEE-2028-DB280DD0E44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089A16-EE6D-8164-A00F-0AF2C105BB6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0F71006-B23A-E9BB-C4F1-0C32812765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68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C53DC04-93C9-C096-714E-61177C67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Baselines</a:t>
            </a:r>
          </a:p>
        </p:txBody>
      </p:sp>
      <p:pic>
        <p:nvPicPr>
          <p:cNvPr id="14" name="Inhaltsplatzhalter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087A3A-FBE3-15F3-402E-BEA84C3AED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1062411"/>
            <a:ext cx="6966424" cy="1872540"/>
          </a:xfrm>
        </p:spPr>
      </p:pic>
      <p:pic>
        <p:nvPicPr>
          <p:cNvPr id="16" name="Grafik 15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E9D2453C-B785-1A20-94A7-57F99F30D4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736" y="3332519"/>
            <a:ext cx="5059581" cy="18359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ABA6D3BE-B167-0D4F-123A-B8DD559F26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3" y="2868722"/>
            <a:ext cx="6414904" cy="34605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0C19736-3BCA-A0EC-B3A4-270EC77F97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85" y="5157192"/>
            <a:ext cx="6414904" cy="346053"/>
          </a:xfrm>
          <a:prstGeom prst="rect">
            <a:avLst/>
          </a:prstGeom>
        </p:spPr>
      </p:pic>
      <p:sp>
        <p:nvSpPr>
          <p:cNvPr id="22" name="Rechteck 21">
            <a:extLst>
              <a:ext uri="{FF2B5EF4-FFF2-40B4-BE49-F238E27FC236}">
                <a16:creationId xmlns:a16="http://schemas.microsoft.com/office/drawing/2014/main" id="{BAB597E0-9F99-70EE-98C9-8AC5F6432450}"/>
              </a:ext>
            </a:extLst>
          </p:cNvPr>
          <p:cNvSpPr/>
          <p:nvPr/>
        </p:nvSpPr>
        <p:spPr>
          <a:xfrm>
            <a:off x="7299600" y="5071197"/>
            <a:ext cx="1800200" cy="4320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B1D95A7-D67F-0285-F388-726FDE19E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4383" y="5753541"/>
            <a:ext cx="6228184" cy="34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853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98A2-5D3B-E3E5-C8B2-931B7F1B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115AC84-A543-79FF-7288-2756AFE9453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600" b="1" dirty="0" err="1"/>
              <a:t>L</a:t>
            </a:r>
            <a:r>
              <a:rPr lang="de-DE" sz="1600" dirty="0" err="1"/>
              <a:t>ocal</a:t>
            </a:r>
            <a:r>
              <a:rPr lang="de-DE" sz="1600" dirty="0"/>
              <a:t> </a:t>
            </a:r>
            <a:r>
              <a:rPr lang="de-DE" sz="1600" b="1" dirty="0" err="1"/>
              <a:t>I</a:t>
            </a:r>
            <a:r>
              <a:rPr lang="de-DE" sz="1600" dirty="0" err="1"/>
              <a:t>nterpretable</a:t>
            </a:r>
            <a:r>
              <a:rPr lang="de-DE" sz="1600" dirty="0"/>
              <a:t> </a:t>
            </a:r>
            <a:r>
              <a:rPr lang="de-DE" sz="1600" b="1" dirty="0"/>
              <a:t>M</a:t>
            </a:r>
            <a:r>
              <a:rPr lang="de-DE" sz="1600" dirty="0"/>
              <a:t>odel-</a:t>
            </a:r>
            <a:r>
              <a:rPr lang="de-DE" sz="1600" dirty="0" err="1"/>
              <a:t>agnostic</a:t>
            </a:r>
            <a:r>
              <a:rPr lang="de-DE" sz="1600" dirty="0"/>
              <a:t> </a:t>
            </a:r>
            <a:r>
              <a:rPr lang="de-DE" sz="1600" b="1" dirty="0" err="1"/>
              <a:t>E</a:t>
            </a:r>
            <a:r>
              <a:rPr lang="de-DE" sz="1600" dirty="0" err="1"/>
              <a:t>xplainations</a:t>
            </a:r>
            <a:r>
              <a:rPr lang="de-DE" sz="1600" dirty="0"/>
              <a:t> (LIME)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Verwendet einfaches Ersatzmodell anstatt dem komplexen Black-Box-Modell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Merkmalbasierter Erklärungsansatz durch Wichtigkeit einzelner Features für eine Entscheidung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3AFD80B-5DFB-FE18-ACA7-B93D8BD1FDA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CF5049-61DB-6883-F8A8-2B4EF0AC8F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69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040E00E-1B21-BCE4-3AD1-A23E4FDB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Vergleich mit LIME</a:t>
            </a:r>
          </a:p>
        </p:txBody>
      </p:sp>
      <p:pic>
        <p:nvPicPr>
          <p:cNvPr id="7" name="Grafik 6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1A4A37E2-CA1E-1385-88C5-E01E767A6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605" y="3140968"/>
            <a:ext cx="6023829" cy="278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87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E2C79-25D1-E077-E83E-F15809D5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86A5F1A-AA4D-6E8B-E654-EEEA1500D5B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0FA1DE7-5DE1-1E5C-1B7D-8956A595467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A736B4-2318-38DD-20A2-2E695868EBF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70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4054EFC-CEC9-C650-FA35-D3E52467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Beispiel: Einkommensklassen</a:t>
            </a:r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3F033F31-2A31-36E9-7999-04C9ABC49CA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85271809"/>
              </p:ext>
            </p:extLst>
          </p:nvPr>
        </p:nvGraphicFramePr>
        <p:xfrm>
          <a:off x="442062" y="1700486"/>
          <a:ext cx="8259876" cy="2839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2293">
                  <a:extLst>
                    <a:ext uri="{9D8B030D-6E8A-4147-A177-3AD203B41FA5}">
                      <a16:colId xmlns:a16="http://schemas.microsoft.com/office/drawing/2014/main" val="3368415768"/>
                    </a:ext>
                  </a:extLst>
                </a:gridCol>
                <a:gridCol w="1113155">
                  <a:extLst>
                    <a:ext uri="{9D8B030D-6E8A-4147-A177-3AD203B41FA5}">
                      <a16:colId xmlns:a16="http://schemas.microsoft.com/office/drawing/2014/main" val="2692332455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772486754"/>
                    </a:ext>
                  </a:extLst>
                </a:gridCol>
                <a:gridCol w="833755">
                  <a:extLst>
                    <a:ext uri="{9D8B030D-6E8A-4147-A177-3AD203B41FA5}">
                      <a16:colId xmlns:a16="http://schemas.microsoft.com/office/drawing/2014/main" val="3318087928"/>
                    </a:ext>
                  </a:extLst>
                </a:gridCol>
                <a:gridCol w="1194118">
                  <a:extLst>
                    <a:ext uri="{9D8B030D-6E8A-4147-A177-3AD203B41FA5}">
                      <a16:colId xmlns:a16="http://schemas.microsoft.com/office/drawing/2014/main" val="3125510034"/>
                    </a:ext>
                  </a:extLst>
                </a:gridCol>
                <a:gridCol w="646430">
                  <a:extLst>
                    <a:ext uri="{9D8B030D-6E8A-4147-A177-3AD203B41FA5}">
                      <a16:colId xmlns:a16="http://schemas.microsoft.com/office/drawing/2014/main" val="62945846"/>
                    </a:ext>
                  </a:extLst>
                </a:gridCol>
                <a:gridCol w="852805">
                  <a:extLst>
                    <a:ext uri="{9D8B030D-6E8A-4147-A177-3AD203B41FA5}">
                      <a16:colId xmlns:a16="http://schemas.microsoft.com/office/drawing/2014/main" val="3680178235"/>
                    </a:ext>
                  </a:extLst>
                </a:gridCol>
                <a:gridCol w="933768">
                  <a:extLst>
                    <a:ext uri="{9D8B030D-6E8A-4147-A177-3AD203B41FA5}">
                      <a16:colId xmlns:a16="http://schemas.microsoft.com/office/drawing/2014/main" val="1780319351"/>
                    </a:ext>
                  </a:extLst>
                </a:gridCol>
                <a:gridCol w="1043734">
                  <a:extLst>
                    <a:ext uri="{9D8B030D-6E8A-4147-A177-3AD203B41FA5}">
                      <a16:colId xmlns:a16="http://schemas.microsoft.com/office/drawing/2014/main" val="4146257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Workclass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Martial</a:t>
                      </a:r>
                      <a:br>
                        <a:rPr lang="de-DE" sz="1200" dirty="0"/>
                      </a:br>
                      <a:r>
                        <a:rPr lang="de-DE" sz="1200" dirty="0"/>
                        <a:t>stauts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Occupation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Race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Weekly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working</a:t>
                      </a:r>
                      <a:br>
                        <a:rPr lang="de-DE" sz="1200" dirty="0"/>
                      </a:br>
                      <a:r>
                        <a:rPr lang="de-DE" sz="1200" dirty="0" err="1"/>
                        <a:t>hours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Income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25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Bachelors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70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Assoc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Professional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625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6836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Private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Female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2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Self-</a:t>
                      </a:r>
                      <a:r>
                        <a:rPr lang="de-DE" sz="1200" dirty="0" err="1"/>
                        <a:t>Employed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Some</a:t>
                      </a:r>
                      <a:r>
                        <a:rPr lang="de-DE" sz="1200" dirty="0"/>
                        <a:t>-College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 err="1"/>
                        <a:t>Married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White-</a:t>
                      </a:r>
                      <a:r>
                        <a:rPr lang="de-DE" sz="1200" dirty="0" err="1"/>
                        <a:t>Collar</a:t>
                      </a:r>
                      <a:endParaRPr lang="de-DE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732312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517CC11C-6024-4460-395F-FBFA102233F2}"/>
              </a:ext>
            </a:extLst>
          </p:cNvPr>
          <p:cNvSpPr txBox="1"/>
          <p:nvPr/>
        </p:nvSpPr>
        <p:spPr>
          <a:xfrm>
            <a:off x="436745" y="4869160"/>
            <a:ext cx="6768752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Einkommensklassen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Hohes Einkommen (1): &gt;50.000$</a:t>
            </a:r>
          </a:p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Niedriges Einkommen (0): ≤50.000$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E08B8D-9497-70BF-668E-D6316C9A0CA5}"/>
              </a:ext>
            </a:extLst>
          </p:cNvPr>
          <p:cNvSpPr txBox="1"/>
          <p:nvPr/>
        </p:nvSpPr>
        <p:spPr>
          <a:xfrm>
            <a:off x="436745" y="1157659"/>
            <a:ext cx="6768752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Datensatz</a:t>
            </a:r>
            <a:r>
              <a:rPr lang="de-DE" sz="1600" b="1" dirty="0">
                <a:latin typeface="Verdana" panose="020B0604030504040204" pitchFamily="34" charset="0"/>
                <a:ea typeface="Verdana" panose="020B0604030504040204" pitchFamily="34" charset="0"/>
              </a:rPr>
              <a:t> adult</a:t>
            </a:r>
            <a:r>
              <a:rPr lang="de-DE" sz="16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de-DE" sz="1600" dirty="0">
                <a:latin typeface="Verdana" panose="020B0604030504040204" pitchFamily="34" charset="0"/>
                <a:ea typeface="Verdana" panose="020B0604030504040204" pitchFamily="34" charset="0"/>
              </a:rPr>
              <a:t>aus USA, 1994</a:t>
            </a:r>
          </a:p>
        </p:txBody>
      </p:sp>
    </p:spTree>
    <p:extLst>
      <p:ext uri="{BB962C8B-B14F-4D97-AF65-F5344CB8AC3E}">
        <p14:creationId xmlns:p14="http://schemas.microsoft.com/office/powerpoint/2010/main" val="406670755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DB1505-1AE8-C861-EADF-3E062672CAA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E0B3D0A-58D8-3E9D-7691-C350C88B61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2D6DDA-8DE5-4481-0B2A-93461C4A8B6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71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ACA31E8-BE34-DA0C-C6E8-F8D8867D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50507B-42E4-44FB-5444-3108EA541C7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Aufteilen in Trainings- und Testdaten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169ED57-DC4D-FB26-ECBA-D336654329C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7474889" cy="707338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de-DE" sz="1200" dirty="0"/>
              <a:t>d = </a:t>
            </a:r>
            <a:r>
              <a:rPr lang="de-DE" sz="1200" dirty="0" err="1"/>
              <a:t>dice_ml.Data</a:t>
            </a:r>
            <a:r>
              <a:rPr lang="de-DE" sz="1200" dirty="0"/>
              <a:t>(</a:t>
            </a:r>
            <a:r>
              <a:rPr lang="de-DE" sz="1200" dirty="0" err="1"/>
              <a:t>dataframe</a:t>
            </a:r>
            <a:r>
              <a:rPr lang="de-DE" sz="1200" dirty="0"/>
              <a:t>=</a:t>
            </a:r>
            <a:r>
              <a:rPr lang="de-DE" sz="1200" dirty="0" err="1"/>
              <a:t>train_dataset</a:t>
            </a:r>
            <a:r>
              <a:rPr lang="de-DE" sz="1200" dirty="0"/>
              <a:t>, </a:t>
            </a:r>
          </a:p>
          <a:p>
            <a:r>
              <a:rPr lang="de-DE" sz="1200" dirty="0"/>
              <a:t>  	      </a:t>
            </a:r>
            <a:r>
              <a:rPr lang="de-DE" sz="1200" dirty="0" err="1"/>
              <a:t>continuous_features</a:t>
            </a:r>
            <a:r>
              <a:rPr lang="de-DE" sz="1200" dirty="0"/>
              <a:t>=['</a:t>
            </a:r>
            <a:r>
              <a:rPr lang="de-DE" sz="1200" dirty="0" err="1"/>
              <a:t>age</a:t>
            </a:r>
            <a:r>
              <a:rPr lang="de-DE" sz="1200" dirty="0"/>
              <a:t>', '</a:t>
            </a:r>
            <a:r>
              <a:rPr lang="de-DE" sz="1200" dirty="0" err="1"/>
              <a:t>hours_per_week</a:t>
            </a:r>
            <a:r>
              <a:rPr lang="de-DE" sz="1200" dirty="0"/>
              <a:t>‘], </a:t>
            </a:r>
            <a:r>
              <a:rPr lang="de-DE" sz="1200" dirty="0" err="1"/>
              <a:t>outcome_name</a:t>
            </a:r>
            <a:r>
              <a:rPr lang="de-DE" sz="1200" dirty="0"/>
              <a:t>='</a:t>
            </a:r>
            <a:r>
              <a:rPr lang="de-DE" sz="1200" dirty="0" err="1"/>
              <a:t>income</a:t>
            </a:r>
            <a:r>
              <a:rPr lang="de-DE" sz="1200" dirty="0"/>
              <a:t>')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703D0790-AA18-7D22-8E6A-01A3C6727BAD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8345434" cy="97554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target = dataset["income"]</a:t>
            </a:r>
          </a:p>
          <a:p>
            <a:r>
              <a:rPr lang="en-US" sz="1200" dirty="0" err="1"/>
              <a:t>train_dataset</a:t>
            </a:r>
            <a:r>
              <a:rPr lang="en-US" sz="1200" dirty="0"/>
              <a:t>, </a:t>
            </a:r>
            <a:r>
              <a:rPr lang="en-US" sz="1200" dirty="0" err="1"/>
              <a:t>test_dataset</a:t>
            </a:r>
            <a:r>
              <a:rPr lang="en-US" sz="1200" dirty="0"/>
              <a:t>, </a:t>
            </a:r>
            <a:r>
              <a:rPr lang="en-US" sz="1200" dirty="0" err="1"/>
              <a:t>y_train</a:t>
            </a:r>
            <a:r>
              <a:rPr lang="en-US" sz="1200" dirty="0"/>
              <a:t>, </a:t>
            </a:r>
            <a:r>
              <a:rPr lang="en-US" sz="1200" dirty="0" err="1"/>
              <a:t>y_test</a:t>
            </a:r>
            <a:r>
              <a:rPr lang="en-US" sz="1200" dirty="0"/>
              <a:t> = </a:t>
            </a:r>
            <a:r>
              <a:rPr lang="en-US" sz="1200" dirty="0" err="1"/>
              <a:t>train_test_split</a:t>
            </a:r>
            <a:r>
              <a:rPr lang="en-US" sz="1200" dirty="0"/>
              <a:t>(dataset, target, </a:t>
            </a:r>
            <a:r>
              <a:rPr lang="en-US" sz="1200" dirty="0" err="1"/>
              <a:t>test_size</a:t>
            </a:r>
            <a:r>
              <a:rPr lang="en-US" sz="1200" dirty="0"/>
              <a:t>=0.2, 					         </a:t>
            </a:r>
            <a:r>
              <a:rPr lang="en-US" sz="1200" dirty="0" err="1"/>
              <a:t>random_state</a:t>
            </a:r>
            <a:r>
              <a:rPr lang="en-US" sz="1200" dirty="0"/>
              <a:t>=0, stratify=target)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31D0A669-1F21-E0F4-431E-955A23A31B6F}"/>
              </a:ext>
            </a:extLst>
          </p:cNvPr>
          <p:cNvSpPr txBox="1">
            <a:spLocks/>
          </p:cNvSpPr>
          <p:nvPr/>
        </p:nvSpPr>
        <p:spPr>
          <a:xfrm>
            <a:off x="259014" y="2564904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2.  </a:t>
            </a:r>
            <a:r>
              <a:rPr lang="de-DE" dirty="0"/>
              <a:t>Klassifikationen entfernen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B3881C2E-E100-3E8A-6E36-B83A863C5945}"/>
              </a:ext>
            </a:extLst>
          </p:cNvPr>
          <p:cNvSpPr txBox="1">
            <a:spLocks/>
          </p:cNvSpPr>
          <p:nvPr/>
        </p:nvSpPr>
        <p:spPr>
          <a:xfrm>
            <a:off x="647501" y="2954155"/>
            <a:ext cx="3996507" cy="3820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/>
              <a:t>x_test</a:t>
            </a:r>
            <a:r>
              <a:rPr lang="en-US" sz="1200" dirty="0"/>
              <a:t> = </a:t>
            </a:r>
            <a:r>
              <a:rPr lang="en-US" sz="1200" dirty="0" err="1"/>
              <a:t>test_dataset.drop</a:t>
            </a:r>
            <a:r>
              <a:rPr lang="en-US" sz="1200" dirty="0"/>
              <a:t>('income', axis=1)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72E81966-D64F-7FE9-8860-4171A9259F8F}"/>
              </a:ext>
            </a:extLst>
          </p:cNvPr>
          <p:cNvSpPr txBox="1">
            <a:spLocks/>
          </p:cNvSpPr>
          <p:nvPr/>
        </p:nvSpPr>
        <p:spPr>
          <a:xfrm>
            <a:off x="259014" y="3503339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3.  </a:t>
            </a:r>
            <a:r>
              <a:rPr lang="de-DE" dirty="0"/>
              <a:t>Konstruktion des Datenobjekts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58453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B56-3C20-C802-17FC-A0F0CC73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4AFB8AE-B5DA-30EE-B54C-742FA6E99E1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3C25201-10DD-E58B-36A8-488B0EC716A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766D5-DDBA-D552-8433-44147442BB5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72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C3E43312-F165-09B7-38F9-6ED283FC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Vorbereitung der Daten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B8ACF2D-4551-E3B8-74A8-C1B468B6CF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4.  </a:t>
            </a:r>
            <a:r>
              <a:rPr lang="de-DE" dirty="0"/>
              <a:t>Verwendung eines vortrainierten ML-Modells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F5EFD59-0A28-535B-A662-1E537ECA74C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25503" y="3933057"/>
            <a:ext cx="3802481" cy="360040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 sz="1200" dirty="0"/>
              <a:t>exp = </a:t>
            </a:r>
            <a:r>
              <a:rPr lang="en-US" sz="1200" dirty="0" err="1"/>
              <a:t>dice_ml.Dice</a:t>
            </a:r>
            <a:r>
              <a:rPr lang="en-US" sz="1200" dirty="0"/>
              <a:t>(d, m, method="gradient")</a:t>
            </a:r>
            <a:endParaRPr lang="de-DE" sz="1200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2869F4FB-9708-13B3-244F-38A8DAE1B106}"/>
              </a:ext>
            </a:extLst>
          </p:cNvPr>
          <p:cNvSpPr txBox="1">
            <a:spLocks/>
          </p:cNvSpPr>
          <p:nvPr/>
        </p:nvSpPr>
        <p:spPr>
          <a:xfrm>
            <a:off x="625503" y="1425925"/>
            <a:ext cx="5746697" cy="6664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backend = 'TF2'</a:t>
            </a:r>
          </a:p>
          <a:p>
            <a:r>
              <a:rPr lang="en-US" sz="1200" dirty="0" err="1"/>
              <a:t>ML_modelpath</a:t>
            </a:r>
            <a:r>
              <a:rPr lang="en-US" sz="1200" dirty="0"/>
              <a:t> = </a:t>
            </a:r>
            <a:r>
              <a:rPr lang="en-US" sz="1200" dirty="0" err="1"/>
              <a:t>helpers.get_adult_income_modelpath</a:t>
            </a:r>
            <a:r>
              <a:rPr lang="en-US" sz="1200" dirty="0"/>
              <a:t>(backend=backend)</a:t>
            </a:r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BB4C3E12-68F2-83BD-ACFF-AD8D6C576F56}"/>
              </a:ext>
            </a:extLst>
          </p:cNvPr>
          <p:cNvSpPr txBox="1">
            <a:spLocks/>
          </p:cNvSpPr>
          <p:nvPr/>
        </p:nvSpPr>
        <p:spPr>
          <a:xfrm>
            <a:off x="259014" y="240147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5. </a:t>
            </a:r>
            <a:r>
              <a:rPr lang="de-DE" dirty="0"/>
              <a:t>Konstruktion des Modellobjekts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279C8FFC-E5FA-9BE0-9ED0-EEAAA398CC7C}"/>
              </a:ext>
            </a:extLst>
          </p:cNvPr>
          <p:cNvSpPr txBox="1">
            <a:spLocks/>
          </p:cNvSpPr>
          <p:nvPr/>
        </p:nvSpPr>
        <p:spPr>
          <a:xfrm>
            <a:off x="647501" y="2758913"/>
            <a:ext cx="6876827" cy="3820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Consolas" panose="020B0609020204030204" pitchFamily="49" charset="0"/>
                <a:ea typeface="Verdana" panose="020B0604030504040204" pitchFamily="34" charset="0"/>
                <a:cs typeface="Consolas" panose="020B0609020204030204" pitchFamily="49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Alwyn New Lt" panose="020B0303000000020004" pitchFamily="34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m = </a:t>
            </a:r>
            <a:r>
              <a:rPr lang="en-US" sz="1200" dirty="0" err="1"/>
              <a:t>dice_ml.Model</a:t>
            </a:r>
            <a:r>
              <a:rPr lang="en-US" sz="1200" dirty="0"/>
              <a:t>(</a:t>
            </a:r>
            <a:r>
              <a:rPr lang="en-US" sz="1200" dirty="0" err="1"/>
              <a:t>model_path</a:t>
            </a:r>
            <a:r>
              <a:rPr lang="en-US" sz="1200" dirty="0"/>
              <a:t>=</a:t>
            </a:r>
            <a:r>
              <a:rPr lang="en-US" sz="1200" dirty="0" err="1"/>
              <a:t>ML_modelpath</a:t>
            </a:r>
            <a:r>
              <a:rPr lang="en-US" sz="1200" dirty="0"/>
              <a:t>, backend=backend, </a:t>
            </a:r>
            <a:r>
              <a:rPr lang="en-US" sz="1200" dirty="0" err="1"/>
              <a:t>func</a:t>
            </a:r>
            <a:r>
              <a:rPr lang="en-US" sz="1200" dirty="0"/>
              <a:t>="</a:t>
            </a:r>
            <a:r>
              <a:rPr lang="en-US" sz="1200" dirty="0" err="1"/>
              <a:t>ohe</a:t>
            </a:r>
            <a:r>
              <a:rPr lang="en-US" sz="1200" dirty="0"/>
              <a:t>-min-max")</a:t>
            </a:r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41D1AF06-7A96-90A6-8927-B683037D1518}"/>
              </a:ext>
            </a:extLst>
          </p:cNvPr>
          <p:cNvSpPr txBox="1">
            <a:spLocks/>
          </p:cNvSpPr>
          <p:nvPr/>
        </p:nvSpPr>
        <p:spPr>
          <a:xfrm>
            <a:off x="259014" y="3429000"/>
            <a:ext cx="8705474" cy="55528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dirty="0">
                <a:solidFill>
                  <a:srgbClr val="115E67"/>
                </a:solidFill>
              </a:rPr>
              <a:t>6.  </a:t>
            </a:r>
            <a:r>
              <a:rPr lang="de-DE" dirty="0"/>
              <a:t>Konstruktion des DiCE-Objekts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845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C749D-9090-85F7-D02F-8D444A9B1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29A3C32-21DB-88C1-A912-C844BE570ED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pPr>
              <a:defRPr/>
            </a:pPr>
            <a:fld id="{4D33FF64-A3FB-4BFC-BA0F-A64F5FE3D3F2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9F74C49-3D92-28B7-4A05-1E2EF797938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08B932-23E7-C195-4317-82EB0606A1D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defRPr/>
            </a:pPr>
            <a:fld id="{73806B55-EB36-49A9-ADB4-61E75E31F1FA}" type="slidenum">
              <a:rPr lang="de-DE" altLang="de-DE" smtClean="0"/>
              <a:pPr>
                <a:defRPr/>
              </a:pPr>
              <a:t>73</a:t>
            </a:fld>
            <a:endParaRPr lang="de-DE" alt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30347D7-F170-4D35-4465-1626E6E9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Evaluation des Beispiels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22F597F-4922-F136-0099-14BB20CEE23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14" y="1073516"/>
            <a:ext cx="8705474" cy="555284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Berechnung der Metriken für das unbeschränkte und das beschränkte Beispiel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D2609B17-CBF2-52F1-3127-E3C8BEC6D7F1}"/>
              </a:ext>
            </a:extLst>
          </p:cNvPr>
          <p:cNvGraphicFramePr>
            <a:graphicFrameLocks noGrp="1"/>
          </p:cNvGraphicFramePr>
          <p:nvPr/>
        </p:nvGraphicFramePr>
        <p:xfrm>
          <a:off x="1367644" y="1724176"/>
          <a:ext cx="6408711" cy="29667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448271">
                  <a:extLst>
                    <a:ext uri="{9D8B030D-6E8A-4147-A177-3AD203B41FA5}">
                      <a16:colId xmlns:a16="http://schemas.microsoft.com/office/drawing/2014/main" val="3585173478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3915730812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14122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Evaluationsmetrik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Unbeschränkte 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Beschränkte CFs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695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Gültigkeit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1,0000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661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-6,7125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-2,9500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3237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Proximität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0,6667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4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Sparsität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0,6250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86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Kontinuierliche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6,8417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0,4333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6938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Kategoriale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0,2778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579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Count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0,3125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041676"/>
                  </a:ext>
                </a:extLst>
              </a:tr>
            </a:tbl>
          </a:graphicData>
        </a:graphic>
      </p:graphicFrame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95C30F14-5994-3C22-653F-3C1760412B4A}"/>
              </a:ext>
            </a:extLst>
          </p:cNvPr>
          <p:cNvSpPr txBox="1">
            <a:spLocks/>
          </p:cNvSpPr>
          <p:nvPr/>
        </p:nvSpPr>
        <p:spPr>
          <a:xfrm>
            <a:off x="259014" y="4790446"/>
            <a:ext cx="8705474" cy="1518874"/>
          </a:xfrm>
          <a:prstGeom prst="rect">
            <a:avLst/>
          </a:prstGeom>
        </p:spPr>
        <p:txBody>
          <a:bodyPr/>
          <a:lstStyle>
            <a:lvl1pPr marL="257175" indent="-257175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557213" indent="-214313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8572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2001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543050" indent="-171450" algn="l" rtl="0" eaLnBrk="1" fontAlgn="base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115E67"/>
              </a:buClr>
              <a:buFont typeface="Arial" panose="020B0604020202020204" pitchFamily="34" charset="0"/>
              <a:buChar char="•"/>
              <a:defRPr lang="de-DE" sz="1050" kern="120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15430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l" defTabSz="685800" rtl="0" eaLnBrk="1" latinLnBrk="0" hangingPunct="1">
              <a:lnSpc>
                <a:spcPct val="150000"/>
              </a:lnSpc>
              <a:spcBef>
                <a:spcPct val="200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Erhöhung der Proximität auf Kosten der Diversität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Sparsität (Maß für Machbarkeit) konstant, trotz höherer Machbarkeit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b="1" dirty="0"/>
              <a:t>Beschränkungen</a:t>
            </a:r>
            <a:r>
              <a:rPr lang="de-DE" dirty="0"/>
              <a:t> durch Anwender werden in Metriken </a:t>
            </a:r>
            <a:r>
              <a:rPr lang="de-DE" b="1" dirty="0"/>
              <a:t>nicht berücksichtigt!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006570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E2E41-7742-C5CD-5E5E-0949361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472E2DC-1380-4BE3-6CA9-458A7990CC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Durch DiCE generierte Counterfactuals geben …</a:t>
            </a:r>
          </a:p>
          <a:p>
            <a:pPr marL="0" indent="0">
              <a:buNone/>
            </a:pPr>
            <a:r>
              <a:rPr lang="de-DE" dirty="0"/>
              <a:t>	… konkrete Handlungsmöglichkeiten („Was-wäre-wenn“-Szenarien)</a:t>
            </a:r>
          </a:p>
          <a:p>
            <a:pPr marL="0" indent="0">
              <a:buNone/>
            </a:pPr>
            <a:r>
              <a:rPr lang="de-DE" dirty="0"/>
              <a:t>	… diverse Erklärungen zur Erhöhung der Machbarkeit</a:t>
            </a:r>
          </a:p>
          <a:p>
            <a:pPr marL="0" indent="0">
              <a:buNone/>
            </a:pPr>
            <a:r>
              <a:rPr lang="de-DE" dirty="0"/>
              <a:t>	… Hinweise auf Bias in Trainingsdaten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Problem</a:t>
            </a:r>
          </a:p>
          <a:p>
            <a:pPr marL="0" indent="0">
              <a:buNone/>
            </a:pPr>
            <a:r>
              <a:rPr lang="de-DE" dirty="0"/>
              <a:t>Features sind nicht oder nur begrenzt änderbar sein (z.B. ethnische Herkunft, Alter, …)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Beschränkungen erfordern Vorarbeit durch Anwender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Domänenspezifisches Wissen notwendig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1CCB7-5BE2-7A7B-83D6-A9686DC96D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C098E26C-8BAA-4ACE-83C6-8F04F03DE16F}" type="datetime1">
              <a:rPr lang="de-DE" smtClean="0"/>
              <a:pPr>
                <a:defRPr/>
              </a:pPr>
              <a:t>26.01.2026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80F6E1-8271-32C7-47D6-4CB7BEE620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E2794A-4758-A410-92D1-29111C35CB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7A8CEE4A-E163-47DE-8784-5B8DE9F7A78A}" type="slidenum">
              <a:rPr lang="de-DE" altLang="de-DE" smtClean="0"/>
              <a:pPr>
                <a:defRPr/>
              </a:pPr>
              <a:t>74</a:t>
            </a:fld>
            <a:endParaRPr lang="de-DE" alt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F064324-2B8B-7560-3E71-1FEAC7F5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DE" sz="2400" dirty="0"/>
              <a:t>Relevanz in der Praxis</a:t>
            </a:r>
          </a:p>
        </p:txBody>
      </p:sp>
    </p:spTree>
    <p:extLst>
      <p:ext uri="{BB962C8B-B14F-4D97-AF65-F5344CB8AC3E}">
        <p14:creationId xmlns:p14="http://schemas.microsoft.com/office/powerpoint/2010/main" val="3705699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Larissa">
  <a:themeElements>
    <a:clrScheme name="Hauptcampus-Informatik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8FD6BD"/>
      </a:accent1>
      <a:accent2>
        <a:srgbClr val="BE531C"/>
      </a:accent2>
      <a:accent3>
        <a:srgbClr val="D9C756"/>
      </a:accent3>
      <a:accent4>
        <a:srgbClr val="115E67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000" dirty="0">
            <a:latin typeface="Verdana" panose="020B0604030504040204" pitchFamily="34" charset="0"/>
            <a:ea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CE_PowerPoint" id="{BCC6F42E-25D2-46C4-9195-E237C1F71A97}" vid="{9B611989-96A6-4598-8A74-627867684A4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2FBCCE5278A74449EB3DEA85EB9903C" ma:contentTypeVersion="5" ma:contentTypeDescription="Ein neues Dokument erstellen." ma:contentTypeScope="" ma:versionID="26e5343e6454fbf585af25a252419e95">
  <xsd:schema xmlns:xsd="http://www.w3.org/2001/XMLSchema" xmlns:xs="http://www.w3.org/2001/XMLSchema" xmlns:p="http://schemas.microsoft.com/office/2006/metadata/properties" xmlns:ns3="129b439c-d576-4abb-88d0-85f473d325b5" targetNamespace="http://schemas.microsoft.com/office/2006/metadata/properties" ma:root="true" ma:fieldsID="9d3f67f85b85674e9b2f983c7697085d" ns3:_="">
    <xsd:import namespace="129b439c-d576-4abb-88d0-85f473d325b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b439c-d576-4abb-88d0-85f473d325b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9b439c-d576-4abb-88d0-85f473d325b5" xsi:nil="true"/>
  </documentManagement>
</p:properties>
</file>

<file path=customXml/itemProps1.xml><?xml version="1.0" encoding="utf-8"?>
<ds:datastoreItem xmlns:ds="http://schemas.openxmlformats.org/officeDocument/2006/customXml" ds:itemID="{CE89457F-6DAB-4D01-8D28-E12885F10D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9b439c-d576-4abb-88d0-85f473d325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4CF042B-2ACF-4D41-ADE3-BFB62DA3AA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2E594A-121C-431C-B828-B549307507EE}">
  <ds:schemaRefs>
    <ds:schemaRef ds:uri="129b439c-d576-4abb-88d0-85f473d325b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DiCE_PowerPoint</Template>
  <TotalTime>0</TotalTime>
  <Words>4737</Words>
  <Application>Microsoft Office PowerPoint</Application>
  <PresentationFormat>Bildschirmpräsentation (4:3)</PresentationFormat>
  <Paragraphs>1098</Paragraphs>
  <Slides>74</Slides>
  <Notes>37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74</vt:i4>
      </vt:variant>
    </vt:vector>
  </HeadingPairs>
  <TitlesOfParts>
    <vt:vector size="82" baseType="lpstr">
      <vt:lpstr>Alwyn New Lt</vt:lpstr>
      <vt:lpstr>Arial</vt:lpstr>
      <vt:lpstr>Calibri</vt:lpstr>
      <vt:lpstr>Cambria Math</vt:lpstr>
      <vt:lpstr>Consolas</vt:lpstr>
      <vt:lpstr>Verdana</vt:lpstr>
      <vt:lpstr>Wingdings</vt:lpstr>
      <vt:lpstr>Larissa</vt:lpstr>
      <vt:lpstr>PowerPoint-Präsentation</vt:lpstr>
      <vt:lpstr>Gliederung</vt:lpstr>
      <vt:lpstr>PowerPoint-Präsentation</vt:lpstr>
      <vt:lpstr>Wozu Erklärbare KI?</vt:lpstr>
      <vt:lpstr>PowerPoint-Präsentation</vt:lpstr>
      <vt:lpstr>Allgemeine Begriffe</vt:lpstr>
      <vt:lpstr>Allgemeine Begriffe</vt:lpstr>
      <vt:lpstr>Allgemeine Begriffe</vt:lpstr>
      <vt:lpstr>Methodisch-spezifische Begriffe</vt:lpstr>
      <vt:lpstr>Methodisch-spezifische Begriffe</vt:lpstr>
      <vt:lpstr>Methodisch-spezifische Begriffe</vt:lpstr>
      <vt:lpstr>Methodisch-spezifische Begriffe</vt:lpstr>
      <vt:lpstr>PowerPoint-Präsentation</vt:lpstr>
      <vt:lpstr>Methodisches Vorgehen</vt:lpstr>
      <vt:lpstr>Methodisches Vorgehen</vt:lpstr>
      <vt:lpstr>Eingabe und Initialisierung </vt:lpstr>
      <vt:lpstr>Eingabe und Initialisierung </vt:lpstr>
      <vt:lpstr>Eingabe und Initialisierung </vt:lpstr>
      <vt:lpstr>Eingabe und Initialisierung </vt:lpstr>
      <vt:lpstr>Optimierung der Verlustfunktion</vt:lpstr>
      <vt:lpstr>Optimierung der Verlustfunktion</vt:lpstr>
      <vt:lpstr>Optimierung der Verlustfunktion</vt:lpstr>
      <vt:lpstr>Optimierung der Verlustfunktion</vt:lpstr>
      <vt:lpstr>Hinge-Loss-Funktion</vt:lpstr>
      <vt:lpstr>Proximität</vt:lpstr>
      <vt:lpstr>Proximität</vt:lpstr>
      <vt:lpstr>Proximität</vt:lpstr>
      <vt:lpstr>Proximität</vt:lpstr>
      <vt:lpstr>Diversität</vt:lpstr>
      <vt:lpstr>Diversität</vt:lpstr>
      <vt:lpstr>Diversität</vt:lpstr>
      <vt:lpstr>Diversität</vt:lpstr>
      <vt:lpstr>Optimierung der Verlustfunktion</vt:lpstr>
      <vt:lpstr>Nachbearbeitungsschritt</vt:lpstr>
      <vt:lpstr>Nachbearbeitungsschritt</vt:lpstr>
      <vt:lpstr>Nachbearbeitungsschritt</vt:lpstr>
      <vt:lpstr>PowerPoint-Präsentation</vt:lpstr>
      <vt:lpstr>Gültigkeitsmetrik</vt:lpstr>
      <vt:lpstr>Proximitätsmetrik</vt:lpstr>
      <vt:lpstr>Diversitätsmetrik</vt:lpstr>
      <vt:lpstr>PowerPoint-Präsentation</vt:lpstr>
      <vt:lpstr>Vergleich mit Baselines</vt:lpstr>
      <vt:lpstr>Vergleich mit Baselines</vt:lpstr>
      <vt:lpstr>PowerPoint-Präsentation</vt:lpstr>
      <vt:lpstr>Beispiel: Einkommensklassen</vt:lpstr>
      <vt:lpstr>Generierung ohne Beschränkungen</vt:lpstr>
      <vt:lpstr>Generierung ohne Beschränkungen</vt:lpstr>
      <vt:lpstr>Generierung ohne Beschränkungen</vt:lpstr>
      <vt:lpstr>Generierung ohne Beschränkungen</vt:lpstr>
      <vt:lpstr>Generierung mit Beschränkungen</vt:lpstr>
      <vt:lpstr>Generierung mit Beschränkungen</vt:lpstr>
      <vt:lpstr>Generierung mit Beschränkungen</vt:lpstr>
      <vt:lpstr>Evaluation des Beispiels</vt:lpstr>
      <vt:lpstr>PowerPoint-Präsentation</vt:lpstr>
      <vt:lpstr>Fazit</vt:lpstr>
      <vt:lpstr>PowerPoint-Präsentation</vt:lpstr>
      <vt:lpstr>Quellen</vt:lpstr>
      <vt:lpstr>PowerPoint-Präsentation</vt:lpstr>
      <vt:lpstr>PowerPoint-Präsentation</vt:lpstr>
      <vt:lpstr>Hinge-Loss-Funktion</vt:lpstr>
      <vt:lpstr>Logit</vt:lpstr>
      <vt:lpstr>Distanzen</vt:lpstr>
      <vt:lpstr>Proximitätsmetrik</vt:lpstr>
      <vt:lpstr>Sparsitätsmetrik</vt:lpstr>
      <vt:lpstr>Diversitätsmetrik</vt:lpstr>
      <vt:lpstr>Entscheidungsgrenze</vt:lpstr>
      <vt:lpstr>Entscheidungsgrenze</vt:lpstr>
      <vt:lpstr>Vergleich mit Baselines</vt:lpstr>
      <vt:lpstr>Vergleich mit LIME</vt:lpstr>
      <vt:lpstr>Beispiel: Einkommensklassen</vt:lpstr>
      <vt:lpstr>Vorbereitung der Daten</vt:lpstr>
      <vt:lpstr>Vorbereitung der Daten</vt:lpstr>
      <vt:lpstr>Evaluation des Beispiels</vt:lpstr>
      <vt:lpstr>Relevanz in der Praxis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Wagner</dc:creator>
  <cp:lastModifiedBy>Fabian Wagner</cp:lastModifiedBy>
  <cp:revision>9</cp:revision>
  <dcterms:created xsi:type="dcterms:W3CDTF">2026-01-25T16:37:55Z</dcterms:created>
  <dcterms:modified xsi:type="dcterms:W3CDTF">2026-01-27T00:06:56Z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0x01010042FBCCE5278A74449EB3DEA85EB9903C</vt:lpwstr>
  </property>
</Properties>
</file>