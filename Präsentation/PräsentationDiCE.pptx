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33_3CA4240C.xml" ContentType="application/vnd.ms-powerpoint.comments+xml"/>
  <Override PartName="/ppt/notesSlides/notesSlide2.xml" ContentType="application/vnd.openxmlformats-officedocument.presentationml.notesSlide+xml"/>
  <Override PartName="/ppt/comments/modernComment_10E_880F2747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5A_194088A0.xml" ContentType="application/vnd.ms-powerpoint.comments+xml"/>
  <Override PartName="/ppt/comments/modernComment_14B_169DEA6D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22_3092CC27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14_CD640DEB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modernComment_12A_3CD4E597.xml" ContentType="application/vnd.ms-powerpoint.comments+xml"/>
  <Override PartName="/ppt/comments/modernComment_125_6C1D7385.xml" ContentType="application/vnd.ms-powerpoint.comments+xml"/>
  <Override PartName="/ppt/comments/modernComment_12D_CF79E8FF.xml" ContentType="application/vnd.ms-powerpoint.comments+xml"/>
  <Override PartName="/ppt/comments/modernComment_13C_141A4103.xml" ContentType="application/vnd.ms-powerpoint.comments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1"/>
  </p:notesMasterIdLst>
  <p:handoutMasterIdLst>
    <p:handoutMasterId r:id="rId92"/>
  </p:handoutMasterIdLst>
  <p:sldIdLst>
    <p:sldId id="258" r:id="rId5"/>
    <p:sldId id="259" r:id="rId6"/>
    <p:sldId id="260" r:id="rId7"/>
    <p:sldId id="267" r:id="rId8"/>
    <p:sldId id="261" r:id="rId9"/>
    <p:sldId id="307" r:id="rId10"/>
    <p:sldId id="314" r:id="rId11"/>
    <p:sldId id="315" r:id="rId12"/>
    <p:sldId id="312" r:id="rId13"/>
    <p:sldId id="270" r:id="rId14"/>
    <p:sldId id="311" r:id="rId15"/>
    <p:sldId id="313" r:id="rId16"/>
    <p:sldId id="262" r:id="rId17"/>
    <p:sldId id="272" r:id="rId18"/>
    <p:sldId id="302" r:id="rId19"/>
    <p:sldId id="347" r:id="rId20"/>
    <p:sldId id="320" r:id="rId21"/>
    <p:sldId id="321" r:id="rId22"/>
    <p:sldId id="275" r:id="rId23"/>
    <p:sldId id="323" r:id="rId24"/>
    <p:sldId id="324" r:id="rId25"/>
    <p:sldId id="291" r:id="rId26"/>
    <p:sldId id="346" r:id="rId27"/>
    <p:sldId id="327" r:id="rId28"/>
    <p:sldId id="322" r:id="rId29"/>
    <p:sldId id="273" r:id="rId30"/>
    <p:sldId id="331" r:id="rId31"/>
    <p:sldId id="332" r:id="rId32"/>
    <p:sldId id="333" r:id="rId33"/>
    <p:sldId id="308" r:id="rId34"/>
    <p:sldId id="290" r:id="rId35"/>
    <p:sldId id="328" r:id="rId36"/>
    <p:sldId id="349" r:id="rId37"/>
    <p:sldId id="329" r:id="rId38"/>
    <p:sldId id="330" r:id="rId39"/>
    <p:sldId id="306" r:id="rId40"/>
    <p:sldId id="326" r:id="rId41"/>
    <p:sldId id="304" r:id="rId42"/>
    <p:sldId id="276" r:id="rId43"/>
    <p:sldId id="264" r:id="rId44"/>
    <p:sldId id="281" r:id="rId45"/>
    <p:sldId id="277" r:id="rId46"/>
    <p:sldId id="334" r:id="rId47"/>
    <p:sldId id="335" r:id="rId48"/>
    <p:sldId id="336" r:id="rId49"/>
    <p:sldId id="278" r:id="rId50"/>
    <p:sldId id="337" r:id="rId51"/>
    <p:sldId id="338" r:id="rId52"/>
    <p:sldId id="339" r:id="rId53"/>
    <p:sldId id="351" r:id="rId54"/>
    <p:sldId id="280" r:id="rId55"/>
    <p:sldId id="340" r:id="rId56"/>
    <p:sldId id="341" r:id="rId57"/>
    <p:sldId id="279" r:id="rId58"/>
    <p:sldId id="342" r:id="rId59"/>
    <p:sldId id="343" r:id="rId60"/>
    <p:sldId id="344" r:id="rId61"/>
    <p:sldId id="345" r:id="rId62"/>
    <p:sldId id="352" r:id="rId63"/>
    <p:sldId id="348" r:id="rId64"/>
    <p:sldId id="299" r:id="rId65"/>
    <p:sldId id="292" r:id="rId66"/>
    <p:sldId id="310" r:id="rId67"/>
    <p:sldId id="317" r:id="rId68"/>
    <p:sldId id="318" r:id="rId69"/>
    <p:sldId id="298" r:id="rId70"/>
    <p:sldId id="293" r:id="rId71"/>
    <p:sldId id="319" r:id="rId72"/>
    <p:sldId id="301" r:id="rId73"/>
    <p:sldId id="263" r:id="rId74"/>
    <p:sldId id="282" r:id="rId75"/>
    <p:sldId id="294" r:id="rId76"/>
    <p:sldId id="309" r:id="rId77"/>
    <p:sldId id="287" r:id="rId78"/>
    <p:sldId id="295" r:id="rId79"/>
    <p:sldId id="296" r:id="rId80"/>
    <p:sldId id="297" r:id="rId81"/>
    <p:sldId id="300" r:id="rId82"/>
    <p:sldId id="316" r:id="rId83"/>
    <p:sldId id="266" r:id="rId84"/>
    <p:sldId id="283" r:id="rId85"/>
    <p:sldId id="289" r:id="rId86"/>
    <p:sldId id="284" r:id="rId87"/>
    <p:sldId id="285" r:id="rId88"/>
    <p:sldId id="286" r:id="rId89"/>
    <p:sldId id="350" r:id="rId90"/>
  </p:sldIdLst>
  <p:sldSz cx="9144000" cy="6858000" type="screen4x3"/>
  <p:notesSz cx="6858000" cy="9144000"/>
  <p:photoAlbum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tandardabschnitt" id="{50FD0705-3419-4960-99B2-1DDFEDDB8B7A}">
          <p14:sldIdLst>
            <p14:sldId id="258"/>
            <p14:sldId id="259"/>
            <p14:sldId id="260"/>
            <p14:sldId id="267"/>
            <p14:sldId id="261"/>
            <p14:sldId id="307"/>
            <p14:sldId id="314"/>
            <p14:sldId id="315"/>
            <p14:sldId id="312"/>
            <p14:sldId id="270"/>
            <p14:sldId id="311"/>
            <p14:sldId id="313"/>
            <p14:sldId id="262"/>
            <p14:sldId id="272"/>
            <p14:sldId id="302"/>
            <p14:sldId id="347"/>
            <p14:sldId id="320"/>
            <p14:sldId id="321"/>
            <p14:sldId id="275"/>
            <p14:sldId id="323"/>
            <p14:sldId id="324"/>
            <p14:sldId id="291"/>
            <p14:sldId id="346"/>
            <p14:sldId id="327"/>
            <p14:sldId id="322"/>
            <p14:sldId id="273"/>
            <p14:sldId id="331"/>
            <p14:sldId id="332"/>
            <p14:sldId id="333"/>
            <p14:sldId id="308"/>
            <p14:sldId id="290"/>
            <p14:sldId id="328"/>
            <p14:sldId id="349"/>
            <p14:sldId id="329"/>
            <p14:sldId id="330"/>
            <p14:sldId id="306"/>
            <p14:sldId id="326"/>
            <p14:sldId id="304"/>
            <p14:sldId id="276"/>
            <p14:sldId id="264"/>
            <p14:sldId id="281"/>
            <p14:sldId id="277"/>
            <p14:sldId id="334"/>
            <p14:sldId id="335"/>
            <p14:sldId id="336"/>
            <p14:sldId id="278"/>
            <p14:sldId id="337"/>
            <p14:sldId id="338"/>
            <p14:sldId id="339"/>
            <p14:sldId id="351"/>
            <p14:sldId id="280"/>
            <p14:sldId id="340"/>
            <p14:sldId id="341"/>
            <p14:sldId id="279"/>
            <p14:sldId id="342"/>
            <p14:sldId id="343"/>
            <p14:sldId id="344"/>
            <p14:sldId id="345"/>
            <p14:sldId id="352"/>
            <p14:sldId id="348"/>
            <p14:sldId id="299"/>
            <p14:sldId id="292"/>
            <p14:sldId id="310"/>
            <p14:sldId id="317"/>
            <p14:sldId id="318"/>
            <p14:sldId id="298"/>
            <p14:sldId id="293"/>
            <p14:sldId id="319"/>
            <p14:sldId id="301"/>
            <p14:sldId id="263"/>
            <p14:sldId id="282"/>
            <p14:sldId id="294"/>
            <p14:sldId id="309"/>
            <p14:sldId id="287"/>
            <p14:sldId id="295"/>
            <p14:sldId id="296"/>
            <p14:sldId id="297"/>
            <p14:sldId id="300"/>
            <p14:sldId id="316"/>
            <p14:sldId id="266"/>
            <p14:sldId id="283"/>
            <p14:sldId id="289"/>
            <p14:sldId id="284"/>
            <p14:sldId id="285"/>
            <p14:sldId id="286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30A6AB-B03F-A11E-ACAA-2AC5A860AE02}" name="Fabian Wagner" initials="FW" userId="S::fbwg3744@hochschule-trier.de::ffd9bb6a-040a-48d0-adba-33b5dc0862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E0E0E0"/>
    <a:srgbClr val="A9A9A9"/>
    <a:srgbClr val="191919"/>
    <a:srgbClr val="FF0000"/>
    <a:srgbClr val="115E67"/>
    <a:srgbClr val="BE531C"/>
    <a:srgbClr val="D9C756"/>
    <a:srgbClr val="8FD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BEA70-523A-417E-BED5-9F91452165B7}" v="186" dt="2026-01-25T21:21:56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4" autoAdjust="0"/>
  </p:normalViewPr>
  <p:slideViewPr>
    <p:cSldViewPr showGuides="1">
      <p:cViewPr varScale="1">
        <p:scale>
          <a:sx n="82" d="100"/>
          <a:sy n="82" d="100"/>
        </p:scale>
        <p:origin x="65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2467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presProps" Target="presProps.xml"/><Relationship Id="rId98" Type="http://schemas.microsoft.com/office/2018/10/relationships/authors" Target="authors.xml"/></Relationships>
</file>

<file path=ppt/comments/modernComment_10E_880F27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CE5FBF-7AEE-4B63-9566-ACCF6D97F462}" authorId="{7A30A6AB-B03F-A11E-ACAA-2AC5A860AE02}" created="2026-01-23T12:06:38.0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82694471" sldId="270"/>
      <ac:spMk id="2" creationId="{05D436CD-3A02-14B5-FE39-E4EB774C0B11}"/>
    </ac:deMkLst>
    <p188:txBody>
      <a:bodyPr/>
      <a:lstStyle/>
      <a:p>
        <a:r>
          <a:rPr lang="de-DE"/>
          <a:t>r</a:t>
        </a:r>
      </a:p>
    </p188:txBody>
  </p188:cm>
</p188:cmLst>
</file>

<file path=ppt/comments/modernComment_12A_3CD4E5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B82407-8739-4F22-BC57-B13A4F502602}" authorId="{7A30A6AB-B03F-A11E-ACAA-2AC5A860AE02}" created="2026-01-21T16:57:15.463">
    <pc:sldMkLst xmlns:pc="http://schemas.microsoft.com/office/powerpoint/2013/main/command">
      <pc:docMk/>
      <pc:sldMk cId="1020585367" sldId="298"/>
    </pc:sldMkLst>
    <p188:txBody>
      <a:bodyPr/>
      <a:lstStyle/>
      <a:p>
        <a:r>
          <a:rPr lang="de-DE"/>
          <a:t>Welche vorstellen und welche raus?
</a:t>
        </a:r>
      </a:p>
    </p188:txBody>
  </p188:cm>
</p188:cmLst>
</file>

<file path=ppt/comments/modernComment_12D_CF79E8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1A4600-434C-4ACB-8100-37F236961531}" authorId="{7A30A6AB-B03F-A11E-ACAA-2AC5A860AE02}" created="2026-01-23T12:27:44.382">
    <pc:sldMkLst xmlns:pc="http://schemas.microsoft.com/office/powerpoint/2013/main/command">
      <pc:docMk/>
      <pc:sldMk cId="3480873215" sldId="301"/>
    </pc:sldMkLst>
    <p188:txBody>
      <a:bodyPr/>
      <a:lstStyle/>
      <a:p>
        <a:r>
          <a:rPr lang="de-DE"/>
          <a:t>1nn klassifiaktor erklären </a:t>
        </a:r>
      </a:p>
    </p188:txBody>
  </p188:cm>
</p188:cmLst>
</file>

<file path=ppt/comments/modernComment_13C_141A41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492C7B-00EA-4F07-A902-D90BC58A0876}" authorId="{7A30A6AB-B03F-A11E-ACAA-2AC5A860AE02}" created="2026-01-25T21:22:37.511">
    <pc:sldMkLst xmlns:pc="http://schemas.microsoft.com/office/powerpoint/2013/main/command">
      <pc:docMk/>
      <pc:sldMk cId="337264899" sldId="316"/>
    </pc:sldMkLst>
    <p188:txBody>
      <a:bodyPr/>
      <a:lstStyle/>
      <a:p>
        <a:r>
          <a:rPr lang="de-DE"/>
          <a:t>Nicht benutzte zeilen ausblenden?</a:t>
        </a:r>
      </a:p>
    </p188:txBody>
  </p188:cm>
</p188:cmLst>
</file>

<file path=ppt/comments/modernComment_14B_169DEA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CF4BF0-C88B-4255-887C-A5BCA7B049E5}" authorId="{7A30A6AB-B03F-A11E-ACAA-2AC5A860AE02}" created="2026-01-26T10:10:42.833">
    <pc:sldMkLst xmlns:pc="http://schemas.microsoft.com/office/powerpoint/2013/main/command">
      <pc:docMk/>
      <pc:sldMk cId="379447917" sldId="331"/>
    </pc:sldMkLst>
    <p188:txBody>
      <a:bodyPr/>
      <a:lstStyle/>
      <a:p>
        <a:r>
          <a:rPr lang="de-DE"/>
          <a:t>Dist beschreiben durch distcat und distcont</a:t>
        </a:r>
      </a:p>
    </p188:txBody>
  </p188:cm>
</p188:cmLst>
</file>

<file path=ppt/comments/modernComment_15A_194088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DCA786-8312-4EB7-B1D7-5A1EDA0084A4}" authorId="{7A30A6AB-B03F-A11E-ACAA-2AC5A860AE02}" created="2026-01-26T10:00:55.3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3659680" sldId="346"/>
      <ac:picMk id="10" creationId="{2C0C91AC-67B2-81D7-0872-B8AAF8F23D2E}"/>
    </ac:deMkLst>
    <p188:txBody>
      <a:bodyPr/>
      <a:lstStyle/>
      <a:p>
        <a:r>
          <a:rPr lang="de-DE"/>
          <a:t>Rechts klammer mit „keine bestrafung“</a:t>
        </a:r>
      </a:p>
    </p188:txBody>
  </p188:cm>
</p188:cmLst>
</file>

<file path=ppt/comments/modernComment_114_CD640D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320B88-5C3B-4CEB-9094-1E3CF9E5D961}" authorId="{7A30A6AB-B03F-A11E-ACAA-2AC5A860AE02}" created="2026-01-21T16:24:36.3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5886443" sldId="276"/>
      <ac:spMk id="2" creationId="{84A8621C-A814-87B0-7B15-AFD5B399355D}"/>
    </ac:deMkLst>
    <p188:replyLst>
      <p188:reply id="{BFA243B8-BA5E-4660-AA4E-A929F99AEA19}" authorId="{7A30A6AB-B03F-A11E-ACAA-2AC5A860AE02}" created="2026-01-26T10:40:23.911">
        <p188:txBody>
          <a:bodyPr/>
          <a:lstStyle/>
          <a:p>
            <a:r>
              <a:rPr lang="de-DE"/>
              <a:t>JA</a:t>
            </a:r>
          </a:p>
        </p188:txBody>
      </p188:reply>
    </p188:replyLst>
    <p188:txBody>
      <a:bodyPr/>
      <a:lstStyle/>
      <a:p>
        <a:r>
          <a:rPr lang="de-DE"/>
          <a:t>Beispiel?</a:t>
        </a:r>
      </a:p>
    </p188:txBody>
  </p188:cm>
</p188:cmLst>
</file>

<file path=ppt/comments/modernComment_122_3092CC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597FA4-DF0C-4A86-B1CF-6D9EAE8C44D4}" authorId="{7A30A6AB-B03F-A11E-ACAA-2AC5A860AE02}" created="2026-01-23T22:18:03.4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14926887" sldId="290"/>
      <ac:spMk id="2" creationId="{E2CC5926-4710-FCEC-C91F-4583982A51FA}"/>
    </ac:deMkLst>
    <p188:txBody>
      <a:bodyPr/>
      <a:lstStyle/>
      <a:p>
        <a:r>
          <a:rPr lang="de-DE"/>
          <a:t>Beispiel für K?</a:t>
        </a:r>
      </a:p>
    </p188:txBody>
  </p188:cm>
</p188:cmLst>
</file>

<file path=ppt/comments/modernComment_125_6C1D73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B06DAD-0852-46E0-8BB3-1116BA7E8227}" authorId="{7A30A6AB-B03F-A11E-ACAA-2AC5A860AE02}" created="2026-01-25T13:12:41.030">
    <pc:sldMkLst xmlns:pc="http://schemas.microsoft.com/office/powerpoint/2013/main/command">
      <pc:docMk/>
      <pc:sldMk cId="1813869445" sldId="293"/>
    </pc:sldMkLst>
    <p188:txBody>
      <a:bodyPr/>
      <a:lstStyle/>
      <a:p>
        <a:r>
          <a:rPr lang="de-DE"/>
          <a:t>1nn model??????</a:t>
        </a:r>
      </a:p>
    </p188:txBody>
  </p188:cm>
</p188:cmLst>
</file>

<file path=ppt/comments/modernComment_133_3CA424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917D7B-757D-4D16-AEFE-1864003787BC}" authorId="{7A30A6AB-B03F-A11E-ACAA-2AC5A860AE02}" created="2026-01-23T11:16:46.4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17390092" sldId="307"/>
      <ac:spMk id="9" creationId="{82BC4E12-9D29-BE3C-1FCE-CDCC4959535B}"/>
    </ac:deMkLst>
    <p188:replyLst>
      <p188:reply id="{0E3CBE38-F78E-4AEF-A92C-067A7B3304E8}" authorId="{7A30A6AB-B03F-A11E-ACAA-2AC5A860AE02}" created="2026-01-23T11:17:00.474">
        <p188:txBody>
          <a:bodyPr/>
          <a:lstStyle/>
          <a:p>
            <a:r>
              <a:rPr lang="de-DE"/>
              <a:t>Black boc hier raus</a:t>
            </a:r>
          </a:p>
        </p188:txBody>
      </p188:reply>
      <p188:reply id="{6CA4CFBD-18C1-4C43-BAE5-B5385DAB3A64}" authorId="{7A30A6AB-B03F-A11E-ACAA-2AC5A860AE02}" created="2026-01-23T11:17:23.264">
        <p188:txBody>
          <a:bodyPr/>
          <a:lstStyle/>
          <a:p>
            <a:r>
              <a:rPr lang="de-DE"/>
              <a:t>ML allgemien und einschränkung auf Klassifiaktion für dice erwähnen</a:t>
            </a:r>
          </a:p>
        </p188:txBody>
      </p188:reply>
    </p188:replyLst>
    <p188:txBody>
      <a:bodyPr/>
      <a:lstStyle/>
      <a:p>
        <a:r>
          <a:rPr lang="de-DE"/>
          <a:t>Abbildung allgemein machen (Feature 1, Feature2, …, Feature n) usw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7438FC-81BB-42F7-A3E7-3C0E65B26295}" type="doc">
      <dgm:prSet loTypeId="urn:microsoft.com/office/officeart/2005/8/layout/process4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A045734F-A0FB-4D48-AFA5-5DA8DDD6DB0D}">
      <dgm:prSet/>
      <dgm:spPr/>
      <dgm:t>
        <a:bodyPr/>
        <a:lstStyle/>
        <a:p>
          <a:r>
            <a:rPr lang="de-DE" dirty="0"/>
            <a:t>Motivation</a:t>
          </a:r>
          <a:endParaRPr lang="en-US" dirty="0"/>
        </a:p>
      </dgm:t>
    </dgm:pt>
    <dgm:pt modelId="{C0D67919-FCC5-4A54-AE77-927184615A89}" type="parTrans" cxnId="{181A8884-F698-4E7E-8BF5-13B3BD990B31}">
      <dgm:prSet/>
      <dgm:spPr/>
      <dgm:t>
        <a:bodyPr/>
        <a:lstStyle/>
        <a:p>
          <a:endParaRPr lang="en-US"/>
        </a:p>
      </dgm:t>
    </dgm:pt>
    <dgm:pt modelId="{5037B136-158B-474D-87D1-775847BC2266}" type="sibTrans" cxnId="{181A8884-F698-4E7E-8BF5-13B3BD990B31}">
      <dgm:prSet/>
      <dgm:spPr/>
      <dgm:t>
        <a:bodyPr/>
        <a:lstStyle/>
        <a:p>
          <a:endParaRPr lang="en-US"/>
        </a:p>
      </dgm:t>
    </dgm:pt>
    <dgm:pt modelId="{9F9E7638-DB47-4060-9D09-29CA06F59E0F}">
      <dgm:prSet/>
      <dgm:spPr/>
      <dgm:t>
        <a:bodyPr/>
        <a:lstStyle/>
        <a:p>
          <a:r>
            <a:rPr lang="de-DE" dirty="0"/>
            <a:t>Grundlegende Begriffe</a:t>
          </a:r>
          <a:endParaRPr lang="en-US" dirty="0"/>
        </a:p>
      </dgm:t>
    </dgm:pt>
    <dgm:pt modelId="{78984E2A-C4DA-4994-A98B-E96D17F23AC8}" type="parTrans" cxnId="{67710913-566F-4F26-8020-68696C74A726}">
      <dgm:prSet/>
      <dgm:spPr/>
      <dgm:t>
        <a:bodyPr/>
        <a:lstStyle/>
        <a:p>
          <a:endParaRPr lang="en-US"/>
        </a:p>
      </dgm:t>
    </dgm:pt>
    <dgm:pt modelId="{12D3103E-DB93-406D-A556-2D44DDAD8BCA}" type="sibTrans" cxnId="{67710913-566F-4F26-8020-68696C74A726}">
      <dgm:prSet/>
      <dgm:spPr/>
      <dgm:t>
        <a:bodyPr/>
        <a:lstStyle/>
        <a:p>
          <a:endParaRPr lang="en-US"/>
        </a:p>
      </dgm:t>
    </dgm:pt>
    <dgm:pt modelId="{C4CE84BC-6124-46DD-90D1-2EF565F97AD0}">
      <dgm:prSet/>
      <dgm:spPr/>
      <dgm:t>
        <a:bodyPr/>
        <a:lstStyle/>
        <a:p>
          <a:r>
            <a:rPr lang="de-DE"/>
            <a:t>Methodisches Vorgehen</a:t>
          </a:r>
          <a:endParaRPr lang="en-US"/>
        </a:p>
      </dgm:t>
    </dgm:pt>
    <dgm:pt modelId="{B974227A-9DF6-4FA0-B5AC-DB96F39EB4F1}" type="parTrans" cxnId="{9CA7F384-7133-4F9B-9B6F-1DBC76C61CAF}">
      <dgm:prSet/>
      <dgm:spPr/>
      <dgm:t>
        <a:bodyPr/>
        <a:lstStyle/>
        <a:p>
          <a:endParaRPr lang="en-US"/>
        </a:p>
      </dgm:t>
    </dgm:pt>
    <dgm:pt modelId="{A52D2FE0-CC43-41B0-8E0D-4BBE753D8C8D}" type="sibTrans" cxnId="{9CA7F384-7133-4F9B-9B6F-1DBC76C61CAF}">
      <dgm:prSet/>
      <dgm:spPr/>
      <dgm:t>
        <a:bodyPr/>
        <a:lstStyle/>
        <a:p>
          <a:endParaRPr lang="en-US"/>
        </a:p>
      </dgm:t>
    </dgm:pt>
    <dgm:pt modelId="{F0A25E2D-DD53-413F-83CD-08737F018925}">
      <dgm:prSet/>
      <dgm:spPr/>
      <dgm:t>
        <a:bodyPr/>
        <a:lstStyle/>
        <a:p>
          <a:r>
            <a:rPr lang="de-DE" dirty="0"/>
            <a:t>Evaluationsmetriken</a:t>
          </a:r>
          <a:endParaRPr lang="en-US" dirty="0"/>
        </a:p>
      </dgm:t>
    </dgm:pt>
    <dgm:pt modelId="{D72A87CC-3688-4A26-BFD6-3189241F62EB}" type="parTrans" cxnId="{15E3BC1E-F70E-4A77-9F79-AC9F33FA199E}">
      <dgm:prSet/>
      <dgm:spPr/>
      <dgm:t>
        <a:bodyPr/>
        <a:lstStyle/>
        <a:p>
          <a:endParaRPr lang="en-US"/>
        </a:p>
      </dgm:t>
    </dgm:pt>
    <dgm:pt modelId="{31323ECA-E8B2-4751-BBD5-D802FBDB084D}" type="sibTrans" cxnId="{15E3BC1E-F70E-4A77-9F79-AC9F33FA199E}">
      <dgm:prSet/>
      <dgm:spPr/>
      <dgm:t>
        <a:bodyPr/>
        <a:lstStyle/>
        <a:p>
          <a:endParaRPr lang="en-US"/>
        </a:p>
      </dgm:t>
    </dgm:pt>
    <dgm:pt modelId="{436F3BEA-733B-428F-83D0-AF9D165D4FBE}">
      <dgm:prSet/>
      <dgm:spPr/>
      <dgm:t>
        <a:bodyPr/>
        <a:lstStyle/>
        <a:p>
          <a:r>
            <a:rPr lang="de-DE"/>
            <a:t>Ergebnisse</a:t>
          </a:r>
          <a:endParaRPr lang="en-US"/>
        </a:p>
      </dgm:t>
    </dgm:pt>
    <dgm:pt modelId="{9C1CD328-6F26-4CDE-A849-540A56558E37}" type="parTrans" cxnId="{82EDDD55-B5E7-4902-B329-72B87E6FF17C}">
      <dgm:prSet/>
      <dgm:spPr/>
      <dgm:t>
        <a:bodyPr/>
        <a:lstStyle/>
        <a:p>
          <a:endParaRPr lang="en-US"/>
        </a:p>
      </dgm:t>
    </dgm:pt>
    <dgm:pt modelId="{5D9FC391-1FC7-4801-8D32-9134309BF7F0}" type="sibTrans" cxnId="{82EDDD55-B5E7-4902-B329-72B87E6FF17C}">
      <dgm:prSet/>
      <dgm:spPr/>
      <dgm:t>
        <a:bodyPr/>
        <a:lstStyle/>
        <a:p>
          <a:endParaRPr lang="en-US"/>
        </a:p>
      </dgm:t>
    </dgm:pt>
    <dgm:pt modelId="{DA03F4B2-E8F7-4D14-BB6D-E87235401103}">
      <dgm:prSet/>
      <dgm:spPr/>
      <dgm:t>
        <a:bodyPr/>
        <a:lstStyle/>
        <a:p>
          <a:r>
            <a:rPr lang="de-DE" dirty="0"/>
            <a:t>Anwendung in der Praxis</a:t>
          </a:r>
          <a:endParaRPr lang="en-US" dirty="0"/>
        </a:p>
      </dgm:t>
    </dgm:pt>
    <dgm:pt modelId="{F800F8D8-76A4-44AB-B6AE-ECE200687B4B}" type="parTrans" cxnId="{8F631410-170B-4EE8-8D51-82C318D9DD6D}">
      <dgm:prSet/>
      <dgm:spPr/>
      <dgm:t>
        <a:bodyPr/>
        <a:lstStyle/>
        <a:p>
          <a:endParaRPr lang="en-US"/>
        </a:p>
      </dgm:t>
    </dgm:pt>
    <dgm:pt modelId="{D9B2F0D9-B1D8-4038-B1B6-75CA93893F75}" type="sibTrans" cxnId="{8F631410-170B-4EE8-8D51-82C318D9DD6D}">
      <dgm:prSet/>
      <dgm:spPr/>
      <dgm:t>
        <a:bodyPr/>
        <a:lstStyle/>
        <a:p>
          <a:endParaRPr lang="en-US"/>
        </a:p>
      </dgm:t>
    </dgm:pt>
    <dgm:pt modelId="{01EC5E86-D80D-4901-9F52-CD4A4DB3B3AA}">
      <dgm:prSet/>
      <dgm:spPr/>
      <dgm:t>
        <a:bodyPr/>
        <a:lstStyle/>
        <a:p>
          <a:r>
            <a:rPr lang="de-DE"/>
            <a:t>Fazit</a:t>
          </a:r>
          <a:endParaRPr lang="en-US"/>
        </a:p>
      </dgm:t>
    </dgm:pt>
    <dgm:pt modelId="{6A6312BC-95CF-4762-9F97-37207A3BE9A3}" type="parTrans" cxnId="{B01F5F72-9BDF-41F1-BBD5-09D9A634E87E}">
      <dgm:prSet/>
      <dgm:spPr/>
      <dgm:t>
        <a:bodyPr/>
        <a:lstStyle/>
        <a:p>
          <a:endParaRPr lang="en-US"/>
        </a:p>
      </dgm:t>
    </dgm:pt>
    <dgm:pt modelId="{F00157A2-0141-45EB-8776-8EE5FB40B6CB}" type="sibTrans" cxnId="{B01F5F72-9BDF-41F1-BBD5-09D9A634E87E}">
      <dgm:prSet/>
      <dgm:spPr/>
      <dgm:t>
        <a:bodyPr/>
        <a:lstStyle/>
        <a:p>
          <a:endParaRPr lang="en-US"/>
        </a:p>
      </dgm:t>
    </dgm:pt>
    <dgm:pt modelId="{CEB194BA-6083-47CC-94C1-EFFF53BB8100}" type="pres">
      <dgm:prSet presAssocID="{767438FC-81BB-42F7-A3E7-3C0E65B26295}" presName="Name0" presStyleCnt="0">
        <dgm:presLayoutVars>
          <dgm:dir/>
          <dgm:animLvl val="lvl"/>
          <dgm:resizeHandles val="exact"/>
        </dgm:presLayoutVars>
      </dgm:prSet>
      <dgm:spPr/>
    </dgm:pt>
    <dgm:pt modelId="{1444ECAF-CC7D-4469-99DF-D897E48E9162}" type="pres">
      <dgm:prSet presAssocID="{01EC5E86-D80D-4901-9F52-CD4A4DB3B3AA}" presName="boxAndChildren" presStyleCnt="0"/>
      <dgm:spPr/>
    </dgm:pt>
    <dgm:pt modelId="{CCF32805-E224-40BF-8371-68DF3BA062EA}" type="pres">
      <dgm:prSet presAssocID="{01EC5E86-D80D-4901-9F52-CD4A4DB3B3AA}" presName="parentTextBox" presStyleLbl="node1" presStyleIdx="0" presStyleCnt="7"/>
      <dgm:spPr/>
    </dgm:pt>
    <dgm:pt modelId="{BD2FCC49-8956-46F1-9304-285C8469F694}" type="pres">
      <dgm:prSet presAssocID="{D9B2F0D9-B1D8-4038-B1B6-75CA93893F75}" presName="sp" presStyleCnt="0"/>
      <dgm:spPr/>
    </dgm:pt>
    <dgm:pt modelId="{1C482EB2-02E3-4AA0-A2DA-5CDB5E85818D}" type="pres">
      <dgm:prSet presAssocID="{DA03F4B2-E8F7-4D14-BB6D-E87235401103}" presName="arrowAndChildren" presStyleCnt="0"/>
      <dgm:spPr/>
    </dgm:pt>
    <dgm:pt modelId="{C7FC3A89-56B8-421A-AD7B-933CC37C4410}" type="pres">
      <dgm:prSet presAssocID="{DA03F4B2-E8F7-4D14-BB6D-E87235401103}" presName="parentTextArrow" presStyleLbl="node1" presStyleIdx="1" presStyleCnt="7"/>
      <dgm:spPr/>
    </dgm:pt>
    <dgm:pt modelId="{3B559B69-E128-4885-9D46-FB0B7FF54AF7}" type="pres">
      <dgm:prSet presAssocID="{5D9FC391-1FC7-4801-8D32-9134309BF7F0}" presName="sp" presStyleCnt="0"/>
      <dgm:spPr/>
    </dgm:pt>
    <dgm:pt modelId="{10BB1080-0A1E-4A0F-A3C9-76BFBB680B85}" type="pres">
      <dgm:prSet presAssocID="{436F3BEA-733B-428F-83D0-AF9D165D4FBE}" presName="arrowAndChildren" presStyleCnt="0"/>
      <dgm:spPr/>
    </dgm:pt>
    <dgm:pt modelId="{F307CF98-58B8-49A3-ABA7-B1D4B657D908}" type="pres">
      <dgm:prSet presAssocID="{436F3BEA-733B-428F-83D0-AF9D165D4FBE}" presName="parentTextArrow" presStyleLbl="node1" presStyleIdx="2" presStyleCnt="7"/>
      <dgm:spPr/>
    </dgm:pt>
    <dgm:pt modelId="{CCE1A756-631B-41AF-8D83-4AB9DC547001}" type="pres">
      <dgm:prSet presAssocID="{31323ECA-E8B2-4751-BBD5-D802FBDB084D}" presName="sp" presStyleCnt="0"/>
      <dgm:spPr/>
    </dgm:pt>
    <dgm:pt modelId="{5EFCFC99-7C89-41C1-A448-EF6211FEF7D9}" type="pres">
      <dgm:prSet presAssocID="{F0A25E2D-DD53-413F-83CD-08737F018925}" presName="arrowAndChildren" presStyleCnt="0"/>
      <dgm:spPr/>
    </dgm:pt>
    <dgm:pt modelId="{293C74C6-726F-4A3E-A5C1-7CB9379331B3}" type="pres">
      <dgm:prSet presAssocID="{F0A25E2D-DD53-413F-83CD-08737F018925}" presName="parentTextArrow" presStyleLbl="node1" presStyleIdx="3" presStyleCnt="7"/>
      <dgm:spPr/>
    </dgm:pt>
    <dgm:pt modelId="{F2FAD2FE-D120-4EDF-9E66-66802D5C7C66}" type="pres">
      <dgm:prSet presAssocID="{A52D2FE0-CC43-41B0-8E0D-4BBE753D8C8D}" presName="sp" presStyleCnt="0"/>
      <dgm:spPr/>
    </dgm:pt>
    <dgm:pt modelId="{15628686-25E6-4DC0-A5EA-D213CF1471EB}" type="pres">
      <dgm:prSet presAssocID="{C4CE84BC-6124-46DD-90D1-2EF565F97AD0}" presName="arrowAndChildren" presStyleCnt="0"/>
      <dgm:spPr/>
    </dgm:pt>
    <dgm:pt modelId="{65E1CD79-E15B-40D6-8AC7-45B02FEFF2D9}" type="pres">
      <dgm:prSet presAssocID="{C4CE84BC-6124-46DD-90D1-2EF565F97AD0}" presName="parentTextArrow" presStyleLbl="node1" presStyleIdx="4" presStyleCnt="7"/>
      <dgm:spPr/>
    </dgm:pt>
    <dgm:pt modelId="{22C27556-72D1-4746-83C1-374A51E8CDC9}" type="pres">
      <dgm:prSet presAssocID="{12D3103E-DB93-406D-A556-2D44DDAD8BCA}" presName="sp" presStyleCnt="0"/>
      <dgm:spPr/>
    </dgm:pt>
    <dgm:pt modelId="{5FF997ED-433B-4F29-8C50-B673F43ACB81}" type="pres">
      <dgm:prSet presAssocID="{9F9E7638-DB47-4060-9D09-29CA06F59E0F}" presName="arrowAndChildren" presStyleCnt="0"/>
      <dgm:spPr/>
    </dgm:pt>
    <dgm:pt modelId="{A58AA0B5-1089-47C6-BFBF-756285DCF4B9}" type="pres">
      <dgm:prSet presAssocID="{9F9E7638-DB47-4060-9D09-29CA06F59E0F}" presName="parentTextArrow" presStyleLbl="node1" presStyleIdx="5" presStyleCnt="7"/>
      <dgm:spPr/>
    </dgm:pt>
    <dgm:pt modelId="{B3B417F3-C2B0-4FF8-B062-A58E1B7486AB}" type="pres">
      <dgm:prSet presAssocID="{5037B136-158B-474D-87D1-775847BC2266}" presName="sp" presStyleCnt="0"/>
      <dgm:spPr/>
    </dgm:pt>
    <dgm:pt modelId="{F11F4703-D78F-428A-8708-F2BD2A31F5D2}" type="pres">
      <dgm:prSet presAssocID="{A045734F-A0FB-4D48-AFA5-5DA8DDD6DB0D}" presName="arrowAndChildren" presStyleCnt="0"/>
      <dgm:spPr/>
    </dgm:pt>
    <dgm:pt modelId="{FCC67992-539F-4ABB-BD01-388E8633189D}" type="pres">
      <dgm:prSet presAssocID="{A045734F-A0FB-4D48-AFA5-5DA8DDD6DB0D}" presName="parentTextArrow" presStyleLbl="node1" presStyleIdx="6" presStyleCnt="7"/>
      <dgm:spPr/>
    </dgm:pt>
  </dgm:ptLst>
  <dgm:cxnLst>
    <dgm:cxn modelId="{8F631410-170B-4EE8-8D51-82C318D9DD6D}" srcId="{767438FC-81BB-42F7-A3E7-3C0E65B26295}" destId="{DA03F4B2-E8F7-4D14-BB6D-E87235401103}" srcOrd="5" destOrd="0" parTransId="{F800F8D8-76A4-44AB-B6AE-ECE200687B4B}" sibTransId="{D9B2F0D9-B1D8-4038-B1B6-75CA93893F75}"/>
    <dgm:cxn modelId="{67710913-566F-4F26-8020-68696C74A726}" srcId="{767438FC-81BB-42F7-A3E7-3C0E65B26295}" destId="{9F9E7638-DB47-4060-9D09-29CA06F59E0F}" srcOrd="1" destOrd="0" parTransId="{78984E2A-C4DA-4994-A98B-E96D17F23AC8}" sibTransId="{12D3103E-DB93-406D-A556-2D44DDAD8BCA}"/>
    <dgm:cxn modelId="{15E3BC1E-F70E-4A77-9F79-AC9F33FA199E}" srcId="{767438FC-81BB-42F7-A3E7-3C0E65B26295}" destId="{F0A25E2D-DD53-413F-83CD-08737F018925}" srcOrd="3" destOrd="0" parTransId="{D72A87CC-3688-4A26-BFD6-3189241F62EB}" sibTransId="{31323ECA-E8B2-4751-BBD5-D802FBDB084D}"/>
    <dgm:cxn modelId="{E93C1D22-A802-4DB9-8C86-2666AC083B9E}" type="presOf" srcId="{A045734F-A0FB-4D48-AFA5-5DA8DDD6DB0D}" destId="{FCC67992-539F-4ABB-BD01-388E8633189D}" srcOrd="0" destOrd="0" presId="urn:microsoft.com/office/officeart/2005/8/layout/process4"/>
    <dgm:cxn modelId="{DB5F622A-A298-4B0B-AA05-D79253391FF2}" type="presOf" srcId="{01EC5E86-D80D-4901-9F52-CD4A4DB3B3AA}" destId="{CCF32805-E224-40BF-8371-68DF3BA062EA}" srcOrd="0" destOrd="0" presId="urn:microsoft.com/office/officeart/2005/8/layout/process4"/>
    <dgm:cxn modelId="{B01F5F72-9BDF-41F1-BBD5-09D9A634E87E}" srcId="{767438FC-81BB-42F7-A3E7-3C0E65B26295}" destId="{01EC5E86-D80D-4901-9F52-CD4A4DB3B3AA}" srcOrd="6" destOrd="0" parTransId="{6A6312BC-95CF-4762-9F97-37207A3BE9A3}" sibTransId="{F00157A2-0141-45EB-8776-8EE5FB40B6CB}"/>
    <dgm:cxn modelId="{5808FC72-409F-405A-A612-E59E615B9B67}" type="presOf" srcId="{767438FC-81BB-42F7-A3E7-3C0E65B26295}" destId="{CEB194BA-6083-47CC-94C1-EFFF53BB8100}" srcOrd="0" destOrd="0" presId="urn:microsoft.com/office/officeart/2005/8/layout/process4"/>
    <dgm:cxn modelId="{D4BF1D54-F688-4B61-B434-96E5B25F8C2D}" type="presOf" srcId="{436F3BEA-733B-428F-83D0-AF9D165D4FBE}" destId="{F307CF98-58B8-49A3-ABA7-B1D4B657D908}" srcOrd="0" destOrd="0" presId="urn:microsoft.com/office/officeart/2005/8/layout/process4"/>
    <dgm:cxn modelId="{82EDDD55-B5E7-4902-B329-72B87E6FF17C}" srcId="{767438FC-81BB-42F7-A3E7-3C0E65B26295}" destId="{436F3BEA-733B-428F-83D0-AF9D165D4FBE}" srcOrd="4" destOrd="0" parTransId="{9C1CD328-6F26-4CDE-A849-540A56558E37}" sibTransId="{5D9FC391-1FC7-4801-8D32-9134309BF7F0}"/>
    <dgm:cxn modelId="{81DE657B-5E94-4D90-B578-7EEED8E487CB}" type="presOf" srcId="{DA03F4B2-E8F7-4D14-BB6D-E87235401103}" destId="{C7FC3A89-56B8-421A-AD7B-933CC37C4410}" srcOrd="0" destOrd="0" presId="urn:microsoft.com/office/officeart/2005/8/layout/process4"/>
    <dgm:cxn modelId="{181A8884-F698-4E7E-8BF5-13B3BD990B31}" srcId="{767438FC-81BB-42F7-A3E7-3C0E65B26295}" destId="{A045734F-A0FB-4D48-AFA5-5DA8DDD6DB0D}" srcOrd="0" destOrd="0" parTransId="{C0D67919-FCC5-4A54-AE77-927184615A89}" sibTransId="{5037B136-158B-474D-87D1-775847BC2266}"/>
    <dgm:cxn modelId="{9CA7F384-7133-4F9B-9B6F-1DBC76C61CAF}" srcId="{767438FC-81BB-42F7-A3E7-3C0E65B26295}" destId="{C4CE84BC-6124-46DD-90D1-2EF565F97AD0}" srcOrd="2" destOrd="0" parTransId="{B974227A-9DF6-4FA0-B5AC-DB96F39EB4F1}" sibTransId="{A52D2FE0-CC43-41B0-8E0D-4BBE753D8C8D}"/>
    <dgm:cxn modelId="{D2CA1095-E804-44EC-9D5D-AA57BE2EF501}" type="presOf" srcId="{F0A25E2D-DD53-413F-83CD-08737F018925}" destId="{293C74C6-726F-4A3E-A5C1-7CB9379331B3}" srcOrd="0" destOrd="0" presId="urn:microsoft.com/office/officeart/2005/8/layout/process4"/>
    <dgm:cxn modelId="{21232BDB-89C3-44F1-A58F-8BE4AAF069CB}" type="presOf" srcId="{C4CE84BC-6124-46DD-90D1-2EF565F97AD0}" destId="{65E1CD79-E15B-40D6-8AC7-45B02FEFF2D9}" srcOrd="0" destOrd="0" presId="urn:microsoft.com/office/officeart/2005/8/layout/process4"/>
    <dgm:cxn modelId="{F51369F9-516F-4E09-8BD9-00519BF03836}" type="presOf" srcId="{9F9E7638-DB47-4060-9D09-29CA06F59E0F}" destId="{A58AA0B5-1089-47C6-BFBF-756285DCF4B9}" srcOrd="0" destOrd="0" presId="urn:microsoft.com/office/officeart/2005/8/layout/process4"/>
    <dgm:cxn modelId="{F53C5A59-9009-4093-B108-C8E03E072E36}" type="presParOf" srcId="{CEB194BA-6083-47CC-94C1-EFFF53BB8100}" destId="{1444ECAF-CC7D-4469-99DF-D897E48E9162}" srcOrd="0" destOrd="0" presId="urn:microsoft.com/office/officeart/2005/8/layout/process4"/>
    <dgm:cxn modelId="{60D4D380-AF16-48DB-A5F4-311C9AC4E3F1}" type="presParOf" srcId="{1444ECAF-CC7D-4469-99DF-D897E48E9162}" destId="{CCF32805-E224-40BF-8371-68DF3BA062EA}" srcOrd="0" destOrd="0" presId="urn:microsoft.com/office/officeart/2005/8/layout/process4"/>
    <dgm:cxn modelId="{3CC32894-F85F-499B-9F98-AB0A04548565}" type="presParOf" srcId="{CEB194BA-6083-47CC-94C1-EFFF53BB8100}" destId="{BD2FCC49-8956-46F1-9304-285C8469F694}" srcOrd="1" destOrd="0" presId="urn:microsoft.com/office/officeart/2005/8/layout/process4"/>
    <dgm:cxn modelId="{0B1BBB58-7C3F-4950-8F13-B565B49C0EF7}" type="presParOf" srcId="{CEB194BA-6083-47CC-94C1-EFFF53BB8100}" destId="{1C482EB2-02E3-4AA0-A2DA-5CDB5E85818D}" srcOrd="2" destOrd="0" presId="urn:microsoft.com/office/officeart/2005/8/layout/process4"/>
    <dgm:cxn modelId="{B63C823E-A924-4D83-9E36-6B1227411D74}" type="presParOf" srcId="{1C482EB2-02E3-4AA0-A2DA-5CDB5E85818D}" destId="{C7FC3A89-56B8-421A-AD7B-933CC37C4410}" srcOrd="0" destOrd="0" presId="urn:microsoft.com/office/officeart/2005/8/layout/process4"/>
    <dgm:cxn modelId="{21172401-D33A-4A44-89A3-98BD29D43904}" type="presParOf" srcId="{CEB194BA-6083-47CC-94C1-EFFF53BB8100}" destId="{3B559B69-E128-4885-9D46-FB0B7FF54AF7}" srcOrd="3" destOrd="0" presId="urn:microsoft.com/office/officeart/2005/8/layout/process4"/>
    <dgm:cxn modelId="{FB813D53-6A8D-44D9-B08B-CE2A64BDDA9F}" type="presParOf" srcId="{CEB194BA-6083-47CC-94C1-EFFF53BB8100}" destId="{10BB1080-0A1E-4A0F-A3C9-76BFBB680B85}" srcOrd="4" destOrd="0" presId="urn:microsoft.com/office/officeart/2005/8/layout/process4"/>
    <dgm:cxn modelId="{4D7A0BE9-A355-4BFE-9FB7-36D98B0E12FB}" type="presParOf" srcId="{10BB1080-0A1E-4A0F-A3C9-76BFBB680B85}" destId="{F307CF98-58B8-49A3-ABA7-B1D4B657D908}" srcOrd="0" destOrd="0" presId="urn:microsoft.com/office/officeart/2005/8/layout/process4"/>
    <dgm:cxn modelId="{C7D50870-1D5F-4879-899D-BD28F7053DDB}" type="presParOf" srcId="{CEB194BA-6083-47CC-94C1-EFFF53BB8100}" destId="{CCE1A756-631B-41AF-8D83-4AB9DC547001}" srcOrd="5" destOrd="0" presId="urn:microsoft.com/office/officeart/2005/8/layout/process4"/>
    <dgm:cxn modelId="{FF92449D-592D-4928-A4BA-213A87CC58FD}" type="presParOf" srcId="{CEB194BA-6083-47CC-94C1-EFFF53BB8100}" destId="{5EFCFC99-7C89-41C1-A448-EF6211FEF7D9}" srcOrd="6" destOrd="0" presId="urn:microsoft.com/office/officeart/2005/8/layout/process4"/>
    <dgm:cxn modelId="{4F42AEB8-C12E-46DA-B1F9-EE7C3CED8168}" type="presParOf" srcId="{5EFCFC99-7C89-41C1-A448-EF6211FEF7D9}" destId="{293C74C6-726F-4A3E-A5C1-7CB9379331B3}" srcOrd="0" destOrd="0" presId="urn:microsoft.com/office/officeart/2005/8/layout/process4"/>
    <dgm:cxn modelId="{4A63BF2F-F2AE-41EF-91B4-CE04EEFB1DBB}" type="presParOf" srcId="{CEB194BA-6083-47CC-94C1-EFFF53BB8100}" destId="{F2FAD2FE-D120-4EDF-9E66-66802D5C7C66}" srcOrd="7" destOrd="0" presId="urn:microsoft.com/office/officeart/2005/8/layout/process4"/>
    <dgm:cxn modelId="{F6050488-931C-4071-892D-B2E51B7C5ACB}" type="presParOf" srcId="{CEB194BA-6083-47CC-94C1-EFFF53BB8100}" destId="{15628686-25E6-4DC0-A5EA-D213CF1471EB}" srcOrd="8" destOrd="0" presId="urn:microsoft.com/office/officeart/2005/8/layout/process4"/>
    <dgm:cxn modelId="{B12E52F0-B41F-48F3-AF70-09248BA01780}" type="presParOf" srcId="{15628686-25E6-4DC0-A5EA-D213CF1471EB}" destId="{65E1CD79-E15B-40D6-8AC7-45B02FEFF2D9}" srcOrd="0" destOrd="0" presId="urn:microsoft.com/office/officeart/2005/8/layout/process4"/>
    <dgm:cxn modelId="{80EC5AAA-9D0E-433F-AF0D-B7C4D3C4C659}" type="presParOf" srcId="{CEB194BA-6083-47CC-94C1-EFFF53BB8100}" destId="{22C27556-72D1-4746-83C1-374A51E8CDC9}" srcOrd="9" destOrd="0" presId="urn:microsoft.com/office/officeart/2005/8/layout/process4"/>
    <dgm:cxn modelId="{CDF95C55-0072-4BF0-B7B1-A6B13FB3B741}" type="presParOf" srcId="{CEB194BA-6083-47CC-94C1-EFFF53BB8100}" destId="{5FF997ED-433B-4F29-8C50-B673F43ACB81}" srcOrd="10" destOrd="0" presId="urn:microsoft.com/office/officeart/2005/8/layout/process4"/>
    <dgm:cxn modelId="{D3202C5D-B28B-4CD6-92EE-34A785016BCE}" type="presParOf" srcId="{5FF997ED-433B-4F29-8C50-B673F43ACB81}" destId="{A58AA0B5-1089-47C6-BFBF-756285DCF4B9}" srcOrd="0" destOrd="0" presId="urn:microsoft.com/office/officeart/2005/8/layout/process4"/>
    <dgm:cxn modelId="{CEDD6720-E249-4074-88C0-86247E9D25B7}" type="presParOf" srcId="{CEB194BA-6083-47CC-94C1-EFFF53BB8100}" destId="{B3B417F3-C2B0-4FF8-B062-A58E1B7486AB}" srcOrd="11" destOrd="0" presId="urn:microsoft.com/office/officeart/2005/8/layout/process4"/>
    <dgm:cxn modelId="{57723903-9F3D-4592-B781-59947373DBE3}" type="presParOf" srcId="{CEB194BA-6083-47CC-94C1-EFFF53BB8100}" destId="{F11F4703-D78F-428A-8708-F2BD2A31F5D2}" srcOrd="12" destOrd="0" presId="urn:microsoft.com/office/officeart/2005/8/layout/process4"/>
    <dgm:cxn modelId="{2AF6FB48-0FB5-4559-9BAC-86A94E47C77A}" type="presParOf" srcId="{F11F4703-D78F-428A-8708-F2BD2A31F5D2}" destId="{FCC67992-539F-4ABB-BD01-388E8633189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32805-E224-40BF-8371-68DF3BA062EA}">
      <dsp:nvSpPr>
        <dsp:cNvPr id="0" name=""/>
        <dsp:cNvSpPr/>
      </dsp:nvSpPr>
      <dsp:spPr>
        <a:xfrm>
          <a:off x="0" y="4543242"/>
          <a:ext cx="5076564" cy="497164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Fazit</a:t>
          </a:r>
          <a:endParaRPr lang="en-US" sz="1700" kern="1200"/>
        </a:p>
      </dsp:txBody>
      <dsp:txXfrm>
        <a:off x="0" y="4543242"/>
        <a:ext cx="5076564" cy="497164"/>
      </dsp:txXfrm>
    </dsp:sp>
    <dsp:sp modelId="{C7FC3A89-56B8-421A-AD7B-933CC37C4410}">
      <dsp:nvSpPr>
        <dsp:cNvPr id="0" name=""/>
        <dsp:cNvSpPr/>
      </dsp:nvSpPr>
      <dsp:spPr>
        <a:xfrm rot="10800000">
          <a:off x="0" y="3786061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Anwendung in der Praxis</a:t>
          </a:r>
          <a:endParaRPr lang="en-US" sz="1700" kern="1200" dirty="0"/>
        </a:p>
      </dsp:txBody>
      <dsp:txXfrm rot="10800000">
        <a:off x="0" y="3786061"/>
        <a:ext cx="5076564" cy="496839"/>
      </dsp:txXfrm>
    </dsp:sp>
    <dsp:sp modelId="{F307CF98-58B8-49A3-ABA7-B1D4B657D908}">
      <dsp:nvSpPr>
        <dsp:cNvPr id="0" name=""/>
        <dsp:cNvSpPr/>
      </dsp:nvSpPr>
      <dsp:spPr>
        <a:xfrm rot="10800000">
          <a:off x="0" y="3028879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Ergebnisse</a:t>
          </a:r>
          <a:endParaRPr lang="en-US" sz="1700" kern="1200"/>
        </a:p>
      </dsp:txBody>
      <dsp:txXfrm rot="10800000">
        <a:off x="0" y="3028879"/>
        <a:ext cx="5076564" cy="496839"/>
      </dsp:txXfrm>
    </dsp:sp>
    <dsp:sp modelId="{293C74C6-726F-4A3E-A5C1-7CB9379331B3}">
      <dsp:nvSpPr>
        <dsp:cNvPr id="0" name=""/>
        <dsp:cNvSpPr/>
      </dsp:nvSpPr>
      <dsp:spPr>
        <a:xfrm rot="10800000">
          <a:off x="0" y="2271697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Evaluationsmetriken</a:t>
          </a:r>
          <a:endParaRPr lang="en-US" sz="1700" kern="1200" dirty="0"/>
        </a:p>
      </dsp:txBody>
      <dsp:txXfrm rot="10800000">
        <a:off x="0" y="2271697"/>
        <a:ext cx="5076564" cy="496839"/>
      </dsp:txXfrm>
    </dsp:sp>
    <dsp:sp modelId="{65E1CD79-E15B-40D6-8AC7-45B02FEFF2D9}">
      <dsp:nvSpPr>
        <dsp:cNvPr id="0" name=""/>
        <dsp:cNvSpPr/>
      </dsp:nvSpPr>
      <dsp:spPr>
        <a:xfrm rot="10800000">
          <a:off x="0" y="1514515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Methodisches Vorgehen</a:t>
          </a:r>
          <a:endParaRPr lang="en-US" sz="1700" kern="1200"/>
        </a:p>
      </dsp:txBody>
      <dsp:txXfrm rot="10800000">
        <a:off x="0" y="1514515"/>
        <a:ext cx="5076564" cy="496839"/>
      </dsp:txXfrm>
    </dsp:sp>
    <dsp:sp modelId="{A58AA0B5-1089-47C6-BFBF-756285DCF4B9}">
      <dsp:nvSpPr>
        <dsp:cNvPr id="0" name=""/>
        <dsp:cNvSpPr/>
      </dsp:nvSpPr>
      <dsp:spPr>
        <a:xfrm rot="10800000">
          <a:off x="0" y="757334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Grundlegende Begriffe</a:t>
          </a:r>
          <a:endParaRPr lang="en-US" sz="1700" kern="1200" dirty="0"/>
        </a:p>
      </dsp:txBody>
      <dsp:txXfrm rot="10800000">
        <a:off x="0" y="757334"/>
        <a:ext cx="5076564" cy="496839"/>
      </dsp:txXfrm>
    </dsp:sp>
    <dsp:sp modelId="{FCC67992-539F-4ABB-BD01-388E8633189D}">
      <dsp:nvSpPr>
        <dsp:cNvPr id="0" name=""/>
        <dsp:cNvSpPr/>
      </dsp:nvSpPr>
      <dsp:spPr>
        <a:xfrm rot="10800000">
          <a:off x="0" y="152"/>
          <a:ext cx="5076564" cy="764639"/>
        </a:xfrm>
        <a:prstGeom prst="upArrowCallou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Motivation</a:t>
          </a:r>
          <a:endParaRPr lang="en-US" sz="1700" kern="1200" dirty="0"/>
        </a:p>
      </dsp:txBody>
      <dsp:txXfrm rot="10800000">
        <a:off x="0" y="152"/>
        <a:ext cx="5076564" cy="496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5CE3EDF-CD23-4303-BC6B-B101A33E4BE9}" type="datetimeFigureOut">
              <a:rPr lang="de-DE"/>
              <a:pPr>
                <a:defRPr/>
              </a:pPr>
              <a:t>26.01.2026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9D3229-373D-4366-A364-EB0D0074DE9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AE433A1-1168-4FD8-B922-9C38DE57C7E7}" type="datetimeFigureOut">
              <a:rPr lang="de-DE"/>
              <a:pPr>
                <a:defRPr/>
              </a:pPr>
              <a:t>26.01.2026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2C4B85-5E71-423A-A9E4-96958528BF1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9459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de-DE" altLang="de-DE" dirty="0"/>
              <a:t>Herzlich Willkommen zu meiner Präsentation im Seminar Methoden der Erklärbaren KI.</a:t>
            </a:r>
          </a:p>
          <a:p>
            <a:pPr eaLnBrk="1" hangingPunct="1">
              <a:spcBef>
                <a:spcPct val="0"/>
              </a:spcBef>
            </a:pPr>
            <a:endParaRPr lang="de-DE" altLang="de-DE" dirty="0"/>
          </a:p>
          <a:p>
            <a:pPr eaLnBrk="1" hangingPunct="1">
              <a:spcBef>
                <a:spcPct val="0"/>
              </a:spcBef>
            </a:pPr>
            <a:r>
              <a:rPr lang="de-DE" altLang="de-DE" dirty="0"/>
              <a:t>Ich stelle Ihnen einen Erklärungsansatz durch vielfältige kontrafaktische Erklärungen mittels Klassifizierungs-Modellen vor.</a:t>
            </a:r>
          </a:p>
        </p:txBody>
      </p:sp>
      <p:sp>
        <p:nvSpPr>
          <p:cNvPr id="19460" name="Foliennummernplatzhalt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16EAC40-68B8-4211-B26D-7C254D782D2F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Kategorial = diskrete Werte</a:t>
            </a:r>
          </a:p>
          <a:p>
            <a:r>
              <a:rPr lang="de-DE" dirty="0"/>
              <a:t>Kontinuierliche = nehmen jeden beliebigen reellen Wert in einem Bereich 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29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Gewünschte = gegenteilige Klasse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208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Zufällige CFs können in jeder Klasse sein!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Die korrekte Zielklasse wird erst durch die Verlustfunktion erreicht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1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D530-F7A1-1414-54D9-5B0BD318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DADBBA-694E-F591-EA73-C534143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207138-9815-84E1-D718-7BD3A2DE3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Zufällige CFs können in jeder Klasse sein!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Die korrekte Zielklasse wird erst durch die Verlustfunktion erreicht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7B0FF5-A147-C565-740C-6FE53762F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678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8053-3B9E-7EC1-8CE0-46D1DEFB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9B3EC1-51FE-4969-68EA-A0148ECCF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11D1A8A-3990-8BAD-5D49-BAC958CD9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Zufällige CFs können in jeder Klasse sein!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Die korrekte Zielklasse wird erst durch die Verlustfunktion erreicht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F59EA7-665B-D8D7-F962-215B0E573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3817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807E-31F2-7F28-7316-78153E47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77BD31-5925-E268-3C06-36C73855D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C57225-8539-61B7-13E9-711FBEE86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Zufällige CFs können in jeder Klasse sein!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Die korrekte Zielklasse wird erst durch die Verlustfunktion erreicht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E12B8C-CD18-F17D-8934-C3FBCF5A6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210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Dist</a:t>
            </a:r>
            <a:r>
              <a:rPr lang="de-DE" dirty="0"/>
              <a:t> ist l1-Distanz -&gt; </a:t>
            </a:r>
            <a:r>
              <a:rPr lang="de-DE" dirty="0" err="1"/>
              <a:t>Manhatten</a:t>
            </a:r>
            <a:r>
              <a:rPr lang="de-DE" dirty="0"/>
              <a:t>-Distanz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724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A805A-8EB9-EA93-6ADB-44E66D38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DDBBCF-F27F-EA41-D5DD-4C3326951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0064D1-2A7D-9668-38E0-E321957C2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Arg min = Suchen der Argument die den minimalen Wert liefern</a:t>
            </a:r>
          </a:p>
          <a:p>
            <a:r>
              <a:rPr lang="de-DE" dirty="0" err="1"/>
              <a:t>Dist</a:t>
            </a:r>
            <a:r>
              <a:rPr lang="de-DE" dirty="0"/>
              <a:t> ist l1-Distanz -&gt; </a:t>
            </a:r>
            <a:r>
              <a:rPr lang="de-DE" dirty="0" err="1"/>
              <a:t>Manhatten</a:t>
            </a:r>
            <a:r>
              <a:rPr lang="de-DE" dirty="0"/>
              <a:t>-Distanz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71440E-1224-17C1-EA29-5C0F902EF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9242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8597-44C0-815C-E3C2-DFD3A03F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CE06E73-76A6-BD2B-5C48-B7955EAEF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49E2F9-DCDE-A777-966C-02D417F34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Dist</a:t>
            </a:r>
            <a:r>
              <a:rPr lang="de-DE" dirty="0"/>
              <a:t> ist l1-Distanz -&gt; </a:t>
            </a:r>
            <a:r>
              <a:rPr lang="de-DE" dirty="0" err="1"/>
              <a:t>Manhatten</a:t>
            </a:r>
            <a:r>
              <a:rPr lang="de-DE" dirty="0"/>
              <a:t>-Distanz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B449E9-A008-C2D7-058E-891A6BE44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06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080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357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Machbarkeit erklären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619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Dpp</a:t>
            </a:r>
            <a:r>
              <a:rPr lang="de-DE" dirty="0"/>
              <a:t> = </a:t>
            </a:r>
            <a:r>
              <a:rPr lang="de-DE" dirty="0" err="1"/>
              <a:t>Determinantal</a:t>
            </a:r>
            <a:r>
              <a:rPr lang="de-DE" dirty="0"/>
              <a:t> Point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K = Ähnlichkeitsmatrix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945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9095-0D93-4FB3-9C27-122A609E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BB1F0A-C037-B168-133A-085DDFAF0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1621E9-EEDE-5C23-1DEF-B5033AE0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Dpp</a:t>
            </a:r>
            <a:r>
              <a:rPr lang="de-DE" dirty="0"/>
              <a:t> = </a:t>
            </a:r>
            <a:r>
              <a:rPr lang="de-DE" dirty="0" err="1"/>
              <a:t>Determinantal</a:t>
            </a:r>
            <a:r>
              <a:rPr lang="de-DE" dirty="0"/>
              <a:t> Point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K = Ähnlichkeitsmatrix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079CE4-8DC2-BD50-31FB-40A945521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628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46E6-370A-E006-47E0-ED753118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F8541B-96C1-6D05-B034-51B58A657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28D2AF-F017-6BC2-2977-C5F256D6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Dpp</a:t>
            </a:r>
            <a:r>
              <a:rPr lang="de-DE" dirty="0"/>
              <a:t> = </a:t>
            </a:r>
            <a:r>
              <a:rPr lang="de-DE" dirty="0" err="1"/>
              <a:t>Determinantal</a:t>
            </a:r>
            <a:r>
              <a:rPr lang="de-DE" dirty="0"/>
              <a:t> Point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K = Ähnlichkeitsmatrix</a:t>
            </a:r>
          </a:p>
          <a:p>
            <a:r>
              <a:rPr lang="de-DE" dirty="0" err="1"/>
              <a:t>Det</a:t>
            </a:r>
            <a:r>
              <a:rPr lang="de-DE" dirty="0"/>
              <a:t>(K) beschreibt das aufgespannte Volumen im Feature-Raum</a:t>
            </a:r>
          </a:p>
          <a:p>
            <a:r>
              <a:rPr lang="de-DE" dirty="0" err="1"/>
              <a:t>Kij</a:t>
            </a:r>
            <a:r>
              <a:rPr lang="de-DE" dirty="0"/>
              <a:t> = 1 bei gleichen Vektoren und 0 bei maximal unterschiedlichen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940088-E0FF-0850-E38B-9A29766C6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1923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1D17-EF1F-5CC8-5F27-B4845903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433B720-9E2F-8AE6-BB93-733642539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5A17DE4-151B-67BF-C060-1E4CC226D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Dpp</a:t>
            </a:r>
            <a:r>
              <a:rPr lang="de-DE" dirty="0"/>
              <a:t> = </a:t>
            </a:r>
            <a:r>
              <a:rPr lang="de-DE" dirty="0" err="1"/>
              <a:t>Determinantal</a:t>
            </a:r>
            <a:r>
              <a:rPr lang="de-DE" dirty="0"/>
              <a:t> Point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K = Ähnlichkeitsmatrix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E3FBA9-3B93-FEE8-A57C-E67364CED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342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DE95-2512-DDB3-8AF9-44ADBA28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73983A-960C-A1E5-F64A-A73FCEC4E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724009-931B-385A-A138-190EDFB9C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Dpp</a:t>
            </a:r>
            <a:r>
              <a:rPr lang="de-DE" dirty="0"/>
              <a:t> = </a:t>
            </a:r>
            <a:r>
              <a:rPr lang="de-DE" dirty="0" err="1"/>
              <a:t>Determinantal</a:t>
            </a:r>
            <a:r>
              <a:rPr lang="de-DE" dirty="0"/>
              <a:t> Point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K = Ähnlichkeitsmatrix</a:t>
            </a:r>
          </a:p>
          <a:p>
            <a:r>
              <a:rPr lang="de-DE" dirty="0"/>
              <a:t>Durch K aufgespanntes Volumen ist größer wenn Vektoren unterschiedlicher sind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4879AE-71EF-B431-54DA-66E8804F3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779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8381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18B3-55A8-6503-6FF1-B8C6311C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00D340-BDC9-53DD-051F-697D74F0B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DECEF0-D16D-EA59-A638-4DAE76C1F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Lambda-Parameter = 1 wichtig, da sonst Gültigkeit an Einfluss verliert.</a:t>
            </a:r>
          </a:p>
          <a:p>
            <a:r>
              <a:rPr lang="de-DE" dirty="0"/>
              <a:t>Hier </a:t>
            </a:r>
            <a:r>
              <a:rPr lang="de-DE" dirty="0" err="1"/>
              <a:t>machbarkeit</a:t>
            </a:r>
            <a:r>
              <a:rPr lang="de-DE" dirty="0"/>
              <a:t> erst erklären</a:t>
            </a:r>
          </a:p>
          <a:p>
            <a:r>
              <a:rPr lang="de-DE" dirty="0"/>
              <a:t>Minus </a:t>
            </a:r>
            <a:r>
              <a:rPr lang="de-DE" dirty="0" err="1"/>
              <a:t>minus</a:t>
            </a:r>
            <a:r>
              <a:rPr lang="de-DE" dirty="0"/>
              <a:t> statt plus</a:t>
            </a:r>
          </a:p>
          <a:p>
            <a:r>
              <a:rPr lang="de-DE" dirty="0"/>
              <a:t>Wir ziehen Terme ab um Funktionswert zu minimieren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C95BDA-5911-C0E5-57AF-643D637BC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529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DiCE prüft nicht auf Eindeutigkeit in der Generierung!!!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3144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0DE6-A6EA-5468-6F20-BFFE70BC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31CA74-8EA2-AD7C-E6C4-3E29AA132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63CA1A-799B-995C-F2E5-6E06A50C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DiCE prüft nicht auf Eindeutigkeit in der Generierung!!!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2BA6BC-F74A-6A45-DBEF-9AC1BF506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07919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0DB1-6714-5764-F0DA-8F312D36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B5DA34-3FDC-2F9E-2695-E0351FA11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932FF06-8535-31DB-F823-B792F7702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DiCE prüft nicht auf Eindeutigkeit in der Generierung!!!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0202B1-AD40-F60C-12AD-83BF7A61D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824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824F-61B7-EBD0-DFEA-74C62444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D538AF-032E-208C-E9CC-F76D640D8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D67361-3456-914E-91B9-C040E74A6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DiCE prüft nicht auf Eindeutigkeit in der Generierung!!!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E0BFA-D343-3C2D-AAAE-E0AAE7432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8644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885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93-5C36-E52B-DE38-E468693E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F90C07-D84A-2CF2-D8D1-BD5102F74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B86C0F-2CE3-2D80-F696-031BB6D9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B3EA86-84FC-A827-0381-B6A1D205C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134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93FE-FAA7-65D9-4AC6-AC50B864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7C169F-A144-CC5F-D9C0-B9D341396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353CFC-FCBE-BD73-E8E6-2A10445A9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F31B36-9EA4-491D-D3FB-0EA0F8DCD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9053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CF33-3172-DBA6-67F9-D5F02A1E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A38F58-5229-B30C-73F6-76C7A255F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BAE316A-E208-9C58-7F9A-63FC50939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8C60DE-009C-2798-DE75-89843CC7E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3299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DAB46-200B-4C61-93F6-E63FDFBE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1624F6-35C5-DAFB-9BD1-13A0607A0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138728-0015-3CF9-DEC2-4FFD79981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88731D-C5CE-077F-1CEE-C898CA2E1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4555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F246E-DD66-88A4-1DCC-2A40C47E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962E73-1CD0-F9B5-2BB7-B466FEE2B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86966B-37E2-80B8-05DB-63EC1F76B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C_k^2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C56B30-74BB-B9D0-5C58-EBDCFBDAB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98715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RandomInitCF</a:t>
            </a:r>
            <a:r>
              <a:rPr lang="de-DE" dirty="0"/>
              <a:t> und </a:t>
            </a:r>
            <a:r>
              <a:rPr lang="de-DE" dirty="0" err="1"/>
              <a:t>NoDiversityCF</a:t>
            </a:r>
            <a:r>
              <a:rPr lang="de-DE" dirty="0"/>
              <a:t> eigentlich gleich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Unterschied: </a:t>
            </a:r>
            <a:r>
              <a:rPr lang="de-DE" dirty="0" err="1"/>
              <a:t>Algo</a:t>
            </a:r>
            <a:r>
              <a:rPr lang="de-DE" dirty="0"/>
              <a:t> berechnet jeweils ein CF VS </a:t>
            </a:r>
            <a:r>
              <a:rPr lang="de-DE" dirty="0" err="1"/>
              <a:t>Algo</a:t>
            </a:r>
            <a:r>
              <a:rPr lang="de-DE" dirty="0"/>
              <a:t> berechnet gleichzeitig all CFs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/>
              <a:t>Soll aufzeigen, dass beides nicht ausreichend ist ohne expliziten Diversitätsterm!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059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9015-A5C9-3885-E829-38611766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B71086-5865-19BA-23CE-CA93B9714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49A88F-708F-31C7-EB21-CCE95617C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Offensichtlich: </a:t>
            </a:r>
            <a:r>
              <a:rPr lang="de-DE" dirty="0" err="1"/>
              <a:t>RandomInit</a:t>
            </a:r>
            <a:r>
              <a:rPr lang="de-DE" dirty="0"/>
              <a:t> und </a:t>
            </a:r>
            <a:r>
              <a:rPr lang="de-DE" dirty="0" err="1"/>
              <a:t>NoDiversity</a:t>
            </a:r>
            <a:r>
              <a:rPr lang="de-DE" dirty="0"/>
              <a:t> nahezu identische Ergebnisse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7AAD0-7DF0-0108-40EA-1555E33C7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46241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F89E-3BA7-D21A-5E82-9A6C5C1D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448182-29D7-0B93-2860-8E44BD8D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AC0EBC-A8F7-B006-4104-8380E5AC1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Offensichtlich: </a:t>
            </a:r>
            <a:r>
              <a:rPr lang="de-DE" dirty="0" err="1"/>
              <a:t>RandomInit</a:t>
            </a:r>
            <a:r>
              <a:rPr lang="de-DE" dirty="0"/>
              <a:t> und </a:t>
            </a:r>
            <a:r>
              <a:rPr lang="de-DE" dirty="0" err="1"/>
              <a:t>NoDiversity</a:t>
            </a:r>
            <a:r>
              <a:rPr lang="de-DE" dirty="0"/>
              <a:t> nahezu identische Ergebnisse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A1474A-22DF-93D7-198C-BC37A036B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986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1D075-8AA6-C4F8-DC78-D684078F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D609B0-573C-A155-F24B-60AD96845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86FC20-CDEA-A1B4-42BA-CBB7F28B2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Offensichtlich: </a:t>
            </a:r>
            <a:r>
              <a:rPr lang="de-DE" dirty="0" err="1"/>
              <a:t>RandomInit</a:t>
            </a:r>
            <a:r>
              <a:rPr lang="de-DE" dirty="0"/>
              <a:t> und </a:t>
            </a:r>
            <a:r>
              <a:rPr lang="de-DE" dirty="0" err="1"/>
              <a:t>NoDiversity</a:t>
            </a:r>
            <a:r>
              <a:rPr lang="de-DE" dirty="0"/>
              <a:t> nahezu identische Ergebnisse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98DCB1-1C7D-F3B7-4A48-7F7996C0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8821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Offensichtlich: </a:t>
            </a:r>
            <a:r>
              <a:rPr lang="de-DE" dirty="0" err="1"/>
              <a:t>RandomInit</a:t>
            </a:r>
            <a:r>
              <a:rPr lang="de-DE" dirty="0"/>
              <a:t> und </a:t>
            </a:r>
            <a:r>
              <a:rPr lang="de-DE" dirty="0" err="1"/>
              <a:t>NoDiversity</a:t>
            </a:r>
            <a:r>
              <a:rPr lang="de-DE" dirty="0"/>
              <a:t> nahezu identische Ergebnisse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1061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Verbesserungsmöglichkeit: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Sortierung der generierten Erklärungen nach Machbarkeit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C4B85-5E71-423A-A9E4-96958528BF14}" type="slidenum">
              <a:rPr lang="de-DE" smtClean="0"/>
              <a:pPr>
                <a:defRPr/>
              </a:pPr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613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2"/>
          <p:cNvSpPr/>
          <p:nvPr userDrawn="1"/>
        </p:nvSpPr>
        <p:spPr>
          <a:xfrm>
            <a:off x="-192088" y="-115887"/>
            <a:ext cx="9528176" cy="6202363"/>
          </a:xfrm>
          <a:custGeom>
            <a:avLst/>
            <a:gdLst>
              <a:gd name="connsiteX0" fmla="*/ 0 w 9529482"/>
              <a:gd name="connsiteY0" fmla="*/ 44823 h 6203576"/>
              <a:gd name="connsiteX1" fmla="*/ 26894 w 9529482"/>
              <a:gd name="connsiteY1" fmla="*/ 6203576 h 6203576"/>
              <a:gd name="connsiteX2" fmla="*/ 9484658 w 9529482"/>
              <a:gd name="connsiteY2" fmla="*/ 4814047 h 6203576"/>
              <a:gd name="connsiteX3" fmla="*/ 9529482 w 9529482"/>
              <a:gd name="connsiteY3" fmla="*/ 0 h 6203576"/>
              <a:gd name="connsiteX4" fmla="*/ 0 w 9529482"/>
              <a:gd name="connsiteY4" fmla="*/ 44823 h 6203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9482" h="6203576">
                <a:moveTo>
                  <a:pt x="0" y="44823"/>
                </a:moveTo>
                <a:lnTo>
                  <a:pt x="26894" y="6203576"/>
                </a:lnTo>
                <a:lnTo>
                  <a:pt x="9484658" y="4814047"/>
                </a:lnTo>
                <a:lnTo>
                  <a:pt x="9529482" y="0"/>
                </a:lnTo>
                <a:lnTo>
                  <a:pt x="0" y="4482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dirty="0"/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0"/>
          </p:nvPr>
        </p:nvSpPr>
        <p:spPr>
          <a:xfrm>
            <a:off x="256329" y="1268760"/>
            <a:ext cx="8631343" cy="24482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5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4C32B3D7-AC27-5FA3-6542-B36CF2C810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808073"/>
            <a:ext cx="3307560" cy="64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2"/>
          <p:cNvSpPr/>
          <p:nvPr userDrawn="1"/>
        </p:nvSpPr>
        <p:spPr>
          <a:xfrm>
            <a:off x="-192088" y="-115887"/>
            <a:ext cx="9528176" cy="6202363"/>
          </a:xfrm>
          <a:custGeom>
            <a:avLst/>
            <a:gdLst>
              <a:gd name="connsiteX0" fmla="*/ 0 w 9529482"/>
              <a:gd name="connsiteY0" fmla="*/ 44823 h 6203576"/>
              <a:gd name="connsiteX1" fmla="*/ 26894 w 9529482"/>
              <a:gd name="connsiteY1" fmla="*/ 6203576 h 6203576"/>
              <a:gd name="connsiteX2" fmla="*/ 9484658 w 9529482"/>
              <a:gd name="connsiteY2" fmla="*/ 4814047 h 6203576"/>
              <a:gd name="connsiteX3" fmla="*/ 9529482 w 9529482"/>
              <a:gd name="connsiteY3" fmla="*/ 0 h 6203576"/>
              <a:gd name="connsiteX4" fmla="*/ 0 w 9529482"/>
              <a:gd name="connsiteY4" fmla="*/ 44823 h 6203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9482" h="6203576">
                <a:moveTo>
                  <a:pt x="0" y="44823"/>
                </a:moveTo>
                <a:lnTo>
                  <a:pt x="26894" y="6203576"/>
                </a:lnTo>
                <a:lnTo>
                  <a:pt x="9484658" y="4814047"/>
                </a:lnTo>
                <a:lnTo>
                  <a:pt x="9529482" y="0"/>
                </a:lnTo>
                <a:lnTo>
                  <a:pt x="0" y="44823"/>
                </a:lnTo>
                <a:close/>
              </a:path>
            </a:pathLst>
          </a:custGeom>
          <a:solidFill>
            <a:srgbClr val="D9C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/>
          </p:nvPr>
        </p:nvSpPr>
        <p:spPr>
          <a:xfrm>
            <a:off x="256329" y="1268760"/>
            <a:ext cx="8631343" cy="24482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5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28F1700B-B100-BE39-17EC-B6347B3BF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808073"/>
            <a:ext cx="3307560" cy="64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0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8640000" cy="5040560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3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05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5430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371600" indent="0"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2057400" indent="0">
              <a:lnSpc>
                <a:spcPct val="150000"/>
              </a:lnSpc>
              <a:buNone/>
              <a:defRPr sz="1050"/>
            </a:lvl7pPr>
            <a:lvl8pPr marL="2400300" indent="0">
              <a:lnSpc>
                <a:spcPct val="150000"/>
              </a:lnSpc>
              <a:buNone/>
              <a:defRPr sz="1050"/>
            </a:lvl8pPr>
            <a:lvl9pPr marL="2914650" indent="0">
              <a:buNone/>
              <a:defRPr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8E26C-8BAA-4ACE-83C6-8F04F03DE16F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CEE4A-E163-47DE-8784-5B8DE9F7A78A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5075983A-7217-1CBB-9453-392447757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1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4" y="1268760"/>
            <a:ext cx="8640000" cy="502156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6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F2F7E-68CC-462A-94CB-94BBC0D4D084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8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684CA-D0A1-41F6-BDC0-3E2E4B5DACF6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3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5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60C31720-BFF8-0AA1-F141-2142C21CAE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7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3" hasCustomPrompt="1"/>
          </p:nvPr>
        </p:nvSpPr>
        <p:spPr>
          <a:xfrm>
            <a:off x="251520" y="1268760"/>
            <a:ext cx="8640000" cy="50405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None/>
              <a:defRPr sz="150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3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/>
            </a:lvl4pPr>
            <a:lvl5pPr>
              <a:defRPr/>
            </a:lvl5pPr>
            <a:lvl6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6pPr>
          </a:lstStyle>
          <a:p>
            <a:pPr lvl="0"/>
            <a:r>
              <a:rPr lang="de-DE" dirty="0">
                <a:latin typeface="Consolas" panose="020B0609020204030204" pitchFamily="49" charset="0"/>
              </a:rPr>
              <a:t>Quellcode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8E26C-8BAA-4ACE-83C6-8F04F03DE16F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CEE4A-E163-47DE-8784-5B8DE9F7A78A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5075983A-7217-1CBB-9453-392447757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/>
          <p:cNvSpPr>
            <a:spLocks noGrp="1"/>
          </p:cNvSpPr>
          <p:nvPr>
            <p:ph type="dt" sz="half" idx="17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3FF64-A3FB-4BFC-BA0F-A64F5FE3D3F2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8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9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06B55-EB36-49A9-ADB4-61E75E31F1FA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3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AEDF33F4-6F90-218F-3954-2C3E49AFFF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  <p:sp>
        <p:nvSpPr>
          <p:cNvPr id="3" name="Inhaltsplatzhalter 7">
            <a:extLst>
              <a:ext uri="{FF2B5EF4-FFF2-40B4-BE49-F238E27FC236}">
                <a16:creationId xmlns:a16="http://schemas.microsoft.com/office/drawing/2014/main" id="{D753FB44-A6BB-3566-6925-8E8B300FE5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4240388" cy="5040560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3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05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5430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>
              <a:lnSpc>
                <a:spcPct val="150000"/>
              </a:lnSpc>
              <a:defRPr sz="1050"/>
            </a:lvl7pPr>
            <a:lvl8pPr marL="2400300" indent="0">
              <a:lnSpc>
                <a:spcPct val="150000"/>
              </a:lnSpc>
              <a:buNone/>
              <a:defRPr sz="1050"/>
            </a:lvl8pPr>
            <a:lvl9pPr marL="2914650" indent="0">
              <a:buNone/>
              <a:defRPr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29009F89-8E54-4234-F005-502B13A8FD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2094" y="1268760"/>
            <a:ext cx="4242430" cy="504239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1749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Quell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/>
          <p:cNvSpPr>
            <a:spLocks noGrp="1"/>
          </p:cNvSpPr>
          <p:nvPr>
            <p:ph type="dt" sz="half" idx="17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3FF64-A3FB-4BFC-BA0F-A64F5FE3D3F2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8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9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06B55-EB36-49A9-ADB4-61E75E31F1FA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3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AEDF33F4-6F90-218F-3954-2C3E49AFFF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BA937B1C-FD0E-3C8C-3A96-CA12E48673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4240388" cy="5040560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3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05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5430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>
              <a:lnSpc>
                <a:spcPct val="150000"/>
              </a:lnSpc>
              <a:defRPr sz="1050"/>
            </a:lvl7pPr>
            <a:lvl8pPr marL="2400300" indent="0">
              <a:lnSpc>
                <a:spcPct val="150000"/>
              </a:lnSpc>
              <a:buNone/>
              <a:defRPr sz="1050"/>
            </a:lvl8pPr>
            <a:lvl9pPr marL="2914650" indent="0">
              <a:buNone/>
              <a:defRPr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7">
            <a:extLst>
              <a:ext uri="{FF2B5EF4-FFF2-40B4-BE49-F238E27FC236}">
                <a16:creationId xmlns:a16="http://schemas.microsoft.com/office/drawing/2014/main" id="{7D85B1AB-FF3F-FE7C-70F5-62002DD35F0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51132" y="1268760"/>
            <a:ext cx="4240388" cy="50405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None/>
              <a:defRPr sz="150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3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>
              <a:lnSpc>
                <a:spcPct val="150000"/>
              </a:lnSpc>
              <a:buClr>
                <a:srgbClr val="115E67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/>
            </a:lvl4pPr>
            <a:lvl5pPr>
              <a:defRPr/>
            </a:lvl5pPr>
            <a:lvl6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6pPr>
          </a:lstStyle>
          <a:p>
            <a:pPr lvl="0"/>
            <a:r>
              <a:rPr lang="de-DE" dirty="0">
                <a:latin typeface="Consolas" panose="020B0609020204030204" pitchFamily="49" charset="0"/>
              </a:rPr>
              <a:t>Quellcode</a:t>
            </a:r>
          </a:p>
        </p:txBody>
      </p:sp>
    </p:spTree>
    <p:extLst>
      <p:ext uri="{BB962C8B-B14F-4D97-AF65-F5344CB8AC3E}">
        <p14:creationId xmlns:p14="http://schemas.microsoft.com/office/powerpoint/2010/main" val="332683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: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4" y="1268760"/>
            <a:ext cx="8640000" cy="432048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5"/>
          </p:nvPr>
        </p:nvSpPr>
        <p:spPr>
          <a:xfrm>
            <a:off x="254525" y="5778477"/>
            <a:ext cx="8640000" cy="5308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6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F2F7E-68CC-462A-94CB-94BBC0D4D084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8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684CA-D0A1-41F6-BDC0-3E2E4B5DACF6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3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5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60C31720-BFF8-0AA1-F141-2142C21CAE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8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: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5" y="1268760"/>
            <a:ext cx="4223785" cy="504056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658309" y="1268760"/>
            <a:ext cx="4223784" cy="504056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>
          <a:xfrm>
            <a:off x="254001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6379F-AFCE-452D-9D46-18A25C0B9626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6"/>
          </p:nvPr>
        </p:nvSpPr>
        <p:spPr>
          <a:xfrm>
            <a:off x="2314576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>
          <a:xfrm>
            <a:off x="7442201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CBEA50-28BB-424E-967D-ECCE62A9890E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3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5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C0EE613F-EAAA-76DF-3982-C651056C6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3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: 2 Spalten mit Beschrift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5" y="1268760"/>
            <a:ext cx="4210185" cy="432048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5"/>
          </p:nvPr>
        </p:nvSpPr>
        <p:spPr>
          <a:xfrm>
            <a:off x="254525" y="5778477"/>
            <a:ext cx="4252570" cy="5308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Inhaltsplatzhalter 10"/>
          <p:cNvSpPr>
            <a:spLocks noGrp="1"/>
          </p:cNvSpPr>
          <p:nvPr>
            <p:ph sz="quarter" idx="16"/>
          </p:nvPr>
        </p:nvSpPr>
        <p:spPr>
          <a:xfrm>
            <a:off x="4639664" y="5778477"/>
            <a:ext cx="4252570" cy="5308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17"/>
          </p:nvPr>
        </p:nvSpPr>
        <p:spPr>
          <a:xfrm>
            <a:off x="4658310" y="1268760"/>
            <a:ext cx="4223784" cy="432048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Datumsplatzhalter 3"/>
          <p:cNvSpPr>
            <a:spLocks noGrp="1"/>
          </p:cNvSpPr>
          <p:nvPr>
            <p:ph type="dt" sz="half" idx="18"/>
          </p:nvPr>
        </p:nvSpPr>
        <p:spPr>
          <a:xfrm>
            <a:off x="263526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5E127-8AE2-45F9-8279-D6C985C040A5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9"/>
          </p:nvPr>
        </p:nvSpPr>
        <p:spPr>
          <a:xfrm>
            <a:off x="2324101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20"/>
          </p:nvPr>
        </p:nvSpPr>
        <p:spPr>
          <a:xfrm>
            <a:off x="7451726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B97EE-25F5-4EFD-B8E8-0C5D00DE03FB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7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9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0210DFFF-8658-C46E-E781-0E7A905039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11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: 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4" y="1268760"/>
            <a:ext cx="2772000" cy="504056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3230850" y="1268760"/>
            <a:ext cx="2690678" cy="504056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6110093" y="1268760"/>
            <a:ext cx="2772000" cy="504056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6"/>
          </p:nvPr>
        </p:nvSpPr>
        <p:spPr>
          <a:xfrm>
            <a:off x="254001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0B058-52FD-4490-B0D3-D3BA1A853FDA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2314576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8"/>
          </p:nvPr>
        </p:nvSpPr>
        <p:spPr>
          <a:xfrm>
            <a:off x="7442201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A88A5-D0F8-4804-8772-54364BC0F871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5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4FF2E71D-C421-3B6F-AB17-D0ED39D10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9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: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54523" y="3067058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6"/>
          </p:nvPr>
        </p:nvSpPr>
        <p:spPr>
          <a:xfrm>
            <a:off x="248067" y="4869320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19"/>
          </p:nvPr>
        </p:nvSpPr>
        <p:spPr>
          <a:xfrm>
            <a:off x="254001" y="6453188"/>
            <a:ext cx="1860550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19B38-F312-458C-89BB-09846E532A35}" type="datetime1">
              <a:rPr lang="de-DE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20"/>
          </p:nvPr>
        </p:nvSpPr>
        <p:spPr>
          <a:xfrm>
            <a:off x="2314576" y="6453188"/>
            <a:ext cx="4948238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21"/>
          </p:nvPr>
        </p:nvSpPr>
        <p:spPr>
          <a:xfrm>
            <a:off x="7442201" y="6453188"/>
            <a:ext cx="1439863" cy="285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AA8A7-6CDB-4C1B-AF42-D508E5AB25D5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0" y="900000"/>
            <a:ext cx="9144000" cy="582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0" name="Titel 3"/>
          <p:cNvSpPr>
            <a:spLocks noGrp="1" noChangeAspect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t">
            <a:normAutofit/>
          </a:bodyPr>
          <a:lstStyle>
            <a:lvl1pPr>
              <a:defRPr sz="1500">
                <a:solidFill>
                  <a:srgbClr val="115E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22"/>
          </p:nvPr>
        </p:nvSpPr>
        <p:spPr>
          <a:xfrm>
            <a:off x="254000" y="1264796"/>
            <a:ext cx="2766067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Bildplatzhalter 7"/>
          <p:cNvSpPr>
            <a:spLocks noGrp="1"/>
          </p:cNvSpPr>
          <p:nvPr>
            <p:ph type="pic" sz="quarter" idx="23"/>
          </p:nvPr>
        </p:nvSpPr>
        <p:spPr>
          <a:xfrm>
            <a:off x="6120480" y="3071022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7"/>
          <p:cNvSpPr>
            <a:spLocks noGrp="1"/>
          </p:cNvSpPr>
          <p:nvPr>
            <p:ph type="pic" sz="quarter" idx="24"/>
          </p:nvPr>
        </p:nvSpPr>
        <p:spPr>
          <a:xfrm>
            <a:off x="6114024" y="4873284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Bildplatzhalter 7"/>
          <p:cNvSpPr>
            <a:spLocks noGrp="1" noChangeAspect="1"/>
          </p:cNvSpPr>
          <p:nvPr>
            <p:ph type="pic" sz="quarter" idx="25"/>
          </p:nvPr>
        </p:nvSpPr>
        <p:spPr>
          <a:xfrm>
            <a:off x="6119957" y="1268760"/>
            <a:ext cx="2766067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5" name="Bildplatzhalter 7"/>
          <p:cNvSpPr>
            <a:spLocks noGrp="1"/>
          </p:cNvSpPr>
          <p:nvPr>
            <p:ph type="pic" sz="quarter" idx="26"/>
          </p:nvPr>
        </p:nvSpPr>
        <p:spPr>
          <a:xfrm>
            <a:off x="3186000" y="3071022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Bildplatzhalter 7"/>
          <p:cNvSpPr>
            <a:spLocks noGrp="1"/>
          </p:cNvSpPr>
          <p:nvPr>
            <p:ph type="pic" sz="quarter" idx="27"/>
          </p:nvPr>
        </p:nvSpPr>
        <p:spPr>
          <a:xfrm>
            <a:off x="3186000" y="4873284"/>
            <a:ext cx="2772000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Bildplatzhalter 7"/>
          <p:cNvSpPr>
            <a:spLocks noGrp="1" noChangeAspect="1"/>
          </p:cNvSpPr>
          <p:nvPr>
            <p:ph type="pic" sz="quarter" idx="28"/>
          </p:nvPr>
        </p:nvSpPr>
        <p:spPr>
          <a:xfrm>
            <a:off x="3186001" y="1267200"/>
            <a:ext cx="2766067" cy="14400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1437D6D8-0DE4-6B5C-2C5F-427A3E1E5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43" y="138342"/>
            <a:ext cx="2301977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4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>
          <a:xfrm>
            <a:off x="250826" y="6453188"/>
            <a:ext cx="1860550" cy="285750"/>
          </a:xfrm>
          <a:prstGeom prst="rect">
            <a:avLst/>
          </a:prstGeom>
        </p:spPr>
        <p:txBody>
          <a:bodyPr/>
          <a:lstStyle>
            <a:lvl1pPr algn="l">
              <a:defRPr sz="12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fld id="{8FB80984-C7AB-4089-8D7F-A7A8CFC97560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311401" y="6453188"/>
            <a:ext cx="4948238" cy="285750"/>
          </a:xfrm>
          <a:prstGeom prst="rect">
            <a:avLst/>
          </a:prstGeom>
        </p:spPr>
        <p:txBody>
          <a:bodyPr/>
          <a:lstStyle>
            <a:lvl1pPr>
              <a:defRPr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40614" y="6453188"/>
            <a:ext cx="1438275" cy="285750"/>
          </a:xfrm>
          <a:prstGeom prst="rect">
            <a:avLst/>
          </a:prstGeom>
        </p:spPr>
        <p:txBody>
          <a:bodyPr/>
          <a:lstStyle>
            <a:lvl1pPr algn="r">
              <a:defRPr sz="12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fld id="{AB0173C9-4951-44B4-BE8B-FB39CEF44EE9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8" name="Titelplatzhalter 7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255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6D367DE-D509-EB0A-71F0-E3F2789DEBE1}"/>
              </a:ext>
            </a:extLst>
          </p:cNvPr>
          <p:cNvSpPr txBox="1"/>
          <p:nvPr userDrawn="1"/>
        </p:nvSpPr>
        <p:spPr>
          <a:xfrm>
            <a:off x="683568" y="3284984"/>
            <a:ext cx="40504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75" r:id="rId4"/>
    <p:sldLayoutId id="2147483776" r:id="rId5"/>
    <p:sldLayoutId id="2147483768" r:id="rId6"/>
    <p:sldLayoutId id="2147483777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hf hdr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lwyn New Lt" panose="020B03030000000200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lwyn New Lt" panose="020B03030000000200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lwyn New Lt" panose="020B03030000000200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lwyn New Lt" panose="020B03030000000200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lwyn New Lt" panose="020B0303000000020004" pitchFamily="34" charset="0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lwyn New Lt" panose="020B0303000000020004" pitchFamily="34" charset="0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wyn New Lt" panose="020B0303000000020004" pitchFamily="34" charset="0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lwyn New Lt" panose="020B0303000000020004" pitchFamily="34" charset="0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lwyn New Lt" panose="020B03030000000200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33_3CA4240C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E_880F274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A_194088A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4B_169DEA6D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3092CC2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4_CD640DEB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A_3CD4E597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8/10/relationships/comments" Target="../comments/modernComment_125_6C1D738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8/10/relationships/comments" Target="../comments/modernComment_12D_CF79E8FF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C_141A410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gesschau.de/ausland/europa/albanien-ki-ministerin-100.html" TargetMode="Externa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platzhalter 6"/>
          <p:cNvSpPr>
            <a:spLocks noGrp="1"/>
          </p:cNvSpPr>
          <p:nvPr>
            <p:ph type="body" sz="quarter" idx="10"/>
          </p:nvPr>
        </p:nvSpPr>
        <p:spPr bwMode="auto">
          <a:xfrm>
            <a:off x="256326" y="980728"/>
            <a:ext cx="8631343" cy="3384376"/>
          </a:xfrm>
          <a:custGeom>
            <a:avLst/>
            <a:gdLst>
              <a:gd name="T0" fmla="*/ 0 w 9144000"/>
              <a:gd name="T1" fmla="*/ 0 h 5963462"/>
              <a:gd name="T2" fmla="*/ 7263209 w 9144000"/>
              <a:gd name="T3" fmla="*/ 0 h 5963462"/>
              <a:gd name="T4" fmla="*/ 7263209 w 9144000"/>
              <a:gd name="T5" fmla="*/ 132131 h 5963462"/>
              <a:gd name="T6" fmla="*/ 0 w 9144000"/>
              <a:gd name="T7" fmla="*/ 169340 h 5963462"/>
              <a:gd name="T8" fmla="*/ 0 w 9144000"/>
              <a:gd name="T9" fmla="*/ 0 h 59634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44000"/>
              <a:gd name="T16" fmla="*/ 0 h 5963462"/>
              <a:gd name="T17" fmla="*/ 9144000 w 9144000"/>
              <a:gd name="T18" fmla="*/ 5963462 h 59634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44000" h="5963462">
                <a:moveTo>
                  <a:pt x="0" y="0"/>
                </a:moveTo>
                <a:lnTo>
                  <a:pt x="9144000" y="0"/>
                </a:lnTo>
                <a:lnTo>
                  <a:pt x="9144000" y="4653136"/>
                </a:lnTo>
                <a:lnTo>
                  <a:pt x="0" y="5963462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de-DE" altLang="de-DE" sz="2800" dirty="0"/>
              <a:t>Seminar: „Methoden der Erklärbaren KI“</a:t>
            </a:r>
          </a:p>
          <a:p>
            <a:pPr algn="ctr">
              <a:spcBef>
                <a:spcPct val="0"/>
              </a:spcBef>
            </a:pPr>
            <a:endParaRPr lang="de-DE" altLang="de-DE" dirty="0"/>
          </a:p>
          <a:p>
            <a:pPr algn="ctr">
              <a:spcBef>
                <a:spcPct val="0"/>
              </a:spcBef>
            </a:pPr>
            <a:r>
              <a:rPr lang="de-DE" altLang="de-DE" sz="2400" dirty="0"/>
              <a:t>Erklärung von Klassifikatoren des maschinellen Lernens durch vielfältige kontrafaktische Erklärungen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D168784-3728-424B-947E-7EEB778900E7}"/>
              </a:ext>
            </a:extLst>
          </p:cNvPr>
          <p:cNvSpPr txBox="1"/>
          <p:nvPr/>
        </p:nvSpPr>
        <p:spPr>
          <a:xfrm>
            <a:off x="1799690" y="3682479"/>
            <a:ext cx="5544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altLang="de-DE" sz="2400" dirty="0">
              <a:solidFill>
                <a:schemeClr val="bg1"/>
              </a:solidFill>
            </a:endParaRPr>
          </a:p>
          <a:p>
            <a:pPr algn="ctr"/>
            <a:r>
              <a:rPr lang="de-DE" altLang="de-DE" sz="2000" dirty="0">
                <a:solidFill>
                  <a:schemeClr val="bg1"/>
                </a:solidFill>
              </a:rPr>
              <a:t>Fabian Wagner</a:t>
            </a:r>
          </a:p>
          <a:p>
            <a:pPr algn="l"/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5DE91A-7A1D-93F2-FD92-7D920BF17C2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63526" y="6453188"/>
            <a:ext cx="1860550" cy="2857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C098E26C-8BAA-4ACE-83C6-8F04F03DE16F}" type="datetime1">
              <a:rPr lang="de-DE" smtClean="0"/>
              <a:pPr>
                <a:spcAft>
                  <a:spcPts val="600"/>
                </a:spcAft>
                <a:defRPr/>
              </a:pPr>
              <a:t>26.01.2026</a:t>
            </a:fld>
            <a:endParaRPr lang="de-DE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57784369-FDFE-1B51-B8F3-DE918310EE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324101" y="6453188"/>
            <a:ext cx="4948238" cy="285750"/>
          </a:xfrm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C5B54E-1612-1707-76B4-BF6CFFA21A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51726" y="6453188"/>
            <a:ext cx="1439863" cy="2857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A8CEE4A-E163-47DE-8784-5B8DE9F7A78A}" type="slidenum">
              <a:rPr lang="de-DE" altLang="de-DE" smtClean="0"/>
              <a:pPr>
                <a:spcAft>
                  <a:spcPts val="600"/>
                </a:spcAft>
                <a:defRPr/>
              </a:pPr>
              <a:t>2</a:t>
            </a:fld>
            <a:endParaRPr lang="de-DE" alt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AB433C6-30C0-712D-BDFF-7F60F240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b">
            <a:normAutofit/>
          </a:bodyPr>
          <a:lstStyle/>
          <a:p>
            <a:r>
              <a:rPr lang="de-DE" sz="2400" dirty="0"/>
              <a:t>Gliederung</a:t>
            </a:r>
            <a:endParaRPr lang="de-DE" dirty="0"/>
          </a:p>
        </p:txBody>
      </p:sp>
      <p:graphicFrame>
        <p:nvGraphicFramePr>
          <p:cNvPr id="8" name="Inhaltsplatzhalter 1">
            <a:extLst>
              <a:ext uri="{FF2B5EF4-FFF2-40B4-BE49-F238E27FC236}">
                <a16:creationId xmlns:a16="http://schemas.microsoft.com/office/drawing/2014/main" id="{39BE4EFF-2E29-A200-4F15-DEB077D7EAE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50003271"/>
              </p:ext>
            </p:extLst>
          </p:nvPr>
        </p:nvGraphicFramePr>
        <p:xfrm>
          <a:off x="2033718" y="1196752"/>
          <a:ext cx="5076564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955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58986C-CD79-68E0-623A-378D44510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Motivation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679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6AE5-CCB8-1D11-2349-9211BB7E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582CF10-6FB8-F0AA-9084-C56BC5502F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5184576" cy="504056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KI-Systeme bestimmen heutzutage, ob …</a:t>
            </a:r>
          </a:p>
          <a:p>
            <a:pPr marL="0" indent="0">
              <a:buNone/>
            </a:pPr>
            <a:r>
              <a:rPr lang="de-DE" dirty="0"/>
              <a:t>		… ein Kredit gewährt wird.</a:t>
            </a:r>
          </a:p>
          <a:p>
            <a:pPr marL="0" indent="0">
              <a:buNone/>
            </a:pPr>
            <a:r>
              <a:rPr lang="de-DE" dirty="0"/>
              <a:t>		… eine Bewerbung Erfolg hat.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KI als Ministerin für öffentliche Aufträge in Albanien benannt [1]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Treffen (lebensverändernde) Entscheidungen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Sind sie fair und frei von Bias?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Sind sie nachvollziehbar?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Sind sie voraussagbar?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Sind sie änderbar?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F90C69-1AD6-1192-43E1-0A27E86F3A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8466ED-F64D-8C25-20EF-8EF9927A96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A62195-3F2C-5893-1BB8-D6E4805D18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C49418A-3D7B-F02F-7AA3-041C1952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Wozu Erklärbare KI?</a:t>
            </a:r>
          </a:p>
        </p:txBody>
      </p:sp>
      <p:pic>
        <p:nvPicPr>
          <p:cNvPr id="8" name="Grafik 7" descr="Ein Bild, das Menschliches Gesicht, Person, Kleidung, Mode enthält.&#10;&#10;KI-generierte Inhalte können fehlerhaft sein.">
            <a:extLst>
              <a:ext uri="{FF2B5EF4-FFF2-40B4-BE49-F238E27FC236}">
                <a16:creationId xmlns:a16="http://schemas.microsoft.com/office/drawing/2014/main" id="{66BEB3C1-B184-C331-8CC9-91EB93F8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2001898"/>
            <a:ext cx="2592288" cy="270398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8C00331-F4A8-8E6F-6EE6-50793397485B}"/>
              </a:ext>
            </a:extLst>
          </p:cNvPr>
          <p:cNvSpPr txBox="1"/>
          <p:nvPr/>
        </p:nvSpPr>
        <p:spPr>
          <a:xfrm>
            <a:off x="7812360" y="4678189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Verdana" panose="020B0604030504040204" pitchFamily="34" charset="0"/>
                <a:ea typeface="Verdana" panose="020B0604030504040204" pitchFamily="34" charset="0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209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EB67-0EDC-4AB3-1276-CDF10E7C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402D144-26A8-6D02-8B81-D80F68A21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Grundlegende Begriffe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779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173E-7682-FD60-2AD4-9CE21ED8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F84CE52-CAA2-1025-B9D8-31177E10AB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6E90C4-E011-48C5-762F-B5EB1EE8A4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EBE593-F01A-9F00-88F2-57519DF63F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229332C-3BA1-0126-7149-8AACEF0C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Allgemeine Begriffe</a:t>
            </a:r>
          </a:p>
        </p:txBody>
      </p:sp>
      <p:pic>
        <p:nvPicPr>
          <p:cNvPr id="7" name="Grafik 6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924138A8-9DBC-4D79-585E-AAABCA037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39" y="2796063"/>
            <a:ext cx="8640000" cy="1265873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2BC4E12-9D29-BE3C-1FCE-CDCC495953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7087" y="1175933"/>
            <a:ext cx="4176464" cy="79208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Eingabe bestehend aus kontinuierlichen und kategorialen Merkmalen</a:t>
            </a:r>
          </a:p>
          <a:p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3F8E070-E604-B7C3-D1D4-756629CF2265}"/>
              </a:ext>
            </a:extLst>
          </p:cNvPr>
          <p:cNvCxnSpPr>
            <a:cxnSpLocks/>
          </p:cNvCxnSpPr>
          <p:nvPr/>
        </p:nvCxnSpPr>
        <p:spPr>
          <a:xfrm flipH="1">
            <a:off x="1691680" y="1916832"/>
            <a:ext cx="432396" cy="879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5FB9E10-5268-6EA3-3B6B-3E444BAC43B3}"/>
              </a:ext>
            </a:extLst>
          </p:cNvPr>
          <p:cNvSpPr txBox="1"/>
          <p:nvPr/>
        </p:nvSpPr>
        <p:spPr>
          <a:xfrm>
            <a:off x="5688632" y="1652888"/>
            <a:ext cx="2699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Ergebnis der Verarbeitung ist eine diskrete (binäre) Ausgabe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AE8CF78-D1F5-74F9-A263-ADA13C83D211}"/>
              </a:ext>
            </a:extLst>
          </p:cNvPr>
          <p:cNvCxnSpPr>
            <a:cxnSpLocks/>
          </p:cNvCxnSpPr>
          <p:nvPr/>
        </p:nvCxnSpPr>
        <p:spPr>
          <a:xfrm>
            <a:off x="6804248" y="2382042"/>
            <a:ext cx="360040" cy="5263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06AC3024-352F-1E22-9643-48780972524B}"/>
              </a:ext>
            </a:extLst>
          </p:cNvPr>
          <p:cNvSpPr txBox="1"/>
          <p:nvPr/>
        </p:nvSpPr>
        <p:spPr>
          <a:xfrm>
            <a:off x="2771800" y="4948814"/>
            <a:ext cx="2592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Modell zur Klassifikation einer Eingabe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CE01A4C-B1CB-3326-8381-5C83621C94A4}"/>
              </a:ext>
            </a:extLst>
          </p:cNvPr>
          <p:cNvCxnSpPr>
            <a:cxnSpLocks/>
          </p:cNvCxnSpPr>
          <p:nvPr/>
        </p:nvCxnSpPr>
        <p:spPr>
          <a:xfrm flipV="1">
            <a:off x="3923928" y="3968742"/>
            <a:ext cx="288032" cy="9800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0" name="Grafik 1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EC6783BF-3EB7-3391-42A8-383A5D457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212977"/>
            <a:ext cx="1711371" cy="459676"/>
          </a:xfrm>
          <a:prstGeom prst="rect">
            <a:avLst/>
          </a:prstGeom>
        </p:spPr>
      </p:pic>
      <p:pic>
        <p:nvPicPr>
          <p:cNvPr id="18" name="Grafik 17" descr="Ein Bild, das Schrift, Typografie, Text, Grafiken enthält.&#10;&#10;KI-generierte Inhalte können fehlerhaft sein.">
            <a:extLst>
              <a:ext uri="{FF2B5EF4-FFF2-40B4-BE49-F238E27FC236}">
                <a16:creationId xmlns:a16="http://schemas.microsoft.com/office/drawing/2014/main" id="{EFC69798-126A-3901-B504-F03778692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642" y="3350098"/>
            <a:ext cx="1130194" cy="175205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DDB1D0CE-33D6-95B3-A544-BFC76DDB8CCF}"/>
              </a:ext>
            </a:extLst>
          </p:cNvPr>
          <p:cNvSpPr/>
          <p:nvPr/>
        </p:nvSpPr>
        <p:spPr>
          <a:xfrm>
            <a:off x="2627784" y="2645216"/>
            <a:ext cx="3024336" cy="3088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F6C867A-D416-CE6C-AE9A-427B0A3376A9}"/>
              </a:ext>
            </a:extLst>
          </p:cNvPr>
          <p:cNvSpPr/>
          <p:nvPr/>
        </p:nvSpPr>
        <p:spPr>
          <a:xfrm>
            <a:off x="5652119" y="1355974"/>
            <a:ext cx="3227619" cy="3088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AEDC078-885F-7196-8FB1-1B2CC2A326B3}"/>
              </a:ext>
            </a:extLst>
          </p:cNvPr>
          <p:cNvSpPr txBox="1"/>
          <p:nvPr/>
        </p:nvSpPr>
        <p:spPr>
          <a:xfrm>
            <a:off x="3275855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0173900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11EC-0510-1029-5840-344FB7AE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7A61A4-DD4A-5567-C7FC-F01C5B0130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E4EA44-22F6-6DFD-0EB9-C84CEFC9CF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CF3047-7DC0-E824-BA26-448EA0DCAE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D26FB42-6B03-243C-A741-902952BB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Allgemeine Begriffe</a:t>
            </a:r>
          </a:p>
        </p:txBody>
      </p:sp>
      <p:pic>
        <p:nvPicPr>
          <p:cNvPr id="7" name="Grafik 6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886F1519-1B65-715C-5B09-0034B60DA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39" y="2796063"/>
            <a:ext cx="8640000" cy="1265873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89026B9-AA0D-C4AE-8EC2-71DD56EA80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7087" y="1175933"/>
            <a:ext cx="4176464" cy="79208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Eingabe bestehend aus kontinuierlichen und kategorialen Merkmalen</a:t>
            </a:r>
          </a:p>
          <a:p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954AEC1-2FCD-5A16-56A0-964DDD8A80BC}"/>
              </a:ext>
            </a:extLst>
          </p:cNvPr>
          <p:cNvCxnSpPr>
            <a:cxnSpLocks/>
          </p:cNvCxnSpPr>
          <p:nvPr/>
        </p:nvCxnSpPr>
        <p:spPr>
          <a:xfrm flipH="1">
            <a:off x="1691680" y="1916832"/>
            <a:ext cx="432396" cy="879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EEB4CDF9-0DAE-3D43-C2B6-6AF876EA89C1}"/>
              </a:ext>
            </a:extLst>
          </p:cNvPr>
          <p:cNvSpPr txBox="1"/>
          <p:nvPr/>
        </p:nvSpPr>
        <p:spPr>
          <a:xfrm>
            <a:off x="5688632" y="1652888"/>
            <a:ext cx="2699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Ergebnis der Verarbeitung ist eine diskrete (binäre) Ausgabe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7FB4934-DB4F-7B1A-1C0D-F72C11FF59C3}"/>
              </a:ext>
            </a:extLst>
          </p:cNvPr>
          <p:cNvCxnSpPr>
            <a:cxnSpLocks/>
          </p:cNvCxnSpPr>
          <p:nvPr/>
        </p:nvCxnSpPr>
        <p:spPr>
          <a:xfrm>
            <a:off x="6804248" y="2382042"/>
            <a:ext cx="360040" cy="5263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EBFD8454-A0A5-5713-A02C-F13637AD26FB}"/>
              </a:ext>
            </a:extLst>
          </p:cNvPr>
          <p:cNvSpPr txBox="1"/>
          <p:nvPr/>
        </p:nvSpPr>
        <p:spPr>
          <a:xfrm>
            <a:off x="2771800" y="4948814"/>
            <a:ext cx="2880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Nur Modell zur Klassifikation einer Eingabe betrachtet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A44944C-AFED-7883-FB1B-5E11C3E3129B}"/>
              </a:ext>
            </a:extLst>
          </p:cNvPr>
          <p:cNvCxnSpPr>
            <a:cxnSpLocks/>
          </p:cNvCxnSpPr>
          <p:nvPr/>
        </p:nvCxnSpPr>
        <p:spPr>
          <a:xfrm flipV="1">
            <a:off x="3923928" y="3968742"/>
            <a:ext cx="288032" cy="9800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0" name="Grafik 1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15AFE725-574D-57D2-A3EA-55B36B50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3212977"/>
            <a:ext cx="1711371" cy="459676"/>
          </a:xfrm>
          <a:prstGeom prst="rect">
            <a:avLst/>
          </a:prstGeom>
        </p:spPr>
      </p:pic>
      <p:pic>
        <p:nvPicPr>
          <p:cNvPr id="18" name="Grafik 17" descr="Ein Bild, das Schrift, Typografie, Text, Grafiken enthält.&#10;&#10;KI-generierte Inhalte können fehlerhaft sein.">
            <a:extLst>
              <a:ext uri="{FF2B5EF4-FFF2-40B4-BE49-F238E27FC236}">
                <a16:creationId xmlns:a16="http://schemas.microsoft.com/office/drawing/2014/main" id="{EF556B36-45D7-5EBE-2251-E22122CD8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642" y="3350098"/>
            <a:ext cx="1130194" cy="175205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B8885724-A5AD-1055-174A-F7E7A62A243B}"/>
              </a:ext>
            </a:extLst>
          </p:cNvPr>
          <p:cNvSpPr/>
          <p:nvPr/>
        </p:nvSpPr>
        <p:spPr>
          <a:xfrm>
            <a:off x="5652119" y="1355974"/>
            <a:ext cx="3227619" cy="3088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19C8E58-7FD9-0A9C-6EB0-021E85245F0B}"/>
              </a:ext>
            </a:extLst>
          </p:cNvPr>
          <p:cNvSpPr txBox="1"/>
          <p:nvPr/>
        </p:nvSpPr>
        <p:spPr>
          <a:xfrm>
            <a:off x="3275855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5615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52DAF-68E8-EE1E-D250-07397ECE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31640E-D731-8A3D-7C9B-E3A7BC359F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712149-DCC6-CCEF-2FC2-A9760C3DAE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2D885A-3B81-F9AC-38C2-311ECB88E8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7CBEB71-38C5-2151-39E0-653C4CD7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Allgemeine Begriffe</a:t>
            </a:r>
          </a:p>
        </p:txBody>
      </p:sp>
      <p:pic>
        <p:nvPicPr>
          <p:cNvPr id="7" name="Grafik 6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7B1336C9-E432-93F7-0231-50681430E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39" y="2796063"/>
            <a:ext cx="8640000" cy="1265873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795DF9D-000A-A1E5-DF1E-DB479AC2EA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7087" y="1175933"/>
            <a:ext cx="4176464" cy="79208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Eingabe bestehend aus kontinuierlichen und kategorialen Merkmalen</a:t>
            </a:r>
          </a:p>
          <a:p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0897EFA-92B8-C444-D8AF-1242CBC0CFD2}"/>
              </a:ext>
            </a:extLst>
          </p:cNvPr>
          <p:cNvCxnSpPr>
            <a:cxnSpLocks/>
          </p:cNvCxnSpPr>
          <p:nvPr/>
        </p:nvCxnSpPr>
        <p:spPr>
          <a:xfrm flipH="1">
            <a:off x="1691680" y="1916832"/>
            <a:ext cx="432396" cy="879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3A71F993-F453-AFBC-35B4-C249B2B1A76C}"/>
              </a:ext>
            </a:extLst>
          </p:cNvPr>
          <p:cNvSpPr txBox="1"/>
          <p:nvPr/>
        </p:nvSpPr>
        <p:spPr>
          <a:xfrm>
            <a:off x="5688632" y="1652888"/>
            <a:ext cx="2699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Ergebnis der Verarbeitung ist eine diskrete (binäre) Ausgabe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E86E8C3-8AFA-3C1F-73A0-5A0D20121258}"/>
              </a:ext>
            </a:extLst>
          </p:cNvPr>
          <p:cNvCxnSpPr>
            <a:cxnSpLocks/>
          </p:cNvCxnSpPr>
          <p:nvPr/>
        </p:nvCxnSpPr>
        <p:spPr>
          <a:xfrm>
            <a:off x="6804248" y="2382042"/>
            <a:ext cx="360040" cy="5263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43C9981-1499-D02D-43B0-16454F44130D}"/>
              </a:ext>
            </a:extLst>
          </p:cNvPr>
          <p:cNvSpPr txBox="1"/>
          <p:nvPr/>
        </p:nvSpPr>
        <p:spPr>
          <a:xfrm>
            <a:off x="2771800" y="4948814"/>
            <a:ext cx="2592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Modell zur Klassifikation einer Eingabe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C13F638-AB6E-AFCB-33DC-3D6907C3F7D4}"/>
              </a:ext>
            </a:extLst>
          </p:cNvPr>
          <p:cNvCxnSpPr>
            <a:cxnSpLocks/>
          </p:cNvCxnSpPr>
          <p:nvPr/>
        </p:nvCxnSpPr>
        <p:spPr>
          <a:xfrm flipV="1">
            <a:off x="3923928" y="3968742"/>
            <a:ext cx="288032" cy="9800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0" name="Grafik 1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03C20F31-CC2A-3F84-6D00-CC1748BCB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212977"/>
            <a:ext cx="1711371" cy="459676"/>
          </a:xfrm>
          <a:prstGeom prst="rect">
            <a:avLst/>
          </a:prstGeom>
        </p:spPr>
      </p:pic>
      <p:pic>
        <p:nvPicPr>
          <p:cNvPr id="18" name="Grafik 17" descr="Ein Bild, das Schrift, Typografie, Text, Grafiken enthält.&#10;&#10;KI-generierte Inhalte können fehlerhaft sein.">
            <a:extLst>
              <a:ext uri="{FF2B5EF4-FFF2-40B4-BE49-F238E27FC236}">
                <a16:creationId xmlns:a16="http://schemas.microsoft.com/office/drawing/2014/main" id="{E6B5947F-F9F1-BEAF-4FA1-C597621DA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642" y="3350098"/>
            <a:ext cx="1130194" cy="17520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22B5717-3ECB-A47F-10D7-87BBDCEEAA08}"/>
              </a:ext>
            </a:extLst>
          </p:cNvPr>
          <p:cNvSpPr txBox="1"/>
          <p:nvPr/>
        </p:nvSpPr>
        <p:spPr>
          <a:xfrm>
            <a:off x="3275855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37342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C606-5BD4-D4A9-3CE1-EFF71171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1C94B5-F100-02B1-3DAB-38973309CD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44" y="1196752"/>
            <a:ext cx="8504438" cy="5112568"/>
          </a:xfrm>
        </p:spPr>
        <p:txBody>
          <a:bodyPr/>
          <a:lstStyle/>
          <a:p>
            <a:pPr marL="0" indent="0">
              <a:buNone/>
            </a:pPr>
            <a:r>
              <a:rPr lang="de-DE" sz="1600" b="1" dirty="0"/>
              <a:t>DiCE - Di</a:t>
            </a:r>
            <a:r>
              <a:rPr lang="de-DE" sz="1600" dirty="0"/>
              <a:t>verse </a:t>
            </a:r>
            <a:r>
              <a:rPr lang="de-DE" sz="1600" b="1" dirty="0"/>
              <a:t>C</a:t>
            </a:r>
            <a:r>
              <a:rPr lang="de-DE" sz="1600" dirty="0"/>
              <a:t>ounterfactual </a:t>
            </a:r>
            <a:r>
              <a:rPr lang="de-DE" sz="1600" b="1" dirty="0"/>
              <a:t>E</a:t>
            </a:r>
            <a:r>
              <a:rPr lang="de-DE" sz="1600" dirty="0"/>
              <a:t>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Lokal: Erklärung nur für Einzelfälle, nicht für gesamtes Modellverhalten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Post-hoc: Erklärt bereits trainierte ML-Modelle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FB2442-5628-D318-90A6-1A8A9755D6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931911-9EE4-8D87-90B4-93DA42D7C9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CA7825-2908-0D2A-AE25-402B9E6B9C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FBFA5C-2656-A783-DAC8-E183C88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Methodisch-spezifische Begriffe</a:t>
            </a:r>
          </a:p>
        </p:txBody>
      </p:sp>
      <p:pic>
        <p:nvPicPr>
          <p:cNvPr id="8" name="Grafik 7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6EB2E71A-D9BC-9081-339A-20B38E8C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15" y="3927378"/>
            <a:ext cx="8689268" cy="130182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498CDB5-E5B1-78C5-7A5E-84E8985C7C4E}"/>
              </a:ext>
            </a:extLst>
          </p:cNvPr>
          <p:cNvSpPr txBox="1"/>
          <p:nvPr/>
        </p:nvSpPr>
        <p:spPr>
          <a:xfrm>
            <a:off x="683568" y="2729885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Modifiziertes Gegenbeispiel zur ursprünglichen Eingabe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B7E8D5B-A5FA-6FE7-0F5B-FD1144FAA936}"/>
              </a:ext>
            </a:extLst>
          </p:cNvPr>
          <p:cNvSpPr txBox="1"/>
          <p:nvPr/>
        </p:nvSpPr>
        <p:spPr>
          <a:xfrm>
            <a:off x="6372200" y="3130718"/>
            <a:ext cx="2010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Gewünschte Klasse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51D9FC-8C9B-BE42-4EC5-1A10852303FB}"/>
              </a:ext>
            </a:extLst>
          </p:cNvPr>
          <p:cNvSpPr txBox="1"/>
          <p:nvPr/>
        </p:nvSpPr>
        <p:spPr>
          <a:xfrm>
            <a:off x="2700339" y="54469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Interne Logik ist aufgrund der Komplexität nicht unmittelbar nachvollziehbar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F795C3D-9F2E-567F-6110-3105AE39F503}"/>
              </a:ext>
            </a:extLst>
          </p:cNvPr>
          <p:cNvCxnSpPr>
            <a:cxnSpLocks/>
          </p:cNvCxnSpPr>
          <p:nvPr/>
        </p:nvCxnSpPr>
        <p:spPr>
          <a:xfrm flipH="1">
            <a:off x="1691680" y="3438143"/>
            <a:ext cx="288032" cy="580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1877305-1D59-A1F5-BC7A-4887F5D4463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377456" y="3500050"/>
            <a:ext cx="121975" cy="583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41CCF21-FF4E-D929-8C96-E8D42BEECC2D}"/>
              </a:ext>
            </a:extLst>
          </p:cNvPr>
          <p:cNvCxnSpPr>
            <a:cxnSpLocks/>
          </p:cNvCxnSpPr>
          <p:nvPr/>
        </p:nvCxnSpPr>
        <p:spPr>
          <a:xfrm flipV="1">
            <a:off x="4499992" y="4797152"/>
            <a:ext cx="72008" cy="7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3B2C45BC-ABFF-315F-BD70-96D3D58822BA}"/>
              </a:ext>
            </a:extLst>
          </p:cNvPr>
          <p:cNvSpPr/>
          <p:nvPr/>
        </p:nvSpPr>
        <p:spPr>
          <a:xfrm>
            <a:off x="5721141" y="2830862"/>
            <a:ext cx="3387363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46DF5A9-18E1-7693-A1C1-2567D8E28186}"/>
              </a:ext>
            </a:extLst>
          </p:cNvPr>
          <p:cNvSpPr/>
          <p:nvPr/>
        </p:nvSpPr>
        <p:spPr>
          <a:xfrm>
            <a:off x="2771800" y="3694958"/>
            <a:ext cx="4104456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25ED98E-FBC3-8F6C-EE8C-E8BB1E2B1079}"/>
              </a:ext>
            </a:extLst>
          </p:cNvPr>
          <p:cNvSpPr/>
          <p:nvPr/>
        </p:nvSpPr>
        <p:spPr>
          <a:xfrm>
            <a:off x="111252" y="2703390"/>
            <a:ext cx="4104456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9FBD7F1-0541-7BD6-A12A-1701D14266B7}"/>
              </a:ext>
            </a:extLst>
          </p:cNvPr>
          <p:cNvSpPr txBox="1"/>
          <p:nvPr/>
        </p:nvSpPr>
        <p:spPr>
          <a:xfrm>
            <a:off x="5076056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8227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89DB-DAB7-8478-AA29-4C9F28BA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5D436CD-3A02-14B5-FE39-E4EB774C0B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44" y="1196752"/>
            <a:ext cx="8504438" cy="5112568"/>
          </a:xfrm>
        </p:spPr>
        <p:txBody>
          <a:bodyPr/>
          <a:lstStyle/>
          <a:p>
            <a:pPr marL="0" indent="0">
              <a:buNone/>
            </a:pPr>
            <a:r>
              <a:rPr lang="de-DE" sz="1600" b="1" dirty="0"/>
              <a:t>DiCE - Di</a:t>
            </a:r>
            <a:r>
              <a:rPr lang="de-DE" sz="1600" dirty="0"/>
              <a:t>verse </a:t>
            </a:r>
            <a:r>
              <a:rPr lang="de-DE" sz="1600" b="1" dirty="0"/>
              <a:t>C</a:t>
            </a:r>
            <a:r>
              <a:rPr lang="de-DE" sz="1600" dirty="0"/>
              <a:t>ounterfactual </a:t>
            </a:r>
            <a:r>
              <a:rPr lang="de-DE" sz="1600" b="1" dirty="0"/>
              <a:t>E</a:t>
            </a:r>
            <a:r>
              <a:rPr lang="de-DE" sz="1600" dirty="0"/>
              <a:t>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Lokal: Erklärung nur für Einzelfälle, nicht für gesamtes Modellverhalten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Post-hoc: Erklärt bereits trainierte ML-Modelle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F37619-DFA6-9B60-60EF-7F5A837E85B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7CE3BE-498C-33A0-E667-49EB13F480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88D0D5-71E7-F3F3-4659-F8320CBCBC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10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6EA2D4F-AF13-DF91-9A63-68477304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Methodisch-spezifische Begriffe</a:t>
            </a:r>
          </a:p>
        </p:txBody>
      </p:sp>
      <p:pic>
        <p:nvPicPr>
          <p:cNvPr id="8" name="Grafik 7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3F282A5-E16D-78EE-5362-39621A08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5" y="3927378"/>
            <a:ext cx="8689268" cy="130182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728D065-4E6A-3F55-48A1-D914D3FABF8B}"/>
              </a:ext>
            </a:extLst>
          </p:cNvPr>
          <p:cNvSpPr txBox="1"/>
          <p:nvPr/>
        </p:nvSpPr>
        <p:spPr>
          <a:xfrm>
            <a:off x="683568" y="2729885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Modifiziertes Gegenbeispiel zur ursprünglichen Eingabe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171B2F9-E3AF-6DCF-6A4D-1AD01112E977}"/>
              </a:ext>
            </a:extLst>
          </p:cNvPr>
          <p:cNvSpPr txBox="1"/>
          <p:nvPr/>
        </p:nvSpPr>
        <p:spPr>
          <a:xfrm>
            <a:off x="6372200" y="3130718"/>
            <a:ext cx="2010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Gewünschte Klasse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FD9AAB-854E-CB73-4CBC-9D6C1A14F59C}"/>
              </a:ext>
            </a:extLst>
          </p:cNvPr>
          <p:cNvSpPr txBox="1"/>
          <p:nvPr/>
        </p:nvSpPr>
        <p:spPr>
          <a:xfrm>
            <a:off x="2700339" y="54469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Interne Logik ist aufgrund der Komplexität nicht unmittelbar nachvollziehbar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F5DF9B7-BF93-13F4-6AA6-4B47A8B01133}"/>
              </a:ext>
            </a:extLst>
          </p:cNvPr>
          <p:cNvCxnSpPr>
            <a:cxnSpLocks/>
          </p:cNvCxnSpPr>
          <p:nvPr/>
        </p:nvCxnSpPr>
        <p:spPr>
          <a:xfrm flipH="1">
            <a:off x="1691680" y="3438143"/>
            <a:ext cx="288032" cy="580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EA5E5D2-5CB4-871D-C720-A75A98B3C92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377456" y="3500050"/>
            <a:ext cx="121975" cy="583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C7D9066-E67F-CDE6-9CFE-D662C71C16C9}"/>
              </a:ext>
            </a:extLst>
          </p:cNvPr>
          <p:cNvCxnSpPr>
            <a:cxnSpLocks/>
          </p:cNvCxnSpPr>
          <p:nvPr/>
        </p:nvCxnSpPr>
        <p:spPr>
          <a:xfrm flipV="1">
            <a:off x="4499992" y="4797152"/>
            <a:ext cx="72008" cy="7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BF53617E-9E51-891A-01A0-45ECF4A48E97}"/>
              </a:ext>
            </a:extLst>
          </p:cNvPr>
          <p:cNvSpPr/>
          <p:nvPr/>
        </p:nvSpPr>
        <p:spPr>
          <a:xfrm>
            <a:off x="5721141" y="2830862"/>
            <a:ext cx="3387363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FF82C82-5826-7FAD-3BDC-DBD1DAA95B32}"/>
              </a:ext>
            </a:extLst>
          </p:cNvPr>
          <p:cNvSpPr/>
          <p:nvPr/>
        </p:nvSpPr>
        <p:spPr>
          <a:xfrm>
            <a:off x="2771800" y="3694958"/>
            <a:ext cx="4104456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0B26F95-E705-CD18-FA9C-D7F2B396E423}"/>
              </a:ext>
            </a:extLst>
          </p:cNvPr>
          <p:cNvSpPr txBox="1"/>
          <p:nvPr/>
        </p:nvSpPr>
        <p:spPr>
          <a:xfrm>
            <a:off x="5076056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2826944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5CAE-D215-966B-D279-EB8B645E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8EEE3E6-F3D1-4FC9-D2C5-B0181B9038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44" y="1196752"/>
            <a:ext cx="8504438" cy="5112568"/>
          </a:xfrm>
        </p:spPr>
        <p:txBody>
          <a:bodyPr/>
          <a:lstStyle/>
          <a:p>
            <a:pPr marL="0" indent="0">
              <a:buNone/>
            </a:pPr>
            <a:r>
              <a:rPr lang="de-DE" sz="1600" b="1" dirty="0"/>
              <a:t>DiCE - Di</a:t>
            </a:r>
            <a:r>
              <a:rPr lang="de-DE" sz="1600" dirty="0"/>
              <a:t>verse </a:t>
            </a:r>
            <a:r>
              <a:rPr lang="de-DE" sz="1600" b="1" dirty="0"/>
              <a:t>C</a:t>
            </a:r>
            <a:r>
              <a:rPr lang="de-DE" sz="1600" dirty="0"/>
              <a:t>ounterfactual </a:t>
            </a:r>
            <a:r>
              <a:rPr lang="de-DE" sz="1600" b="1" dirty="0"/>
              <a:t>E</a:t>
            </a:r>
            <a:r>
              <a:rPr lang="de-DE" sz="1600" dirty="0"/>
              <a:t>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Lokal: Erklärung nur für Einzelfälle, nicht für gesamtes Modellverhalten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Post-hoc: Erklärt bereits trainierte ML-Modelle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193CAB-41DF-111C-CC8F-8B45B57E41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423353-ECC5-93B7-4AC4-2712E5BBFA0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EE16A2-985E-779E-2316-D5AD5F4764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F54D91F-2D26-13DE-52C4-294E5290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Methodisch-spezifische Begriffe</a:t>
            </a:r>
          </a:p>
        </p:txBody>
      </p:sp>
      <p:pic>
        <p:nvPicPr>
          <p:cNvPr id="8" name="Grafik 7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F7A5BF9A-B9A7-5F79-9223-08AD75DA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15" y="3927378"/>
            <a:ext cx="8689268" cy="130182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00F9157-56CB-3B29-34DA-B7FE9961E58E}"/>
              </a:ext>
            </a:extLst>
          </p:cNvPr>
          <p:cNvSpPr txBox="1"/>
          <p:nvPr/>
        </p:nvSpPr>
        <p:spPr>
          <a:xfrm>
            <a:off x="683568" y="2729885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Modifiziertes Gegenbeispiel zur ursprünglichen Eingabe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130074-2545-7707-8270-8E8C429F461E}"/>
              </a:ext>
            </a:extLst>
          </p:cNvPr>
          <p:cNvSpPr txBox="1"/>
          <p:nvPr/>
        </p:nvSpPr>
        <p:spPr>
          <a:xfrm>
            <a:off x="6372200" y="3130718"/>
            <a:ext cx="2010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Gewünschte Klasse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D785EC0-C745-9EC9-EFC9-63DDB4704FA4}"/>
              </a:ext>
            </a:extLst>
          </p:cNvPr>
          <p:cNvSpPr txBox="1"/>
          <p:nvPr/>
        </p:nvSpPr>
        <p:spPr>
          <a:xfrm>
            <a:off x="2700339" y="54469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Interne Logik ist aufgrund der Komplexität nicht unmittelbar nachvollziehbar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B7044214-B589-AAB1-574E-314961150645}"/>
              </a:ext>
            </a:extLst>
          </p:cNvPr>
          <p:cNvCxnSpPr>
            <a:cxnSpLocks/>
          </p:cNvCxnSpPr>
          <p:nvPr/>
        </p:nvCxnSpPr>
        <p:spPr>
          <a:xfrm flipH="1">
            <a:off x="1691680" y="3438143"/>
            <a:ext cx="288032" cy="580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AFD5D64-06B2-7395-DFF0-0874171BD92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377456" y="3500050"/>
            <a:ext cx="121975" cy="583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3D8913A-7884-74DE-4F0A-AACEC7AFFCBB}"/>
              </a:ext>
            </a:extLst>
          </p:cNvPr>
          <p:cNvCxnSpPr>
            <a:cxnSpLocks/>
          </p:cNvCxnSpPr>
          <p:nvPr/>
        </p:nvCxnSpPr>
        <p:spPr>
          <a:xfrm flipV="1">
            <a:off x="4499992" y="4797152"/>
            <a:ext cx="72008" cy="7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09960F34-0600-27F2-2FAE-84282D85DAB7}"/>
              </a:ext>
            </a:extLst>
          </p:cNvPr>
          <p:cNvSpPr/>
          <p:nvPr/>
        </p:nvSpPr>
        <p:spPr>
          <a:xfrm>
            <a:off x="5721141" y="2830862"/>
            <a:ext cx="3387363" cy="2398338"/>
          </a:xfrm>
          <a:prstGeom prst="rect">
            <a:avLst/>
          </a:prstGeom>
          <a:solidFill>
            <a:schemeClr val="bg2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9D2C19-9D7B-01EE-4E48-ADCEC6CBFBBF}"/>
              </a:ext>
            </a:extLst>
          </p:cNvPr>
          <p:cNvSpPr txBox="1"/>
          <p:nvPr/>
        </p:nvSpPr>
        <p:spPr>
          <a:xfrm>
            <a:off x="5076056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81653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E731-FBE1-661F-FCFA-39E099D5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87040D0-BF6E-61F7-B0FC-E5D4F8CA32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44" y="1196752"/>
            <a:ext cx="8504438" cy="5112568"/>
          </a:xfrm>
        </p:spPr>
        <p:txBody>
          <a:bodyPr/>
          <a:lstStyle/>
          <a:p>
            <a:pPr marL="0" indent="0">
              <a:buNone/>
            </a:pPr>
            <a:r>
              <a:rPr lang="de-DE" sz="1600" b="1" dirty="0"/>
              <a:t>DiCE - Di</a:t>
            </a:r>
            <a:r>
              <a:rPr lang="de-DE" sz="1600" dirty="0"/>
              <a:t>verse </a:t>
            </a:r>
            <a:r>
              <a:rPr lang="de-DE" sz="1600" b="1" dirty="0"/>
              <a:t>C</a:t>
            </a:r>
            <a:r>
              <a:rPr lang="de-DE" sz="1600" dirty="0"/>
              <a:t>ounterfactual </a:t>
            </a:r>
            <a:r>
              <a:rPr lang="de-DE" sz="1600" b="1" dirty="0"/>
              <a:t>E</a:t>
            </a:r>
            <a:r>
              <a:rPr lang="de-DE" sz="1600" dirty="0"/>
              <a:t>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Lokal: Erklärung nur für Einzelfälle, nicht für gesamtes Modellverhalten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Post-hoc: Erklärt bereits trainierte ML-Modelle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B918060-3352-C944-0AC4-2A589D015B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C9B8E-842D-4461-629E-3B2CF39BF8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809A87-C0B9-E718-608A-C5AAE564E6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3878AD-6C82-4EB9-9B95-377D4786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Methodisch-spezifische Begriffe</a:t>
            </a:r>
          </a:p>
        </p:txBody>
      </p:sp>
      <p:pic>
        <p:nvPicPr>
          <p:cNvPr id="8" name="Grafik 7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8592459D-25A1-4AB5-7F7F-3B4CEF307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5" y="3927378"/>
            <a:ext cx="8689268" cy="130182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0379391-6E0E-4F98-35E2-AF5D6987A995}"/>
              </a:ext>
            </a:extLst>
          </p:cNvPr>
          <p:cNvSpPr txBox="1"/>
          <p:nvPr/>
        </p:nvSpPr>
        <p:spPr>
          <a:xfrm>
            <a:off x="683568" y="2729885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Modifiziertes Gegenbeispiel zur ursprünglichen Eingabe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E4CE8F-5CA1-CB73-93BB-7301A92A8367}"/>
              </a:ext>
            </a:extLst>
          </p:cNvPr>
          <p:cNvSpPr txBox="1"/>
          <p:nvPr/>
        </p:nvSpPr>
        <p:spPr>
          <a:xfrm>
            <a:off x="6372200" y="3130718"/>
            <a:ext cx="2010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Gewünschte Klasse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ED96DF9-AE2D-1BB1-3C4E-83EA97B0C7EB}"/>
              </a:ext>
            </a:extLst>
          </p:cNvPr>
          <p:cNvSpPr txBox="1"/>
          <p:nvPr/>
        </p:nvSpPr>
        <p:spPr>
          <a:xfrm>
            <a:off x="2700339" y="54469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Interne Logik ist aufgrund der Komplexität nicht unmittelbar nachvollziehbar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B5C53F6-F203-C4FB-FD7F-8C88D37125C6}"/>
              </a:ext>
            </a:extLst>
          </p:cNvPr>
          <p:cNvCxnSpPr>
            <a:cxnSpLocks/>
          </p:cNvCxnSpPr>
          <p:nvPr/>
        </p:nvCxnSpPr>
        <p:spPr>
          <a:xfrm flipH="1">
            <a:off x="1691680" y="3438143"/>
            <a:ext cx="288032" cy="580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B824290-FE21-CDC2-427D-6834B1585D2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377456" y="3500050"/>
            <a:ext cx="121975" cy="583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0A71FC8-1754-A181-6B44-C89B7DCF6306}"/>
              </a:ext>
            </a:extLst>
          </p:cNvPr>
          <p:cNvCxnSpPr>
            <a:cxnSpLocks/>
          </p:cNvCxnSpPr>
          <p:nvPr/>
        </p:nvCxnSpPr>
        <p:spPr>
          <a:xfrm flipV="1">
            <a:off x="4499992" y="4797152"/>
            <a:ext cx="72008" cy="7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1FD39A98-0674-5AF3-4945-76EB7B359378}"/>
              </a:ext>
            </a:extLst>
          </p:cNvPr>
          <p:cNvSpPr txBox="1"/>
          <p:nvPr/>
        </p:nvSpPr>
        <p:spPr>
          <a:xfrm>
            <a:off x="5076056" y="29684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078279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9069-7EA5-A403-C28C-551558D3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8A7256A-996D-8503-38FA-1AB1FB5B31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/>
              <a:t>Methodisches Vorgehen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854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DFBB-726C-25C9-FF2E-57B5C95F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890E7D0-5B30-7FE5-9685-7E63A68BB2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/>
              <a:t>Ursprungssituation</a:t>
            </a:r>
            <a:br>
              <a:rPr lang="de-DE" b="1" dirty="0"/>
            </a:br>
            <a:r>
              <a:rPr lang="de-DE" dirty="0"/>
              <a:t>Ungewünschte Klassifikation einer Eingabe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Initialisierung</a:t>
            </a:r>
            <a:br>
              <a:rPr lang="de-DE" dirty="0"/>
            </a:br>
            <a:r>
              <a:rPr lang="de-DE" dirty="0"/>
              <a:t>Zufällige Initialisierung der Counterfactuals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Optimierung</a:t>
            </a:r>
            <a:br>
              <a:rPr lang="de-DE" dirty="0"/>
            </a:br>
            <a:r>
              <a:rPr lang="de-DE" dirty="0"/>
              <a:t>Optimierung nach Gültigkeit, Proximität und Diversität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Nachbearbeitung</a:t>
            </a:r>
            <a:br>
              <a:rPr lang="de-DE" dirty="0"/>
            </a:br>
            <a:r>
              <a:rPr lang="de-DE" dirty="0"/>
              <a:t>Optionale Nachbearbeitung zur Steigerung der Sparsität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677EF1-8836-BFF8-5CBD-D7E7941EDA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EB1748-A781-8BB2-18F3-60B9BDFBB8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50C7BC-5A22-5494-8E73-1B0E80AECC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119B7FD-D322-4277-966B-64865F09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Methodisches Vorgehen</a:t>
            </a:r>
          </a:p>
        </p:txBody>
      </p:sp>
    </p:spTree>
    <p:extLst>
      <p:ext uri="{BB962C8B-B14F-4D97-AF65-F5344CB8AC3E}">
        <p14:creationId xmlns:p14="http://schemas.microsoft.com/office/powerpoint/2010/main" val="337932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34F9-ADCD-FA98-C5FF-D80F9636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DA79BACD-E2D4-7F06-98AA-E12005909031}"/>
              </a:ext>
            </a:extLst>
          </p:cNvPr>
          <p:cNvSpPr/>
          <p:nvPr/>
        </p:nvSpPr>
        <p:spPr>
          <a:xfrm>
            <a:off x="5796136" y="1268760"/>
            <a:ext cx="3095453" cy="3600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17223EA0-5EDF-306A-1B7C-3A23720535DC}"/>
              </a:ext>
            </a:extLst>
          </p:cNvPr>
          <p:cNvSpPr txBox="1">
            <a:spLocks/>
          </p:cNvSpPr>
          <p:nvPr/>
        </p:nvSpPr>
        <p:spPr>
          <a:xfrm>
            <a:off x="5651674" y="1359744"/>
            <a:ext cx="3384376" cy="3888432"/>
          </a:xfrm>
          <a:prstGeom prst="rect">
            <a:avLst/>
          </a:prstGeom>
          <a:ln>
            <a:noFill/>
          </a:ln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3716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500" b="1" dirty="0"/>
              <a:t>Beispiel</a:t>
            </a:r>
          </a:p>
          <a:p>
            <a:pPr marL="0" indent="0" algn="ctr">
              <a:buNone/>
            </a:pPr>
            <a:r>
              <a:rPr lang="de-DE" sz="1500" i="1" dirty="0"/>
              <a:t>Was muss sich ändern, damit der Kredit gewährt wird?</a:t>
            </a:r>
            <a:endParaRPr lang="de-DE" i="1" dirty="0"/>
          </a:p>
          <a:p>
            <a:pPr marL="0" indent="0" algn="ctr">
              <a:buNone/>
            </a:pPr>
            <a:r>
              <a:rPr lang="de-DE" sz="1500" dirty="0"/>
              <a:t>[3.000€, Abitur, 35h/Woche]</a:t>
            </a:r>
          </a:p>
          <a:p>
            <a:pPr marL="0" indent="0" algn="ctr">
              <a:buNone/>
            </a:pPr>
            <a:endParaRPr lang="de-DE" sz="1500" dirty="0"/>
          </a:p>
          <a:p>
            <a:pPr marL="0" indent="0" algn="ctr">
              <a:buNone/>
            </a:pPr>
            <a:r>
              <a:rPr lang="de-DE" sz="1500" dirty="0"/>
              <a:t>„Kredit abgelehnt“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u="sng" dirty="0"/>
              <a:t>Initialisierung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[7.839€, Abitur, 57h/Woche]</a:t>
            </a:r>
          </a:p>
          <a:p>
            <a:pPr marL="0" indent="0" algn="ctr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77D5A54-E4B3-25E8-9FCB-BE807BDCF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5255693" cy="504056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/>
              <a:t>Ursprungssituation</a:t>
            </a:r>
            <a:br>
              <a:rPr lang="de-DE" b="1" dirty="0"/>
            </a:br>
            <a:r>
              <a:rPr lang="de-DE" dirty="0"/>
              <a:t>Ursprüngliche Eingabe resultiert in ungewünschter Klasse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500" dirty="0"/>
              <a:t>Was muss sich ändern, damit die gewünschte Klasse erreicht wird?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marL="342900" lvl="1" indent="0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b="1" u="sng" dirty="0"/>
              <a:t>Initialisierung der Erklärungen</a:t>
            </a:r>
            <a:br>
              <a:rPr lang="de-DE" dirty="0"/>
            </a:br>
            <a:r>
              <a:rPr lang="de-DE" dirty="0"/>
              <a:t>Zufällige Initialisierung von </a:t>
            </a:r>
            <a:r>
              <a:rPr lang="de-DE" i="1" dirty="0"/>
              <a:t>k</a:t>
            </a:r>
            <a:r>
              <a:rPr lang="de-DE" dirty="0"/>
              <a:t> Counterfactuals</a:t>
            </a:r>
            <a:br>
              <a:rPr lang="de-DE" dirty="0"/>
            </a:br>
            <a:r>
              <a:rPr lang="de-DE" dirty="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6FD4B67-0FA0-3067-E96C-D1AD29F1E9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C6FDB4-3DA9-8835-0CE0-3DF2C514BA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AA2A55-1960-CB0F-95AD-FCB6259248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2293726-2536-7CA8-3700-1070EDE0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Eingabe und Initialisierung 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5832C57-3F0E-2F19-5A71-63D046741F41}"/>
              </a:ext>
            </a:extLst>
          </p:cNvPr>
          <p:cNvCxnSpPr>
            <a:cxnSpLocks/>
          </p:cNvCxnSpPr>
          <p:nvPr/>
        </p:nvCxnSpPr>
        <p:spPr>
          <a:xfrm>
            <a:off x="7380312" y="2852936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8150F8C-E922-FEDD-9A4F-9449B4F4B303}"/>
              </a:ext>
            </a:extLst>
          </p:cNvPr>
          <p:cNvSpPr/>
          <p:nvPr/>
        </p:nvSpPr>
        <p:spPr>
          <a:xfrm>
            <a:off x="251520" y="3789040"/>
            <a:ext cx="8640069" cy="19325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F03EF9B-07AC-9BFA-0FA8-291B0EB37697}"/>
              </a:ext>
            </a:extLst>
          </p:cNvPr>
          <p:cNvSpPr/>
          <p:nvPr/>
        </p:nvSpPr>
        <p:spPr>
          <a:xfrm>
            <a:off x="5731623" y="1155064"/>
            <a:ext cx="3304427" cy="27779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93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75B7-1967-928A-D940-EF97E809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5B8EB7E-025C-104F-0CF6-27F35659E715}"/>
              </a:ext>
            </a:extLst>
          </p:cNvPr>
          <p:cNvSpPr/>
          <p:nvPr/>
        </p:nvSpPr>
        <p:spPr>
          <a:xfrm>
            <a:off x="5796136" y="1268760"/>
            <a:ext cx="3095453" cy="3600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23DF6898-C7A7-A817-26E0-7DDD3016F6D7}"/>
              </a:ext>
            </a:extLst>
          </p:cNvPr>
          <p:cNvSpPr txBox="1">
            <a:spLocks/>
          </p:cNvSpPr>
          <p:nvPr/>
        </p:nvSpPr>
        <p:spPr>
          <a:xfrm>
            <a:off x="5651674" y="1359744"/>
            <a:ext cx="3384376" cy="3888432"/>
          </a:xfrm>
          <a:prstGeom prst="rect">
            <a:avLst/>
          </a:prstGeom>
          <a:ln>
            <a:noFill/>
          </a:ln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3716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500" b="1" dirty="0"/>
              <a:t>Beispiel</a:t>
            </a:r>
          </a:p>
          <a:p>
            <a:pPr marL="0" indent="0" algn="ctr">
              <a:buNone/>
            </a:pPr>
            <a:r>
              <a:rPr lang="de-DE" sz="1500" i="1" dirty="0"/>
              <a:t>Was muss sich ändern, damit der Kredit gewährt wird?</a:t>
            </a:r>
            <a:endParaRPr lang="de-DE" i="1" dirty="0"/>
          </a:p>
          <a:p>
            <a:pPr marL="0" indent="0" algn="ctr">
              <a:buNone/>
            </a:pPr>
            <a:r>
              <a:rPr lang="de-DE" sz="1500" dirty="0"/>
              <a:t>[3.000€, Abitur, 35h/Woche]</a:t>
            </a:r>
          </a:p>
          <a:p>
            <a:pPr marL="0" indent="0" algn="ctr">
              <a:buNone/>
            </a:pPr>
            <a:endParaRPr lang="de-DE" sz="1500" dirty="0"/>
          </a:p>
          <a:p>
            <a:pPr marL="0" indent="0" algn="ctr">
              <a:buNone/>
            </a:pPr>
            <a:r>
              <a:rPr lang="de-DE" sz="1500" dirty="0"/>
              <a:t>„Kredit abgelehnt“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u="sng" dirty="0"/>
              <a:t>Initialisierung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[7.839€, Abitur, 57h/Woche]</a:t>
            </a:r>
          </a:p>
          <a:p>
            <a:pPr marL="0" indent="0" algn="ctr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AC3D0A1-CDEA-74D3-F74C-0BA26CCED4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1268760"/>
            <a:ext cx="5255693" cy="504056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/>
              <a:t>Ursprungssituation</a:t>
            </a:r>
            <a:br>
              <a:rPr lang="de-DE" b="1" dirty="0"/>
            </a:br>
            <a:r>
              <a:rPr lang="de-DE" dirty="0"/>
              <a:t>Ursprüngliche Eingabe resultiert in ungewünschter Klasse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500" dirty="0"/>
              <a:t>Was muss sich ändern, damit die gewünschte Klasse erreicht wird?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marL="342900" lvl="1" indent="0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b="1" u="sng" dirty="0"/>
              <a:t>Initialisierung der Erklärungen</a:t>
            </a:r>
            <a:br>
              <a:rPr lang="de-DE" dirty="0"/>
            </a:br>
            <a:r>
              <a:rPr lang="de-DE" dirty="0"/>
              <a:t>Zufällige Initialisierung von </a:t>
            </a:r>
            <a:r>
              <a:rPr lang="de-DE" i="1" dirty="0"/>
              <a:t>k</a:t>
            </a:r>
            <a:r>
              <a:rPr lang="de-DE" dirty="0"/>
              <a:t> Counterfactuals</a:t>
            </a:r>
            <a:br>
              <a:rPr lang="de-DE" dirty="0"/>
            </a:br>
            <a:r>
              <a:rPr lang="de-DE" dirty="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18E19D-D210-346B-388C-0C5E329424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597753-C870-209A-A5E5-E9ED1EC935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B055A7-5538-C764-57B9-61DA6363BA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7914470-655A-9106-22BE-FE67A1FA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Eingabe und Initialisierung 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58A43D7-DCD7-0078-1F80-F41CB35E0F89}"/>
              </a:ext>
            </a:extLst>
          </p:cNvPr>
          <p:cNvCxnSpPr>
            <a:cxnSpLocks/>
          </p:cNvCxnSpPr>
          <p:nvPr/>
        </p:nvCxnSpPr>
        <p:spPr>
          <a:xfrm>
            <a:off x="7380312" y="2852936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9810BF80-3447-1489-F6AA-3EF0A97AB888}"/>
              </a:ext>
            </a:extLst>
          </p:cNvPr>
          <p:cNvSpPr/>
          <p:nvPr/>
        </p:nvSpPr>
        <p:spPr>
          <a:xfrm>
            <a:off x="251520" y="3789040"/>
            <a:ext cx="8640069" cy="19325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489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5B1D-7D46-51AD-3F85-6E70984D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8E45BFD6-E6A9-FBDE-EFDF-9FD681453E76}"/>
              </a:ext>
            </a:extLst>
          </p:cNvPr>
          <p:cNvSpPr/>
          <p:nvPr/>
        </p:nvSpPr>
        <p:spPr>
          <a:xfrm>
            <a:off x="5796136" y="1268760"/>
            <a:ext cx="3095453" cy="3600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CB2BF273-427D-F8CC-DB85-6C7C1D5597F9}"/>
              </a:ext>
            </a:extLst>
          </p:cNvPr>
          <p:cNvSpPr txBox="1">
            <a:spLocks/>
          </p:cNvSpPr>
          <p:nvPr/>
        </p:nvSpPr>
        <p:spPr>
          <a:xfrm>
            <a:off x="5651674" y="1359744"/>
            <a:ext cx="3384376" cy="3888432"/>
          </a:xfrm>
          <a:prstGeom prst="rect">
            <a:avLst/>
          </a:prstGeom>
          <a:ln>
            <a:noFill/>
          </a:ln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3716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500" b="1" dirty="0"/>
              <a:t>Beispiel</a:t>
            </a:r>
          </a:p>
          <a:p>
            <a:pPr marL="0" indent="0" algn="ctr">
              <a:buNone/>
            </a:pPr>
            <a:r>
              <a:rPr lang="de-DE" sz="1500" i="1" dirty="0"/>
              <a:t>Was muss sich ändern, damit der Kredit gewährt wird?</a:t>
            </a:r>
            <a:endParaRPr lang="de-DE" i="1" dirty="0"/>
          </a:p>
          <a:p>
            <a:pPr marL="0" indent="0" algn="ctr">
              <a:buNone/>
            </a:pPr>
            <a:r>
              <a:rPr lang="de-DE" sz="1500" dirty="0"/>
              <a:t>[3.000€, Abitur, 35h/Woche]</a:t>
            </a:r>
          </a:p>
          <a:p>
            <a:pPr marL="0" indent="0" algn="ctr">
              <a:buNone/>
            </a:pPr>
            <a:endParaRPr lang="de-DE" sz="1500" dirty="0"/>
          </a:p>
          <a:p>
            <a:pPr marL="0" indent="0" algn="ctr">
              <a:buNone/>
            </a:pPr>
            <a:r>
              <a:rPr lang="de-DE" sz="1500" dirty="0"/>
              <a:t>„Kredit abgelehnt“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u="sng" dirty="0"/>
              <a:t>Initialisierung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[7.839€, Abitur, 57h/Woche]</a:t>
            </a:r>
          </a:p>
          <a:p>
            <a:pPr marL="0" indent="0" algn="ctr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4AAAEC3-4453-53C3-38BA-9B5FEF6FF95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51520" y="1268760"/>
                <a:ext cx="5255693" cy="5040560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de-DE" b="1" dirty="0"/>
                  <a:t>Ursprungssituation</a:t>
                </a:r>
                <a:br>
                  <a:rPr lang="de-DE" b="1" dirty="0"/>
                </a:br>
                <a:r>
                  <a:rPr lang="de-DE" dirty="0"/>
                  <a:t>Ursprüngliche Eingabe resultiert in ungewünschter Klasse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Was muss sich ändern, damit die gewünschte Klasse erreicht wird?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342900" lvl="1" indent="0">
                  <a:buNone/>
                </a:pPr>
                <a:endParaRPr lang="de-DE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b="1" dirty="0"/>
                  <a:t>Initialisierung der Erklärungen</a:t>
                </a:r>
                <a:br>
                  <a:rPr lang="de-DE" dirty="0"/>
                </a:br>
                <a:r>
                  <a:rPr lang="de-DE" dirty="0"/>
                  <a:t>Zufällige Initialisierung von </a:t>
                </a:r>
                <a:r>
                  <a:rPr lang="de-DE" i="1" dirty="0"/>
                  <a:t>k</a:t>
                </a:r>
                <a:r>
                  <a:rPr lang="de-DE" dirty="0"/>
                  <a:t>-vielen Counterfactuals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342900" indent="-342900">
                  <a:buFont typeface="+mj-lt"/>
                  <a:buAutoNum type="arabicPeriod"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4AAAEC3-4453-53C3-38BA-9B5FEF6FF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1520" y="1268760"/>
                <a:ext cx="5255693" cy="5040560"/>
              </a:xfrm>
              <a:blipFill>
                <a:blip r:embed="rId3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E678DC-1248-34E1-57ED-EBF586218D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BD98BD-43CB-D4E1-8B7B-E2EDB4D737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272170-A3BF-D9A1-3E92-A0B87A2AD1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8B3A48-6BC0-BF7A-2C5F-295A5682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Eingabe und Initialisierung 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7EDDD59-BB26-9EF7-AC5D-40E8E655D0F1}"/>
              </a:ext>
            </a:extLst>
          </p:cNvPr>
          <p:cNvCxnSpPr>
            <a:cxnSpLocks/>
          </p:cNvCxnSpPr>
          <p:nvPr/>
        </p:nvCxnSpPr>
        <p:spPr>
          <a:xfrm>
            <a:off x="7380312" y="2852936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DB7942C0-CCF3-A47B-CF9F-AA7BAD7818BC}"/>
              </a:ext>
            </a:extLst>
          </p:cNvPr>
          <p:cNvSpPr/>
          <p:nvPr/>
        </p:nvSpPr>
        <p:spPr>
          <a:xfrm>
            <a:off x="5731623" y="3789040"/>
            <a:ext cx="3159966" cy="19325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48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03F45-516C-40ED-F771-FFDC1DE94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F9119DC-C029-EE09-62B5-C71262A168D6}"/>
              </a:ext>
            </a:extLst>
          </p:cNvPr>
          <p:cNvSpPr/>
          <p:nvPr/>
        </p:nvSpPr>
        <p:spPr>
          <a:xfrm>
            <a:off x="5796136" y="1268760"/>
            <a:ext cx="3095453" cy="4320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719DEA1D-3CC6-E33B-48E1-F0DEBBCCAEF1}"/>
              </a:ext>
            </a:extLst>
          </p:cNvPr>
          <p:cNvSpPr txBox="1">
            <a:spLocks/>
          </p:cNvSpPr>
          <p:nvPr/>
        </p:nvSpPr>
        <p:spPr>
          <a:xfrm>
            <a:off x="5651674" y="1359744"/>
            <a:ext cx="3384376" cy="4373364"/>
          </a:xfrm>
          <a:prstGeom prst="rect">
            <a:avLst/>
          </a:prstGeom>
          <a:ln>
            <a:noFill/>
          </a:ln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3716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500" b="1" dirty="0"/>
              <a:t>Beispiel</a:t>
            </a:r>
          </a:p>
          <a:p>
            <a:pPr marL="0" indent="0" algn="ctr">
              <a:buNone/>
            </a:pPr>
            <a:r>
              <a:rPr lang="de-DE" sz="1500" i="1" dirty="0"/>
              <a:t>Was muss sich ändern, damit der Kredit gewährt wird?</a:t>
            </a:r>
            <a:endParaRPr lang="de-DE" i="1" dirty="0"/>
          </a:p>
          <a:p>
            <a:pPr marL="0" indent="0" algn="ctr">
              <a:buNone/>
            </a:pPr>
            <a:r>
              <a:rPr lang="de-DE" sz="1500" dirty="0"/>
              <a:t>[3.000€, Abitur, 35h/Woche]</a:t>
            </a:r>
          </a:p>
          <a:p>
            <a:pPr marL="0" indent="0" algn="ctr">
              <a:buNone/>
            </a:pPr>
            <a:endParaRPr lang="de-DE" sz="1500" dirty="0"/>
          </a:p>
          <a:p>
            <a:pPr marL="0" indent="0" algn="ctr">
              <a:buNone/>
            </a:pPr>
            <a:r>
              <a:rPr lang="de-DE" sz="1500" dirty="0"/>
              <a:t>„Kredit abgelehnt“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u="sng" dirty="0"/>
              <a:t>Initialisierung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[7.839€, Abitur, 57h/Woche]</a:t>
            </a:r>
          </a:p>
          <a:p>
            <a:pPr marL="0" indent="0" algn="ctr">
              <a:buNone/>
            </a:pPr>
            <a:r>
              <a:rPr lang="de-DE" dirty="0"/>
              <a:t>[132€, Bachelor, 140h/Woche]</a:t>
            </a:r>
          </a:p>
          <a:p>
            <a:pPr marL="0" indent="0" algn="ctr">
              <a:buNone/>
            </a:pPr>
            <a:r>
              <a:rPr lang="de-DE" dirty="0"/>
              <a:t>[103.700€, Keiner, 1h/Woche]</a:t>
            </a:r>
          </a:p>
          <a:p>
            <a:pPr marL="0" indent="0" algn="ctr">
              <a:buNone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4D45F82-60AB-CF3F-B63B-4C159838528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51520" y="1268760"/>
                <a:ext cx="5255693" cy="5040560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de-DE" b="1" dirty="0"/>
                  <a:t>Ursprungssituation</a:t>
                </a:r>
                <a:br>
                  <a:rPr lang="de-DE" b="1" dirty="0"/>
                </a:br>
                <a:r>
                  <a:rPr lang="de-DE" dirty="0"/>
                  <a:t>Ursprüngliche Eingabe resultiert in ungewünschter Klasse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Was muss sich ändern, damit die gewünschte Klasse erreicht wird?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342900" lvl="1" indent="0">
                  <a:buNone/>
                </a:pPr>
                <a:endParaRPr lang="de-DE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b="1" dirty="0"/>
                  <a:t>Initialisierung der Erklärungen</a:t>
                </a:r>
                <a:br>
                  <a:rPr lang="de-DE" dirty="0"/>
                </a:br>
                <a:r>
                  <a:rPr lang="de-DE" dirty="0"/>
                  <a:t>Zufällige Initialisierung von </a:t>
                </a:r>
                <a:r>
                  <a:rPr lang="de-DE" i="1" dirty="0"/>
                  <a:t>k</a:t>
                </a:r>
                <a:r>
                  <a:rPr lang="de-DE" dirty="0"/>
                  <a:t>-vielen Counterfactuals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342900" lvl="1" indent="0">
                  <a:buNone/>
                </a:pPr>
                <a:br>
                  <a:rPr lang="de-DE" dirty="0"/>
                </a:br>
                <a:r>
                  <a:rPr lang="de-DE" dirty="0"/>
                  <a:t>	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4D45F82-60AB-CF3F-B63B-4C15983852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1520" y="1268760"/>
                <a:ext cx="5255693" cy="5040560"/>
              </a:xfrm>
              <a:blipFill>
                <a:blip r:embed="rId3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C584DB-6157-DE43-12E7-5295E3B5D4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1DD4D9-3E99-F4F2-253A-775564E774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8497A4-55A7-2F66-5507-6EC6A56201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461B212-0DB2-AF4C-AC8D-65B7D367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Eingabe und Initialisierung 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3677AF3-5DB3-66B6-F55E-D7E0CB47A116}"/>
              </a:ext>
            </a:extLst>
          </p:cNvPr>
          <p:cNvCxnSpPr>
            <a:cxnSpLocks/>
          </p:cNvCxnSpPr>
          <p:nvPr/>
        </p:nvCxnSpPr>
        <p:spPr>
          <a:xfrm>
            <a:off x="7380312" y="2852936"/>
            <a:ext cx="0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783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8646-192B-FB38-6E95-1DA39B2B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42751F0-185D-1A2D-5BC5-65D44A670E5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de-DE" b="1" dirty="0"/>
                  <a:t>Optimierung der Verlustfunktion</a:t>
                </a:r>
              </a:p>
              <a:p>
                <a:pPr marL="0" indent="0">
                  <a:buNone/>
                </a:pPr>
                <a:r>
                  <a:rPr lang="de-DE" b="1" dirty="0"/>
                  <a:t>     Ziel: </a:t>
                </a:r>
                <a:r>
                  <a:rPr lang="de-DE" dirty="0"/>
                  <a:t>Gleichzeitige Optimierung aller </a:t>
                </a:r>
                <a:r>
                  <a:rPr lang="de-DE" i="1" dirty="0"/>
                  <a:t>k</a:t>
                </a:r>
                <a:r>
                  <a:rPr lang="de-DE" dirty="0"/>
                  <a:t>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dpp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Gültigkeit prüft, ob gewünschte Zielklasse erreicht wurde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Einfluss von Proximität und Diversität steuerbar durch </a:t>
                </a:r>
                <a:r>
                  <a:rPr lang="el-GR" sz="1500" dirty="0"/>
                  <a:t>λ</a:t>
                </a:r>
                <a:r>
                  <a:rPr lang="de-DE" sz="1500" dirty="0"/>
                  <a:t>-Parameter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42751F0-185D-1A2D-5BC5-65D44A670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BD2C1A6-01F8-5709-2D31-A0E94791F3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034B0B-B8A6-DC32-26A2-EBA5A19F7D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56F522-12CB-311D-0233-36A5905A50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19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27C3C29-CD6A-59ED-1919-8EC5FB24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Optimierung der Verlustfunktion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69265270-96B4-79D7-5D1E-01BD6905DFAE}"/>
              </a:ext>
            </a:extLst>
          </p:cNvPr>
          <p:cNvSpPr/>
          <p:nvPr/>
        </p:nvSpPr>
        <p:spPr>
          <a:xfrm rot="5400000">
            <a:off x="3126124" y="2426605"/>
            <a:ext cx="299464" cy="1584176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E11CBC69-C678-8ABF-38EF-6582DBFDE0DE}"/>
              </a:ext>
            </a:extLst>
          </p:cNvPr>
          <p:cNvSpPr/>
          <p:nvPr/>
        </p:nvSpPr>
        <p:spPr>
          <a:xfrm rot="5400000">
            <a:off x="4714048" y="2502360"/>
            <a:ext cx="299464" cy="1432665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2C496FA1-3016-9745-F274-E04108C033B7}"/>
              </a:ext>
            </a:extLst>
          </p:cNvPr>
          <p:cNvSpPr/>
          <p:nvPr/>
        </p:nvSpPr>
        <p:spPr>
          <a:xfrm rot="5400000">
            <a:off x="6774029" y="2042063"/>
            <a:ext cx="299464" cy="2353261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DF4B12B-C6A1-608E-AAEB-0D3199DE4936}"/>
              </a:ext>
            </a:extLst>
          </p:cNvPr>
          <p:cNvSpPr txBox="1"/>
          <p:nvPr/>
        </p:nvSpPr>
        <p:spPr>
          <a:xfrm>
            <a:off x="2735796" y="338136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Gültigkeit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D6EDA78-9DA1-7BD4-05C6-87E26D5DD63A}"/>
              </a:ext>
            </a:extLst>
          </p:cNvPr>
          <p:cNvSpPr txBox="1"/>
          <p:nvPr/>
        </p:nvSpPr>
        <p:spPr>
          <a:xfrm>
            <a:off x="4355976" y="3393033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Proximität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C346616-4E16-2A7D-C8F9-8BBDE3570EE4}"/>
              </a:ext>
            </a:extLst>
          </p:cNvPr>
          <p:cNvSpPr txBox="1"/>
          <p:nvPr/>
        </p:nvSpPr>
        <p:spPr>
          <a:xfrm>
            <a:off x="6372200" y="3381364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Diversität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B7C0C44-50D9-BD78-0A6F-F926FB97D89A}"/>
              </a:ext>
            </a:extLst>
          </p:cNvPr>
          <p:cNvSpPr/>
          <p:nvPr/>
        </p:nvSpPr>
        <p:spPr>
          <a:xfrm>
            <a:off x="323528" y="2204864"/>
            <a:ext cx="8208912" cy="3168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637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5A1C-7E8F-FCAB-769D-61E6A693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140013A-4812-981E-AC3B-14A5507FD13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de-DE" b="1" dirty="0"/>
                  <a:t>Optimierung der Verlustfunktion</a:t>
                </a:r>
              </a:p>
              <a:p>
                <a:pPr marL="0" indent="0">
                  <a:buNone/>
                </a:pPr>
                <a:r>
                  <a:rPr lang="de-DE" b="1" dirty="0"/>
                  <a:t>     Ziel: </a:t>
                </a:r>
                <a:r>
                  <a:rPr lang="de-DE" dirty="0"/>
                  <a:t>Gleichzeitige Optimierung aller </a:t>
                </a:r>
                <a:r>
                  <a:rPr lang="de-DE" i="1" dirty="0"/>
                  <a:t>k</a:t>
                </a:r>
                <a:r>
                  <a:rPr lang="de-DE" dirty="0"/>
                  <a:t>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Gültigkeit prüft, ob gewünschte Zielklasse erreicht wurde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Einfluss von Proximität und Diversität steuerbar durch </a:t>
                </a:r>
                <a:r>
                  <a:rPr lang="el-GR" sz="1500" dirty="0"/>
                  <a:t>λ</a:t>
                </a:r>
                <a:r>
                  <a:rPr lang="de-DE" sz="1500" dirty="0"/>
                  <a:t>-Parameter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140013A-4812-981E-AC3B-14A5507FD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CDB9A5-7A01-247F-CFEF-3FF0970CDC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1276B-78E6-C295-4493-484E34A4F7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6CF22E-28FA-7B2F-29E7-EE93E6C96A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20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C529C7-5973-DB85-75D7-3B1505F0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Optimierung der Verlustfunktion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085EC0AA-0B50-D66C-D2F6-B4769E91B747}"/>
              </a:ext>
            </a:extLst>
          </p:cNvPr>
          <p:cNvSpPr/>
          <p:nvPr/>
        </p:nvSpPr>
        <p:spPr>
          <a:xfrm rot="5400000">
            <a:off x="3126124" y="2426605"/>
            <a:ext cx="299464" cy="1584176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1E4EA172-D6E3-34F6-4B44-F2875357A8AB}"/>
              </a:ext>
            </a:extLst>
          </p:cNvPr>
          <p:cNvSpPr/>
          <p:nvPr/>
        </p:nvSpPr>
        <p:spPr>
          <a:xfrm rot="5400000">
            <a:off x="4714048" y="2502360"/>
            <a:ext cx="299464" cy="1432665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022DD160-B63B-27E2-AAEC-C41864DD2F67}"/>
              </a:ext>
            </a:extLst>
          </p:cNvPr>
          <p:cNvSpPr/>
          <p:nvPr/>
        </p:nvSpPr>
        <p:spPr>
          <a:xfrm rot="5400000">
            <a:off x="6774029" y="2042063"/>
            <a:ext cx="299464" cy="2353261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E4E8D7A-2C40-45C1-7C84-4A1F719FC867}"/>
              </a:ext>
            </a:extLst>
          </p:cNvPr>
          <p:cNvSpPr txBox="1"/>
          <p:nvPr/>
        </p:nvSpPr>
        <p:spPr>
          <a:xfrm>
            <a:off x="2735796" y="338136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Gültigkeit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DB3AA3-5D8C-254F-5D9A-72933A30CCA3}"/>
              </a:ext>
            </a:extLst>
          </p:cNvPr>
          <p:cNvSpPr txBox="1"/>
          <p:nvPr/>
        </p:nvSpPr>
        <p:spPr>
          <a:xfrm>
            <a:off x="4355976" y="3393033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Proximität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2344192-21DC-2662-272D-70B82F277496}"/>
              </a:ext>
            </a:extLst>
          </p:cNvPr>
          <p:cNvSpPr txBox="1"/>
          <p:nvPr/>
        </p:nvSpPr>
        <p:spPr>
          <a:xfrm>
            <a:off x="6372200" y="3381364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Diversität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0182A67-0916-9E8C-4F2B-07E1BB6AAB3B}"/>
              </a:ext>
            </a:extLst>
          </p:cNvPr>
          <p:cNvSpPr/>
          <p:nvPr/>
        </p:nvSpPr>
        <p:spPr>
          <a:xfrm>
            <a:off x="323528" y="3056023"/>
            <a:ext cx="8208912" cy="23892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351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88C2-8A26-99AF-1236-18557EB7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7ED3E35F-D73A-37CA-38C4-ED22205A0B2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de-DE" b="1" dirty="0"/>
                  <a:t>Optimierung der Verlustfunktion</a:t>
                </a:r>
              </a:p>
              <a:p>
                <a:pPr marL="0" indent="0">
                  <a:buNone/>
                </a:pPr>
                <a:r>
                  <a:rPr lang="de-DE" b="1" dirty="0"/>
                  <a:t>     Ziel: </a:t>
                </a:r>
                <a:r>
                  <a:rPr lang="de-DE" dirty="0"/>
                  <a:t>Gleichzeitige Optimierung aller </a:t>
                </a:r>
                <a:r>
                  <a:rPr lang="de-DE" i="1" dirty="0"/>
                  <a:t>k</a:t>
                </a:r>
                <a:r>
                  <a:rPr lang="de-DE" dirty="0"/>
                  <a:t>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Gültigkeit prüft, ob gewünschte Zielklasse erreicht wurde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Einfluss von Proximität und Diversität steuerbar durch </a:t>
                </a:r>
                <a:r>
                  <a:rPr lang="el-GR" sz="1500" dirty="0"/>
                  <a:t>λ</a:t>
                </a:r>
                <a:r>
                  <a:rPr lang="de-DE" sz="1500" dirty="0"/>
                  <a:t>-Parameter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7ED3E35F-D73A-37CA-38C4-ED22205A0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4DCEFB-82B2-D3E2-B42E-DE9DE81A2E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D75757-04A2-542A-5B88-90CDB73818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BF78B4-7B3E-9AD1-AEE9-8191BB403F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ADDEC43-E7F5-827E-589B-ED20F411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Optimierung der Verlustfunktion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6513546-F6AA-9995-5125-DB645D16397A}"/>
              </a:ext>
            </a:extLst>
          </p:cNvPr>
          <p:cNvSpPr/>
          <p:nvPr/>
        </p:nvSpPr>
        <p:spPr>
          <a:xfrm rot="5400000">
            <a:off x="3126124" y="2426605"/>
            <a:ext cx="299464" cy="1584176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0CBED528-BCD1-9774-369E-D6E69975449D}"/>
              </a:ext>
            </a:extLst>
          </p:cNvPr>
          <p:cNvSpPr/>
          <p:nvPr/>
        </p:nvSpPr>
        <p:spPr>
          <a:xfrm rot="5400000">
            <a:off x="4714048" y="2502360"/>
            <a:ext cx="299464" cy="1432665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7C88AADC-9871-2FAF-950D-D2F87714E1EA}"/>
              </a:ext>
            </a:extLst>
          </p:cNvPr>
          <p:cNvSpPr/>
          <p:nvPr/>
        </p:nvSpPr>
        <p:spPr>
          <a:xfrm rot="5400000">
            <a:off x="6774029" y="2042063"/>
            <a:ext cx="299464" cy="2353261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B8DB94-6363-74DA-C29E-7F33DCCF3E2B}"/>
              </a:ext>
            </a:extLst>
          </p:cNvPr>
          <p:cNvSpPr txBox="1"/>
          <p:nvPr/>
        </p:nvSpPr>
        <p:spPr>
          <a:xfrm>
            <a:off x="2735796" y="338136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Gültigkeit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ABE0BF-F906-20FD-34BB-1671792B5D91}"/>
              </a:ext>
            </a:extLst>
          </p:cNvPr>
          <p:cNvSpPr txBox="1"/>
          <p:nvPr/>
        </p:nvSpPr>
        <p:spPr>
          <a:xfrm>
            <a:off x="4355976" y="3393033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Proximität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D4AA90-7E43-A433-40B4-B02EEB434017}"/>
              </a:ext>
            </a:extLst>
          </p:cNvPr>
          <p:cNvSpPr txBox="1"/>
          <p:nvPr/>
        </p:nvSpPr>
        <p:spPr>
          <a:xfrm>
            <a:off x="6372200" y="3381364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Diversität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08C1F72-CD07-9327-FC45-56D0A1AC333F}"/>
              </a:ext>
            </a:extLst>
          </p:cNvPr>
          <p:cNvSpPr/>
          <p:nvPr/>
        </p:nvSpPr>
        <p:spPr>
          <a:xfrm>
            <a:off x="323528" y="3841843"/>
            <a:ext cx="8208912" cy="16033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301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B02F-FA74-0A52-4850-2BA50D31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D32E62E-5022-D16D-2B98-3B6F0B24254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de-DE" b="1" dirty="0"/>
                  <a:t>Optimierung der Verlustfunktion</a:t>
                </a:r>
              </a:p>
              <a:p>
                <a:pPr marL="0" indent="0">
                  <a:buNone/>
                </a:pPr>
                <a:r>
                  <a:rPr lang="de-DE" b="1" dirty="0"/>
                  <a:t>     Ziel: </a:t>
                </a:r>
                <a:r>
                  <a:rPr lang="de-DE" dirty="0"/>
                  <a:t>Gleichzeitige Optimierung aller </a:t>
                </a:r>
                <a:r>
                  <a:rPr lang="de-DE" i="1" dirty="0"/>
                  <a:t>k</a:t>
                </a:r>
                <a:r>
                  <a:rPr lang="de-DE" dirty="0"/>
                  <a:t>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585788" lvl="1" indent="-285750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marL="585788" lvl="1" indent="-285750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Gültigkeit prüft, ob gewünschte Zielklasse erreicht wurde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     </a:t>
                </a: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D32E62E-5022-D16D-2B98-3B6F0B242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8BA5E4-A27E-6D58-0B62-C9547F57BC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5CA329-6CE2-7C95-9513-514B388326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E28E6E-9BBD-14F9-07B2-E1EC264D86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F7E7A71-4C27-CBB3-EBB4-669776EA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Optimierung der Verlustfunktion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D564704-9DA0-48AE-A271-1FBEB19AE7F5}"/>
              </a:ext>
            </a:extLst>
          </p:cNvPr>
          <p:cNvSpPr txBox="1"/>
          <p:nvPr/>
        </p:nvSpPr>
        <p:spPr>
          <a:xfrm>
            <a:off x="1763688" y="362586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Vorhersage des Modells für ein Counterfactual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07B7201-87DA-1605-9C3B-E49EFD6E549A}"/>
              </a:ext>
            </a:extLst>
          </p:cNvPr>
          <p:cNvCxnSpPr>
            <a:cxnSpLocks/>
          </p:cNvCxnSpPr>
          <p:nvPr/>
        </p:nvCxnSpPr>
        <p:spPr>
          <a:xfrm flipV="1">
            <a:off x="3131840" y="2864060"/>
            <a:ext cx="504056" cy="761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1D3438B-C65A-2A7C-8EB4-34CFB2659BB6}"/>
              </a:ext>
            </a:extLst>
          </p:cNvPr>
          <p:cNvCxnSpPr>
            <a:cxnSpLocks/>
          </p:cNvCxnSpPr>
          <p:nvPr/>
        </p:nvCxnSpPr>
        <p:spPr>
          <a:xfrm flipH="1" flipV="1">
            <a:off x="4139952" y="2864060"/>
            <a:ext cx="874292" cy="761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9004F49C-5616-96A2-ABEC-4218B4814AC4}"/>
              </a:ext>
            </a:extLst>
          </p:cNvPr>
          <p:cNvSpPr txBox="1"/>
          <p:nvPr/>
        </p:nvSpPr>
        <p:spPr>
          <a:xfrm>
            <a:off x="4572000" y="362586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Gewünschte Zielklasse</a:t>
            </a:r>
          </a:p>
        </p:txBody>
      </p:sp>
    </p:spTree>
    <p:extLst>
      <p:ext uri="{BB962C8B-B14F-4D97-AF65-F5344CB8AC3E}">
        <p14:creationId xmlns:p14="http://schemas.microsoft.com/office/powerpoint/2010/main" val="17356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EDFD-38FA-2E80-C3ED-E5B638F9B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C0C91AC-67B2-81D7-0872-B8AAF8F23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2040163"/>
            <a:ext cx="6315137" cy="400532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9AB1DA-8F2A-2636-CE14-AE95EFFBA0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231AF2-1028-0B74-7603-BC64387B13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23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D627DC1-6101-3F12-A83F-6F308154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Hinge-Loss-Funktion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34919E-2CB2-CC27-E4C6-90C53C512149}"/>
              </a:ext>
            </a:extLst>
          </p:cNvPr>
          <p:cNvSpPr txBox="1"/>
          <p:nvPr/>
        </p:nvSpPr>
        <p:spPr>
          <a:xfrm>
            <a:off x="2098743" y="6085875"/>
            <a:ext cx="5491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[https://medium.com/@amitbalharakr93/activation-functions-loss-functions-and-optimizer-a5da4571e401, besucht am 24.01.26.]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08699C8-7F79-A965-EAE1-EDF2B61447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520" y="980728"/>
            <a:ext cx="8640000" cy="5328592"/>
          </a:xfrm>
        </p:spPr>
        <p:txBody>
          <a:bodyPr/>
          <a:lstStyle/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BDE4932-E9D2-08E4-2C3C-FC910018539B}"/>
              </a:ext>
            </a:extLst>
          </p:cNvPr>
          <p:cNvSpPr txBox="1"/>
          <p:nvPr/>
        </p:nvSpPr>
        <p:spPr>
          <a:xfrm>
            <a:off x="323528" y="1218948"/>
            <a:ext cx="820891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Verwendung einer </a:t>
            </a:r>
            <a:r>
              <a:rPr lang="de-DE" sz="1500" b="1" dirty="0">
                <a:latin typeface="Verdana" panose="020B0604030504040204" pitchFamily="34" charset="0"/>
                <a:ea typeface="Verdana" panose="020B0604030504040204" pitchFamily="34" charset="0"/>
              </a:rPr>
              <a:t>Hinge-Loss-Funktion</a:t>
            </a: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de-DE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yloss</a:t>
            </a: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</a:p>
          <a:p>
            <a:pPr marL="800100" lvl="1" indent="-342900">
              <a:buClr>
                <a:srgbClr val="115E67"/>
              </a:buClr>
              <a:buFont typeface="Wingdings" panose="05000000000000000000" pitchFamily="2" charset="2"/>
              <a:buChar char="Ø"/>
            </a:pP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Modell muss nur gewünschte Klasse vorhersagen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BA18CF-F9D0-53E3-51D9-F3A2753A2980}"/>
                  </a:ext>
                </a:extLst>
              </p:cNvPr>
              <p:cNvSpPr txBox="1"/>
              <p:nvPr/>
            </p:nvSpPr>
            <p:spPr>
              <a:xfrm>
                <a:off x="-144524" y="500756"/>
                <a:ext cx="9145016" cy="876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BA18CF-F9D0-53E3-51D9-F3A2753A2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524" y="500756"/>
                <a:ext cx="9145016" cy="8769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596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6E8823-2D48-D286-A8C5-4A42409BA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0D5BC17-08E9-1600-ED69-5D1CC8B6E99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51520" y="795342"/>
                <a:ext cx="8640000" cy="551397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600" i="1" smtClean="0">
                          <a:latin typeface="Cambria Math" panose="02040503050406030204" pitchFamily="18" charset="0"/>
                        </a:rPr>
                        <m:t>yloss</m:t>
                      </m:r>
                      <m:r>
                        <a:rPr lang="de-DE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sz="160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de-DE" sz="16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6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de-DE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(0, 1−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logit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)))       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falls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falls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1600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0D5BC17-08E9-1600-ED69-5D1CC8B6E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1520" y="795342"/>
                <a:ext cx="8640000" cy="551397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0C7FFBE-B1DE-1276-2C96-6573CB449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602" y="1772816"/>
            <a:ext cx="6825836" cy="4329226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F6B954-76B9-496C-197E-A7B3360BBE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A66F11-4A15-8449-A58B-A744270646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E1A9EBF-5724-745F-CF3A-389AAA42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Hinge-Loss-Funktion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7D65EC-CAE3-F0FA-32B1-2FFA6611521F}"/>
              </a:ext>
            </a:extLst>
          </p:cNvPr>
          <p:cNvSpPr txBox="1"/>
          <p:nvPr/>
        </p:nvSpPr>
        <p:spPr>
          <a:xfrm>
            <a:off x="2042040" y="5991523"/>
            <a:ext cx="5491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[https://medium.com/@amitbalharakr93/activation-functions-loss-functions-and-optimizer-a5da4571e401, besucht am 24.01.26.]</a:t>
            </a:r>
          </a:p>
        </p:txBody>
      </p:sp>
    </p:spTree>
    <p:extLst>
      <p:ext uri="{BB962C8B-B14F-4D97-AF65-F5344CB8AC3E}">
        <p14:creationId xmlns:p14="http://schemas.microsoft.com/office/powerpoint/2010/main" val="167400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18B920-8EA0-27B4-F046-AA57FD2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7E1FDD-555F-4EAB-A2E1-CAFE8DE06A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B18E3D-C8DD-667E-B836-D943FDA041C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D085FF-3AD7-219E-730B-18BC68069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31115D-92F6-CA8A-20EA-C39DA21101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6E29DD7-4926-C4FE-6416-7113FA5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Logit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653680-3B6D-9702-CC09-7DB65BBD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1332" y="1428734"/>
            <a:ext cx="6336704" cy="412622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BB49DDC-E9B5-347B-A4A8-7F94FAE42429}"/>
              </a:ext>
            </a:extLst>
          </p:cNvPr>
          <p:cNvSpPr txBox="1"/>
          <p:nvPr/>
        </p:nvSpPr>
        <p:spPr>
          <a:xfrm>
            <a:off x="1331640" y="5661248"/>
            <a:ext cx="6624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Verdana" panose="020B0604030504040204" pitchFamily="34" charset="0"/>
                <a:ea typeface="Verdana" panose="020B0604030504040204" pitchFamily="34" charset="0"/>
              </a:rPr>
              <a:t>[https://en.wikipedia.org/wiki/Logit#/media/File:Logit.svg, besucht am 24.01.26.]</a:t>
            </a:r>
          </a:p>
        </p:txBody>
      </p:sp>
    </p:spTree>
    <p:extLst>
      <p:ext uri="{BB962C8B-B14F-4D97-AF65-F5344CB8AC3E}">
        <p14:creationId xmlns:p14="http://schemas.microsoft.com/office/powerpoint/2010/main" val="3481015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4E12-C7DE-5FD8-CB68-10EE5F24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51E904D-BA54-9A0C-58D6-88029240AC2A}"/>
              </a:ext>
            </a:extLst>
          </p:cNvPr>
          <p:cNvSpPr/>
          <p:nvPr/>
        </p:nvSpPr>
        <p:spPr>
          <a:xfrm>
            <a:off x="899593" y="4221088"/>
            <a:ext cx="7056784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30546B2-F72D-EE09-DBB4-D1113D8F9F3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Nähe</a:t>
                </a:r>
                <a:r>
                  <a:rPr lang="de-DE" dirty="0"/>
                  <a:t> der Counterfactuals </a:t>
                </a:r>
                <a:r>
                  <a:rPr lang="de-DE" i="1" dirty="0"/>
                  <a:t>c</a:t>
                </a:r>
                <a:r>
                  <a:rPr lang="de-DE" i="1" baseline="-25000" dirty="0"/>
                  <a:t>i</a:t>
                </a:r>
                <a:r>
                  <a:rPr lang="de-DE" dirty="0"/>
                  <a:t> zur ursprünglichen Eingabe </a:t>
                </a:r>
                <a:r>
                  <a:rPr lang="de-DE" i="1" dirty="0"/>
                  <a:t>x</a:t>
                </a: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Hohe Proximität = Kleiner Abstand</a:t>
                </a:r>
                <a:endParaRPr lang="de-DE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i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Nähe ist essenziell für die Machbarkeit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Ohne Proximität: Kein Bezug zur Ursprungssituation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[100.000€, Mittlere Reife, 90h/Woche]	</a:t>
                </a:r>
                <a:endParaRPr lang="de-DE" i="1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30546B2-F72D-EE09-DBB4-D1113D8F9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062CF8-23DD-F38E-6867-9E6322DC65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1B3531-534C-2392-60A2-E1771EF957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A0C2FE-681F-B119-79F2-9CAC143713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036F04-B7F0-FA65-D5BE-C1EAF5DB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7DD8DE4-1DCE-1D46-7A44-F7114D33E8A0}"/>
              </a:ext>
            </a:extLst>
          </p:cNvPr>
          <p:cNvCxnSpPr>
            <a:cxnSpLocks/>
          </p:cNvCxnSpPr>
          <p:nvPr/>
        </p:nvCxnSpPr>
        <p:spPr>
          <a:xfrm flipH="1">
            <a:off x="3491880" y="4941168"/>
            <a:ext cx="44377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1B05EB4B-3D97-A5FD-6FB6-8797FC5A369F}"/>
              </a:ext>
            </a:extLst>
          </p:cNvPr>
          <p:cNvSpPr/>
          <p:nvPr/>
        </p:nvSpPr>
        <p:spPr>
          <a:xfrm>
            <a:off x="251520" y="2132856"/>
            <a:ext cx="8568952" cy="37444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813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F40B-68F0-662A-79BD-B1E5684A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BFAA6EA-E481-30A1-54D6-8E8629F93474}"/>
              </a:ext>
            </a:extLst>
          </p:cNvPr>
          <p:cNvSpPr/>
          <p:nvPr/>
        </p:nvSpPr>
        <p:spPr>
          <a:xfrm>
            <a:off x="899593" y="4221088"/>
            <a:ext cx="7056784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5FCAA30-B75A-ECD2-FDD6-D469D4E16C9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Nähe</a:t>
                </a:r>
                <a:r>
                  <a:rPr lang="de-DE" dirty="0"/>
                  <a:t> der Counterfactuals </a:t>
                </a:r>
                <a:r>
                  <a:rPr lang="de-DE" i="1" dirty="0"/>
                  <a:t>c</a:t>
                </a:r>
                <a:r>
                  <a:rPr lang="de-DE" i="1" baseline="-25000" dirty="0"/>
                  <a:t>i</a:t>
                </a:r>
                <a:r>
                  <a:rPr lang="de-DE" dirty="0"/>
                  <a:t> zur ursprünglichen Eingabe </a:t>
                </a:r>
                <a:r>
                  <a:rPr lang="de-DE" i="1" dirty="0"/>
                  <a:t>x</a:t>
                </a: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Hohe Proximität = Kleiner Abstand</a:t>
                </a:r>
                <a:endParaRPr lang="de-DE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i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Nähe ist essenziell für die Machbarkeit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Ohne Proximität: Kein Bezug zur Ursprungssituation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[100.000€, Mittlere Reife, 90h/Woche]	</a:t>
                </a:r>
                <a:endParaRPr lang="de-DE" i="1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5FCAA30-B75A-ECD2-FDD6-D469D4E16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486AD1-865C-5DA6-66F9-A3ECB9711A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2ECD3A-F039-A9A6-76F0-BA0DEE3A87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FA2C4C-BF0A-3A8D-D52B-715167F88C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1A3F60-8995-78AF-AB9B-0B68B6AD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3019026-6FCE-9F5A-73F7-09AE25C84AF3}"/>
              </a:ext>
            </a:extLst>
          </p:cNvPr>
          <p:cNvCxnSpPr>
            <a:cxnSpLocks/>
          </p:cNvCxnSpPr>
          <p:nvPr/>
        </p:nvCxnSpPr>
        <p:spPr>
          <a:xfrm flipH="1">
            <a:off x="3491880" y="4941168"/>
            <a:ext cx="44377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885E3E1E-22ED-A751-17FC-A9AABB734C61}"/>
              </a:ext>
            </a:extLst>
          </p:cNvPr>
          <p:cNvSpPr/>
          <p:nvPr/>
        </p:nvSpPr>
        <p:spPr>
          <a:xfrm>
            <a:off x="251520" y="3212976"/>
            <a:ext cx="8568952" cy="26642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479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C83D-B92F-049F-E7DE-F30C9CBB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9AA78D4-64A4-33AB-B4A3-056FE8DE372F}"/>
              </a:ext>
            </a:extLst>
          </p:cNvPr>
          <p:cNvSpPr/>
          <p:nvPr/>
        </p:nvSpPr>
        <p:spPr>
          <a:xfrm>
            <a:off x="899593" y="4221088"/>
            <a:ext cx="7056784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EA71F11-07B6-2961-8419-361E09347BD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Nähe</a:t>
                </a:r>
                <a:r>
                  <a:rPr lang="de-DE" dirty="0"/>
                  <a:t> der Counterfactuals </a:t>
                </a:r>
                <a:r>
                  <a:rPr lang="de-DE" i="1" dirty="0"/>
                  <a:t>c</a:t>
                </a:r>
                <a:r>
                  <a:rPr lang="de-DE" i="1" baseline="-25000" dirty="0"/>
                  <a:t>i</a:t>
                </a:r>
                <a:r>
                  <a:rPr lang="de-DE" dirty="0"/>
                  <a:t> zur ursprünglichen Eingabe </a:t>
                </a:r>
                <a:r>
                  <a:rPr lang="de-DE" i="1" dirty="0"/>
                  <a:t>x</a:t>
                </a: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Hohe Proximität = Kleiner Abstand</a:t>
                </a:r>
                <a:endParaRPr lang="de-DE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i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Nähe ist essenziell für die Machbarkeit des </a:t>
                </a:r>
                <a:r>
                  <a:rPr lang="de-DE" sz="1500" dirty="0" err="1"/>
                  <a:t>Counterfactuals</a:t>
                </a: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Ohne Proximität: Kein Bezug zur Ursprungssituation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[100.000€, Mittlere Reife, 90h/Woche]	</a:t>
                </a:r>
                <a:endParaRPr lang="de-DE" i="1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EA71F11-07B6-2961-8419-361E09347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49EEB3-D17C-C41B-B4FA-58F426F549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CD2600-2294-2B1B-9961-358CFFE058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B32586-A44A-FB62-AF60-644CB3151B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9465A78-9D1F-FF50-0E74-406A71E5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C7B2879-92C5-9750-C69B-4755F4332157}"/>
              </a:ext>
            </a:extLst>
          </p:cNvPr>
          <p:cNvCxnSpPr>
            <a:cxnSpLocks/>
          </p:cNvCxnSpPr>
          <p:nvPr/>
        </p:nvCxnSpPr>
        <p:spPr>
          <a:xfrm flipH="1">
            <a:off x="3491880" y="4941168"/>
            <a:ext cx="44377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3F90271-BE0B-2C55-9325-E68ABF8B0730}"/>
              </a:ext>
            </a:extLst>
          </p:cNvPr>
          <p:cNvSpPr/>
          <p:nvPr/>
        </p:nvSpPr>
        <p:spPr>
          <a:xfrm>
            <a:off x="251520" y="4221088"/>
            <a:ext cx="8568952" cy="1656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895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3D3F3-666B-81CC-7460-1C5FD05F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5CAAD692-70A4-7FBF-ED48-E277D9301362}"/>
              </a:ext>
            </a:extLst>
          </p:cNvPr>
          <p:cNvSpPr/>
          <p:nvPr/>
        </p:nvSpPr>
        <p:spPr>
          <a:xfrm>
            <a:off x="899593" y="4221088"/>
            <a:ext cx="7056784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6477106-7E17-28E1-AED4-6E0C72CB800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Nähe</a:t>
                </a:r>
                <a:r>
                  <a:rPr lang="de-DE" dirty="0"/>
                  <a:t> der Counterfactuals </a:t>
                </a:r>
                <a:r>
                  <a:rPr lang="de-DE" i="1" dirty="0"/>
                  <a:t>c</a:t>
                </a:r>
                <a:r>
                  <a:rPr lang="de-DE" i="1" baseline="-25000" dirty="0"/>
                  <a:t>i</a:t>
                </a:r>
                <a:r>
                  <a:rPr lang="de-DE" dirty="0"/>
                  <a:t> zur ursprünglichen Eingabe </a:t>
                </a:r>
                <a:r>
                  <a:rPr lang="de-DE" i="1" dirty="0"/>
                  <a:t>x</a:t>
                </a: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Hohe Proximität = Kleiner Abstand</a:t>
                </a:r>
                <a:endParaRPr lang="de-DE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i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Nähe ist essenziell für die Machbarkeit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Ohne Proximität: Kein Bezug zur Ursprungssituation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[100.000€, Mittlere Reife, 90h/Woche]	</a:t>
                </a:r>
                <a:endParaRPr lang="de-DE" i="1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6477106-7E17-28E1-AED4-6E0C72CB8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073FD9-510A-197B-4A7C-336C897F02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454384-EFEB-678F-D88E-1019117B6BB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B8C7F9-5195-5134-5090-0CD5F9A3EF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29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F09F4AF-2575-9170-FF38-56E2A872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2B29543-46FE-E341-C3AA-F77FD69E8C97}"/>
              </a:ext>
            </a:extLst>
          </p:cNvPr>
          <p:cNvCxnSpPr>
            <a:cxnSpLocks/>
          </p:cNvCxnSpPr>
          <p:nvPr/>
        </p:nvCxnSpPr>
        <p:spPr>
          <a:xfrm flipH="1">
            <a:off x="3491880" y="4941168"/>
            <a:ext cx="44377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554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4DD5-FDFC-204B-CB33-65D5EAA1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9DAFDA7-7385-3AB7-32FD-93EEC4706266}"/>
              </a:ext>
            </a:extLst>
          </p:cNvPr>
          <p:cNvSpPr/>
          <p:nvPr/>
        </p:nvSpPr>
        <p:spPr>
          <a:xfrm>
            <a:off x="899593" y="4221088"/>
            <a:ext cx="7056784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1C09CA0-E646-45A2-B354-1B69181FE73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Nähe</a:t>
                </a:r>
                <a:r>
                  <a:rPr lang="de-DE" dirty="0"/>
                  <a:t> der Counterfactuals </a:t>
                </a:r>
                <a:r>
                  <a:rPr lang="de-DE" i="1" dirty="0"/>
                  <a:t>c</a:t>
                </a:r>
                <a:r>
                  <a:rPr lang="de-DE" i="1" baseline="-25000" dirty="0"/>
                  <a:t>i</a:t>
                </a:r>
                <a:r>
                  <a:rPr lang="de-DE" dirty="0"/>
                  <a:t> zur ursprünglichen Eingabe </a:t>
                </a:r>
                <a:r>
                  <a:rPr lang="de-DE" i="1" dirty="0"/>
                  <a:t>x</a:t>
                </a: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Hohe (niedrige) Proximität = Kleiner (großer) Abstand</a:t>
                </a:r>
                <a:endParaRPr lang="de-DE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i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Nähe ist essenziell für die Machbarkeit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Ohne Proximität: Kein Bezug zur Ursprungssituation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strike="sngStrike" dirty="0"/>
                  <a:t>[100.000€, Mittlere Reife, 90h/Woche]</a:t>
                </a:r>
                <a:r>
                  <a:rPr lang="de-DE" sz="1500" dirty="0"/>
                  <a:t>	 [3.500€, Abitur, 40h/Woche]</a:t>
                </a:r>
              </a:p>
              <a:p>
                <a:pPr marL="0" indent="0">
                  <a:buNone/>
                </a:pPr>
                <a:endParaRPr lang="de-DE" i="1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1C09CA0-E646-45A2-B354-1B69181FE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D6C627-478F-03FF-B881-9147C3C73AD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5375CA-2098-233F-7F79-57DE8D7BBE4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57C6A6-635A-41DE-C0EE-3576F34527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30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4C384D-6B78-2F93-C93E-D6272EFE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F6D99B7-99CB-469F-F11C-E0BA61795C5D}"/>
              </a:ext>
            </a:extLst>
          </p:cNvPr>
          <p:cNvCxnSpPr>
            <a:cxnSpLocks/>
          </p:cNvCxnSpPr>
          <p:nvPr/>
        </p:nvCxnSpPr>
        <p:spPr>
          <a:xfrm flipH="1">
            <a:off x="3491880" y="4941168"/>
            <a:ext cx="44377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776C661-843B-6EFE-C566-749AEFD99C61}"/>
              </a:ext>
            </a:extLst>
          </p:cNvPr>
          <p:cNvCxnSpPr>
            <a:cxnSpLocks/>
          </p:cNvCxnSpPr>
          <p:nvPr/>
        </p:nvCxnSpPr>
        <p:spPr>
          <a:xfrm>
            <a:off x="5580112" y="4941168"/>
            <a:ext cx="432048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13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D6F5-4769-EE10-EF0F-DE1FC5E3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935DDEE5-D9FC-EBD5-A52B-47EF22D2BF7D}"/>
              </a:ext>
            </a:extLst>
          </p:cNvPr>
          <p:cNvSpPr/>
          <p:nvPr/>
        </p:nvSpPr>
        <p:spPr>
          <a:xfrm>
            <a:off x="971600" y="4005064"/>
            <a:ext cx="6984776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2CC5926-4710-FCEC-C91F-4583982A51F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𝑑𝑝𝑝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[4.001€, Abitur,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2CC5926-4710-FCEC-C91F-4583982A5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3E458C-845A-C120-E398-58B3FC70A3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65F790-1C25-D899-0535-79E9E54CB8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A8BBA1-ECDB-8CF1-2870-AD5B2A54AE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976C229-0932-030E-A47F-55AE8DCA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A8704D7-584A-1070-4258-84354AFE78FE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4D709B0-19DB-B1B4-7EAB-4CAE23878353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F94E41D-1A5A-E849-BAE5-47A17D38D31F}"/>
              </a:ext>
            </a:extLst>
          </p:cNvPr>
          <p:cNvSpPr/>
          <p:nvPr/>
        </p:nvSpPr>
        <p:spPr>
          <a:xfrm>
            <a:off x="251520" y="2132856"/>
            <a:ext cx="8568952" cy="37444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9268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F772-A399-089A-7647-050026A7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BC47EE6A-0107-4FA7-8378-C6617E76EDF3}"/>
              </a:ext>
            </a:extLst>
          </p:cNvPr>
          <p:cNvSpPr/>
          <p:nvPr/>
        </p:nvSpPr>
        <p:spPr>
          <a:xfrm>
            <a:off x="971600" y="4005064"/>
            <a:ext cx="6984776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2401A07-9E6E-7FF6-D0BF-7979CF7B1C0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[4.001€, Abitur,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2401A07-9E6E-7FF6-D0BF-7979CF7B1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7CADAD-2008-1231-2446-1EABCF2E16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B7B51C-16A4-7B38-E035-87C11BB031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174BDF-2230-CCB7-0403-A10B17BDA8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90B703D-2A86-0599-32A9-4940BF08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A993E10-E4A8-A605-960C-85B3FF6FD0AE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B1A2642-42FC-91F5-E0FE-305A6A1EF3A4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B44E339C-0591-31F3-97DC-87F8A98C1485}"/>
              </a:ext>
            </a:extLst>
          </p:cNvPr>
          <p:cNvSpPr/>
          <p:nvPr/>
        </p:nvSpPr>
        <p:spPr>
          <a:xfrm>
            <a:off x="251520" y="2996952"/>
            <a:ext cx="8568952" cy="2880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0AD6776-4049-E0C5-A40A-5319AD4FB7AE}"/>
              </a:ext>
            </a:extLst>
          </p:cNvPr>
          <p:cNvSpPr/>
          <p:nvPr/>
        </p:nvSpPr>
        <p:spPr>
          <a:xfrm>
            <a:off x="4572000" y="2204864"/>
            <a:ext cx="3168352" cy="15841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768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A5E1B-AD5E-FCE5-E3AF-88AADB7E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6C9BA631-2C39-0583-95BE-729E3C235788}"/>
              </a:ext>
            </a:extLst>
          </p:cNvPr>
          <p:cNvSpPr/>
          <p:nvPr/>
        </p:nvSpPr>
        <p:spPr>
          <a:xfrm>
            <a:off x="971600" y="4005064"/>
            <a:ext cx="6984776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4BDCB8F-0A47-38E0-EBBE-C5D4A53B66B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[4.001€, Abitur,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4BDCB8F-0A47-38E0-EBBE-C5D4A53B6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20139C-3EB7-9DCE-EF8D-2839458F59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0D6F3E-BA50-B295-AFFE-E0115D484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D392FB-FE03-84C8-0563-FF4B88DAFC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33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99E1A5F-27D1-2E47-1505-1E701489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9B29CEB-CA18-843D-02DD-0A96541E9B27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FB0D38B-F0E4-EDE1-4DE7-1E864FD8556F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60FBD0CD-BCB3-0F59-6FA9-878C75BA317D}"/>
              </a:ext>
            </a:extLst>
          </p:cNvPr>
          <p:cNvSpPr/>
          <p:nvPr/>
        </p:nvSpPr>
        <p:spPr>
          <a:xfrm>
            <a:off x="251520" y="2996952"/>
            <a:ext cx="8568952" cy="2880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12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D19E-C78E-C9DD-01C2-39C8841D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2CAC0DB-7DAD-4760-0C41-2DC2DDA69107}"/>
              </a:ext>
            </a:extLst>
          </p:cNvPr>
          <p:cNvSpPr/>
          <p:nvPr/>
        </p:nvSpPr>
        <p:spPr>
          <a:xfrm>
            <a:off x="971600" y="4005064"/>
            <a:ext cx="6984776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50D146B-22E4-7911-5296-EFF42D0F4C4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[4.001€, Abitur,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50D146B-22E4-7911-5296-EFF42D0F4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E951A7-9A9C-42A5-E3F7-5B32C7A94E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2956E3-A1C2-2F2E-3FF9-4B59338668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DE54E-43E1-3188-C533-5957C2B2E2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F2602FD-1C28-E67F-5FC1-AC0E7558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50D959A-E475-9279-9D48-E3DDFC84290E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918160A-9A58-078A-6972-27A2D49186C6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341C7D4-8E69-34B4-1C02-7E82CD0BDAF1}"/>
              </a:ext>
            </a:extLst>
          </p:cNvPr>
          <p:cNvSpPr/>
          <p:nvPr/>
        </p:nvSpPr>
        <p:spPr>
          <a:xfrm>
            <a:off x="251520" y="4005064"/>
            <a:ext cx="8568952" cy="1872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43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F951-F11C-AE88-4642-AB341BC1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540C4BF-2B62-CF8B-31BE-AEA9A1D2ADB8}"/>
              </a:ext>
            </a:extLst>
          </p:cNvPr>
          <p:cNvSpPr/>
          <p:nvPr/>
        </p:nvSpPr>
        <p:spPr>
          <a:xfrm>
            <a:off x="971600" y="4005064"/>
            <a:ext cx="6984776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5631651-77DF-FA64-0267-C3F91549017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[4.001€, Abitur,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5631651-77DF-FA64-0267-C3F915490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DA25BE-A563-C914-F034-CB9E7BB107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A5F074-86E4-C1DD-C8AF-F736E54228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62CC2F-73AA-54D2-1462-834546D4A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83071FC-913F-2445-319F-45BD816A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20A11D-243F-55F2-B8DE-B56081FBCB6C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365F175-1C52-0D6F-E4A4-B0654832BAEF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195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0044-13ED-6C5D-A894-3462BA5C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A627C0D8-000E-7A4D-732A-17B780C61EC2}"/>
              </a:ext>
            </a:extLst>
          </p:cNvPr>
          <p:cNvSpPr/>
          <p:nvPr/>
        </p:nvSpPr>
        <p:spPr>
          <a:xfrm>
            <a:off x="971600" y="4005064"/>
            <a:ext cx="7200800" cy="1584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FE71F4AE-7701-D700-5DD1-25BEBC0DD69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Unterscheidung </a:t>
                </a:r>
                <a:r>
                  <a:rPr lang="de-DE" dirty="0"/>
                  <a:t>der einzelnen Counterfactuals </a:t>
                </a:r>
                <a:r>
                  <a:rPr lang="de-DE" b="1" dirty="0"/>
                  <a:t>voneinander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sollen verschiedene Alternativszenarien beschreiben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𝑑𝑖𝑣𝑒𝑟𝑠𝑖𝑡𝑦</m:t>
                      </m:r>
                      <m:r>
                        <a:rPr lang="de-DE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b="0" dirty="0"/>
                  <a:t>Vielfältigkeit ist </a:t>
                </a:r>
                <a:r>
                  <a:rPr lang="de-DE" dirty="0"/>
                  <a:t>essenziell</a:t>
                </a:r>
                <a:r>
                  <a:rPr lang="de-DE" b="0" dirty="0"/>
                  <a:t> für die Machbarkeit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Ohne Diversität: Reduktion der Gültigkeit durch redundante CFs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Beispiel: </a:t>
                </a:r>
                <a:r>
                  <a:rPr lang="de-DE" sz="1500" i="1" dirty="0"/>
                  <a:t>Was muss sich ändern, damit der Kredit gewährt wird?</a:t>
                </a:r>
              </a:p>
              <a:p>
                <a:pPr marL="685800" lvl="2" indent="0">
                  <a:buNone/>
                </a:pPr>
                <a:r>
                  <a:rPr lang="de-DE" sz="1500" dirty="0"/>
                  <a:t>			      [3.000€, Abitur, 35h/Woche] </a:t>
                </a:r>
              </a:p>
              <a:p>
                <a:pPr marL="685800" lvl="2" indent="0">
                  <a:buNone/>
                </a:pPr>
                <a:endParaRPr lang="de-DE" sz="1500" dirty="0"/>
              </a:p>
              <a:p>
                <a:pPr marL="685800" lvl="2" indent="0">
                  <a:buNone/>
                </a:pPr>
                <a:r>
                  <a:rPr lang="de-DE" sz="1500" dirty="0"/>
                  <a:t>       [4.000€, Abitur, 35h/Woche]            [3.000€, Bachelor, 35h/Woche]</a:t>
                </a:r>
              </a:p>
              <a:p>
                <a:pPr marL="685800" lvl="2" indent="0">
                  <a:buNone/>
                </a:pPr>
                <a:endParaRPr lang="de-DE" sz="135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FE71F4AE-7701-D700-5DD1-25BEBC0DD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9A18CE7-670D-D942-25D6-00ECD86AC84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22CD11-3FEE-5E15-3D7F-4255B41174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699A34-02DA-B676-5A50-D8D24E449A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C3043E-D973-7F28-8AE7-07B1A6A4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670A801-EAC8-5008-70BE-D1EAC486D5DB}"/>
              </a:ext>
            </a:extLst>
          </p:cNvPr>
          <p:cNvCxnSpPr>
            <a:cxnSpLocks/>
          </p:cNvCxnSpPr>
          <p:nvPr/>
        </p:nvCxnSpPr>
        <p:spPr>
          <a:xfrm flipH="1">
            <a:off x="3779912" y="4710118"/>
            <a:ext cx="288032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D8A3C10-8EC0-BFE2-3E6D-F48997EDEF78}"/>
              </a:ext>
            </a:extLst>
          </p:cNvPr>
          <p:cNvCxnSpPr>
            <a:cxnSpLocks/>
          </p:cNvCxnSpPr>
          <p:nvPr/>
        </p:nvCxnSpPr>
        <p:spPr>
          <a:xfrm>
            <a:off x="5580112" y="4710118"/>
            <a:ext cx="294567" cy="37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359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6281-8674-FA57-612F-1B0741C0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E61400E-D05E-58ED-5401-1E24B336357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de-DE" b="1" dirty="0"/>
                  <a:t>Optimierung der Verlustfunktion</a:t>
                </a:r>
              </a:p>
              <a:p>
                <a:pPr marL="0" indent="0">
                  <a:buNone/>
                </a:pPr>
                <a:r>
                  <a:rPr lang="de-DE" b="1" dirty="0"/>
                  <a:t>     Ziel: </a:t>
                </a:r>
                <a:r>
                  <a:rPr lang="de-DE" dirty="0"/>
                  <a:t>Gleichzeitige Optimierung aller </a:t>
                </a:r>
                <a:r>
                  <a:rPr lang="de-DE" i="1" dirty="0"/>
                  <a:t>k</a:t>
                </a:r>
                <a:r>
                  <a:rPr lang="de-DE" dirty="0"/>
                  <a:t>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,.. 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yloss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diversity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sz="1500" dirty="0"/>
                  <a:t>Einfluss von Proximität und Diversität steuerbar durch </a:t>
                </a:r>
                <a:r>
                  <a:rPr lang="el-GR" sz="1500" dirty="0"/>
                  <a:t>λ</a:t>
                </a:r>
                <a:r>
                  <a:rPr lang="de-DE" sz="1500" dirty="0"/>
                  <a:t>-Parameter</a:t>
                </a:r>
              </a:p>
              <a:p>
                <a:pPr marL="342900" lvl="1" indent="0">
                  <a:buNone/>
                </a:pPr>
                <a:r>
                  <a:rPr lang="de-DE" sz="1500" dirty="0"/>
                  <a:t>    mit</a:t>
                </a:r>
                <a14:m>
                  <m:oMath xmlns:m="http://schemas.openxmlformats.org/officeDocument/2006/math">
                    <m:r>
                      <a:rPr lang="de-DE" sz="1500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de-DE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sz="15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de-DE" dirty="0">
                    <a:highlight>
                      <a:srgbClr val="FFFF00"/>
                    </a:highlight>
                  </a:rPr>
                  <a:t>GRADIENTENABSTIEGSVERFAHREN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E61400E-D05E-58ED-5401-1E24B3363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D82674-302E-9259-4996-F0F830FDBB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B24DC8-70CD-1F0A-499B-270BAF1C17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76618D-B549-49C5-9370-C85219CD81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F79736-4030-7568-672F-667E862C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Optimierung der Verlustfunktion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6AAB1E0-BC2F-E066-FEBC-7B24C4456818}"/>
              </a:ext>
            </a:extLst>
          </p:cNvPr>
          <p:cNvSpPr/>
          <p:nvPr/>
        </p:nvSpPr>
        <p:spPr>
          <a:xfrm rot="5400000">
            <a:off x="3126124" y="2426605"/>
            <a:ext cx="299464" cy="1584176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886BAF22-1E11-7567-BC1D-7B57C23A8EC5}"/>
              </a:ext>
            </a:extLst>
          </p:cNvPr>
          <p:cNvSpPr/>
          <p:nvPr/>
        </p:nvSpPr>
        <p:spPr>
          <a:xfrm rot="5400000">
            <a:off x="4714048" y="2502360"/>
            <a:ext cx="299464" cy="1432665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A984819E-9FF5-D60E-3F5B-12758AFFCED0}"/>
              </a:ext>
            </a:extLst>
          </p:cNvPr>
          <p:cNvSpPr/>
          <p:nvPr/>
        </p:nvSpPr>
        <p:spPr>
          <a:xfrm rot="5400000">
            <a:off x="6774029" y="2042063"/>
            <a:ext cx="299464" cy="2353261"/>
          </a:xfrm>
          <a:prstGeom prst="rightBrace">
            <a:avLst>
              <a:gd name="adj1" fmla="val 8333"/>
              <a:gd name="adj2" fmla="val 4962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AD9559B-5786-57DB-6A2E-822BFF8BD4CE}"/>
              </a:ext>
            </a:extLst>
          </p:cNvPr>
          <p:cNvSpPr txBox="1"/>
          <p:nvPr/>
        </p:nvSpPr>
        <p:spPr>
          <a:xfrm>
            <a:off x="2735796" y="338136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Gültigkeit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10CF039-F170-AE1F-F3C8-0FD1F510B01A}"/>
              </a:ext>
            </a:extLst>
          </p:cNvPr>
          <p:cNvSpPr txBox="1"/>
          <p:nvPr/>
        </p:nvSpPr>
        <p:spPr>
          <a:xfrm>
            <a:off x="4355976" y="3393033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Proximität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FC50F3E-B5EA-73A4-BBAD-B7B57C4E2EE9}"/>
              </a:ext>
            </a:extLst>
          </p:cNvPr>
          <p:cNvSpPr txBox="1"/>
          <p:nvPr/>
        </p:nvSpPr>
        <p:spPr>
          <a:xfrm>
            <a:off x="6372200" y="3381364"/>
            <a:ext cx="120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</a:rPr>
              <a:t>Diversität</a:t>
            </a:r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93E6FDF-F90B-33CE-DD77-98D0739C1646}"/>
              </a:ext>
            </a:extLst>
          </p:cNvPr>
          <p:cNvSpPr/>
          <p:nvPr/>
        </p:nvSpPr>
        <p:spPr>
          <a:xfrm>
            <a:off x="4211960" y="2409455"/>
            <a:ext cx="216024" cy="299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7BB55F-12CF-580A-FDBB-57FB9EA39F13}"/>
              </a:ext>
            </a:extLst>
          </p:cNvPr>
          <p:cNvSpPr/>
          <p:nvPr/>
        </p:nvSpPr>
        <p:spPr>
          <a:xfrm>
            <a:off x="5731623" y="2573476"/>
            <a:ext cx="216024" cy="299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72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41C6-F19E-E0B0-AC65-BF8A96A2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B5464B6-93E6-AF63-910F-C934F9FAC0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de-DE" b="1" dirty="0"/>
              <a:t>Nachbearbeitung der optimierten Counterfactuals</a:t>
            </a:r>
          </a:p>
          <a:p>
            <a:pPr marL="300038" lvl="1" indent="0">
              <a:lnSpc>
                <a:spcPct val="200000"/>
              </a:lnSpc>
              <a:buNone/>
            </a:pPr>
            <a:r>
              <a:rPr lang="de-DE" sz="1500" dirty="0"/>
              <a:t>Minimale Änderung jedes Features möglich</a:t>
            </a:r>
          </a:p>
          <a:p>
            <a:pPr marL="585788" lvl="1" indent="-285750">
              <a:buFont typeface="Wingdings" panose="05000000000000000000" pitchFamily="2" charset="2"/>
              <a:buChar char="Ø"/>
            </a:pPr>
            <a:r>
              <a:rPr lang="de-DE" sz="1500" dirty="0"/>
              <a:t>Hohe Proximität</a:t>
            </a:r>
          </a:p>
          <a:p>
            <a:pPr marL="585788" lvl="1" indent="-285750">
              <a:buFont typeface="Wingdings" panose="05000000000000000000" pitchFamily="2" charset="2"/>
              <a:buChar char="Ø"/>
            </a:pPr>
            <a:r>
              <a:rPr lang="de-DE" sz="1500" dirty="0"/>
              <a:t>Niedrige Machbarkeit</a:t>
            </a:r>
          </a:p>
          <a:p>
            <a:pPr marL="342900" lvl="1" indent="0">
              <a:buNone/>
            </a:pPr>
            <a:endParaRPr lang="de-DE" sz="1500" dirty="0"/>
          </a:p>
          <a:p>
            <a:pPr marL="300038" lvl="1" indent="0">
              <a:buNone/>
            </a:pPr>
            <a:r>
              <a:rPr lang="de-DE" sz="1500" b="1" dirty="0"/>
              <a:t>Lösung: Sparsität</a:t>
            </a:r>
          </a:p>
          <a:p>
            <a:pPr marL="300038" lvl="1" indent="0">
              <a:buNone/>
            </a:pPr>
            <a:r>
              <a:rPr lang="de-DE" sz="1500" dirty="0"/>
              <a:t>Minimierung der Anzahl der Feature-Änderungen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500" dirty="0"/>
              <a:t>Verbesserung der Machbarkeit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E204DE-8537-4FBD-B7C2-C924113C1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46786E-D2CA-F8EE-BB49-D5293EA8A2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51F15D-F5F1-6309-D0EF-814AF59949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5FCE83F-2E8B-D2BC-FCEC-AE0300F3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Nachbearbeitungsschritt</a:t>
            </a:r>
          </a:p>
        </p:txBody>
      </p:sp>
    </p:spTree>
    <p:extLst>
      <p:ext uri="{BB962C8B-B14F-4D97-AF65-F5344CB8AC3E}">
        <p14:creationId xmlns:p14="http://schemas.microsoft.com/office/powerpoint/2010/main" val="62286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BE9D-CC1B-F894-D59B-7FC15ECA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4A8621C-A814-87B0-7B15-AFD5B39935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de-DE" b="1" dirty="0"/>
              <a:t>Nachbearbeitung der optimierten Counterfactuals</a:t>
            </a:r>
          </a:p>
          <a:p>
            <a:pPr marL="342900" lvl="1" indent="0">
              <a:buNone/>
            </a:pPr>
            <a:endParaRPr lang="de-DE" dirty="0"/>
          </a:p>
          <a:p>
            <a:pPr marL="342900" lvl="1" indent="0">
              <a:buNone/>
            </a:pPr>
            <a:r>
              <a:rPr lang="de-DE" sz="1500" b="1" dirty="0"/>
              <a:t>Greedy-Algorithmus </a:t>
            </a:r>
            <a:r>
              <a:rPr lang="de-DE" sz="1500" dirty="0"/>
              <a:t>(für jedes Counterfactual)</a:t>
            </a:r>
          </a:p>
          <a:p>
            <a:pPr lvl="1"/>
            <a:r>
              <a:rPr lang="de-DE" sz="1500" dirty="0"/>
              <a:t>Iteratives Zurücksetzen der kontinuierlichen Features</a:t>
            </a:r>
          </a:p>
          <a:p>
            <a:pPr lvl="1"/>
            <a:r>
              <a:rPr lang="de-DE" sz="1500" dirty="0"/>
              <a:t>Sortiere Feature-Änderungen nach der Abweichung zum ursprünglichen Wert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sz="1500" dirty="0"/>
              <a:t> Starte das Zurücksetzten bei Features mit geringster Abweichung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sz="1500" dirty="0"/>
              <a:t> Nur Zurücksetzen, falls Zielklasse unverändert bleibt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18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4FABA6-5150-2022-9867-8CC9089BAD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AE59DF-CA4E-02CA-73DD-82A2A355C4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49AA90-4A3C-8EF2-82C3-731AB92D98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39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D650474-C2D6-92AA-9E31-BDC5FCFD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Nachbearbeitungsschritt</a:t>
            </a:r>
          </a:p>
        </p:txBody>
      </p:sp>
    </p:spTree>
    <p:extLst>
      <p:ext uri="{BB962C8B-B14F-4D97-AF65-F5344CB8AC3E}">
        <p14:creationId xmlns:p14="http://schemas.microsoft.com/office/powerpoint/2010/main" val="34458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66E7-91B7-85FD-BB99-4676790A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011486-5105-1C91-3EE1-AB10EA695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Evaluationsmetriken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80235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6C2F-BDDE-32CF-90E4-2F3AEDBF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6AE11ED-936B-329E-7EF5-FC19260030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5" y="1196752"/>
            <a:ext cx="8424936" cy="5040560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Ziel: </a:t>
            </a:r>
            <a:r>
              <a:rPr lang="de-DE" dirty="0"/>
              <a:t>Ein Anwender kann die Entscheidungen eines Modells für ähnliche Eingaben vorhersagen.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CD4EBD-8688-9DFA-95C9-86543B7B32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CBB121-797D-D118-77A5-40F4DF6436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4A38B4-E856-0563-293C-FDDF0A491B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9B40FE7-5D92-A4E9-46E7-3D22668F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14" y="75342"/>
            <a:ext cx="6545233" cy="720000"/>
          </a:xfrm>
        </p:spPr>
        <p:txBody>
          <a:bodyPr anchor="b">
            <a:normAutofit/>
          </a:bodyPr>
          <a:lstStyle/>
          <a:p>
            <a:r>
              <a:rPr lang="de-DE" sz="2400" dirty="0"/>
              <a:t>Entscheidungsgrenze</a:t>
            </a:r>
          </a:p>
        </p:txBody>
      </p:sp>
      <p:pic>
        <p:nvPicPr>
          <p:cNvPr id="10" name="Grafik 9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6D9DF965-BB00-B332-678A-065A58477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959" y="2132856"/>
            <a:ext cx="6014082" cy="385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5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2B7F-A62B-37CE-733A-F8B0A064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5525B0E-F860-9DF9-D075-976C8E56DAD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Prüft</a:t>
                </a:r>
                <a:r>
                  <a:rPr lang="de-DE" dirty="0"/>
                  <a:t> für die Menge der Counterfactuals C , ob die Counterfactuals </a:t>
                </a:r>
                <a:r>
                  <a:rPr lang="de-DE" b="1" dirty="0"/>
                  <a:t>eindeutig und gültig </a:t>
                </a:r>
                <a:r>
                  <a:rPr lang="de-DE" dirty="0"/>
                  <a:t>sind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ValidCFs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unique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instance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 &gt; 0.5}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Eindeutigkeit</a:t>
                </a:r>
              </a:p>
              <a:p>
                <a:pPr marL="0" indent="0">
                  <a:buNone/>
                </a:pPr>
                <a:r>
                  <a:rPr lang="de-DE" dirty="0"/>
                  <a:t>Gibt es Duplikate in der generierten CF-Menge?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Gültigkeit</a:t>
                </a:r>
              </a:p>
              <a:p>
                <a:pPr marL="0" indent="0">
                  <a:buNone/>
                </a:pPr>
                <a:r>
                  <a:rPr lang="de-DE" dirty="0"/>
                  <a:t>Wird das Counterfactual auch der gewünschten Klasse zugeordnet?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5525B0E-F860-9DF9-D075-976C8E56D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13E173-9A16-17D7-EB1E-7D190B2D3A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C451ED-A528-9A99-005B-8AAB26633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E72C86-E795-C2C4-303C-70E96197F7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EE324D7-01EF-17F1-C552-F0E3C083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Gültigkeitsmetrik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027430-9267-57DA-C3DB-5EADB3BBC620}"/>
              </a:ext>
            </a:extLst>
          </p:cNvPr>
          <p:cNvSpPr/>
          <p:nvPr/>
        </p:nvSpPr>
        <p:spPr>
          <a:xfrm>
            <a:off x="251520" y="2132856"/>
            <a:ext cx="8568952" cy="37444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730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94CF-64AA-453F-81E1-506FE9C2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1CC3F33-F38F-4B41-A86B-DED1820F2F6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Prüft</a:t>
                </a:r>
                <a:r>
                  <a:rPr lang="de-DE" dirty="0"/>
                  <a:t> für die Menge der Counterfactuals C , ob die Counterfactuals </a:t>
                </a:r>
                <a:r>
                  <a:rPr lang="de-DE" b="1" dirty="0"/>
                  <a:t>eindeutig und gültig </a:t>
                </a:r>
                <a:r>
                  <a:rPr lang="de-DE" dirty="0"/>
                  <a:t>sind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ValidCFs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unique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instance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 &gt; 0.5}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Eindeutigkeit</a:t>
                </a:r>
              </a:p>
              <a:p>
                <a:pPr marL="0" indent="0">
                  <a:buNone/>
                </a:pPr>
                <a:r>
                  <a:rPr lang="de-DE" dirty="0"/>
                  <a:t>Gibt es Duplikate in der generierten CF-Menge?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Gültigkeit</a:t>
                </a:r>
              </a:p>
              <a:p>
                <a:pPr marL="0" indent="0">
                  <a:buNone/>
                </a:pPr>
                <a:r>
                  <a:rPr lang="de-DE" dirty="0"/>
                  <a:t>Wird das Counterfactual auch der gewünschten Klasse zugeordnet?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1CC3F33-F38F-4B41-A86B-DED1820F2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03718C-0A55-A0CD-999F-A884239A52B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CCBCE2-A21D-01A1-64EE-6949B9EBF0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F5302F-0CD1-EA1A-BFED-910CEA974E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43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13EEA91-78C1-5DFE-4B8F-FB4131E4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Gültigkeitsmetrik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37E1EC4-6425-620C-F78A-8A72ECC6876C}"/>
              </a:ext>
            </a:extLst>
          </p:cNvPr>
          <p:cNvSpPr/>
          <p:nvPr/>
        </p:nvSpPr>
        <p:spPr>
          <a:xfrm>
            <a:off x="251520" y="3068960"/>
            <a:ext cx="8568952" cy="2808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711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5208-D91F-ECCF-7D3A-B7375E37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E04BE94-69C6-5586-02FB-CCFC83CF371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Prüft</a:t>
                </a:r>
                <a:r>
                  <a:rPr lang="de-DE" dirty="0"/>
                  <a:t> für die Menge der Counterfactuals C , ob die Counterfactuals </a:t>
                </a:r>
                <a:r>
                  <a:rPr lang="de-DE" b="1" dirty="0"/>
                  <a:t>eindeutig und gültig </a:t>
                </a:r>
                <a:r>
                  <a:rPr lang="de-DE" dirty="0"/>
                  <a:t>sind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ValidCFs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unique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instance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 &gt; 0.5}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Eindeutigkeit</a:t>
                </a:r>
              </a:p>
              <a:p>
                <a:pPr marL="0" indent="0">
                  <a:buNone/>
                </a:pPr>
                <a:r>
                  <a:rPr lang="de-DE" dirty="0"/>
                  <a:t>Gibt es Duplikate in der generierten CF-Menge?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Gültigkeit</a:t>
                </a:r>
              </a:p>
              <a:p>
                <a:pPr marL="0" indent="0">
                  <a:buNone/>
                </a:pPr>
                <a:r>
                  <a:rPr lang="de-DE" dirty="0"/>
                  <a:t>Wird das Counterfactual auch der gewünschten Klasse zugeordnet?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E04BE94-69C6-5586-02FB-CCFC83CF37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EA5106-0D17-D4B0-052D-B41B2EB8FA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EC6913-4522-5840-5771-BA52813179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E3638C-5A6F-B25B-7590-64965B42F7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38D47D9-580F-0E8A-7BE7-964666E1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Gültigkeitsmetrik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0B13449-BBFC-711F-71EB-023282544214}"/>
              </a:ext>
            </a:extLst>
          </p:cNvPr>
          <p:cNvSpPr/>
          <p:nvPr/>
        </p:nvSpPr>
        <p:spPr>
          <a:xfrm>
            <a:off x="251520" y="4077072"/>
            <a:ext cx="8568952" cy="1800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330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E31A-3CCA-EC0C-5A53-43E4105C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A493BA8-C8C6-F9D4-A662-FB8EB614714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Prüft</a:t>
                </a:r>
                <a:r>
                  <a:rPr lang="de-DE" dirty="0"/>
                  <a:t> für die Menge der </a:t>
                </a:r>
                <a:r>
                  <a:rPr lang="de-DE" i="1" dirty="0"/>
                  <a:t>k</a:t>
                </a:r>
                <a:r>
                  <a:rPr lang="de-DE" dirty="0"/>
                  <a:t> Counterfactuals C , ob die Counterfactuals </a:t>
                </a:r>
                <a:r>
                  <a:rPr lang="de-DE" b="1" dirty="0"/>
                  <a:t>eindeutig und gültig </a:t>
                </a:r>
                <a:r>
                  <a:rPr lang="de-DE" dirty="0"/>
                  <a:t>sind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ValidCFs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unique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instance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 &gt; 0.5}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Eindeutigkeit</a:t>
                </a:r>
              </a:p>
              <a:p>
                <a:pPr marL="0" indent="0">
                  <a:buNone/>
                </a:pPr>
                <a:r>
                  <a:rPr lang="de-DE" dirty="0"/>
                  <a:t>Gibt es Duplikate in der generierten CF-Menge?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Gültigkeit</a:t>
                </a:r>
              </a:p>
              <a:p>
                <a:pPr marL="0" indent="0">
                  <a:buNone/>
                </a:pPr>
                <a:r>
                  <a:rPr lang="de-DE" dirty="0"/>
                  <a:t>Wird das Counterfactual auch der gewünschten Klasse zugeordnet?</a:t>
                </a:r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A493BA8-C8C6-F9D4-A662-FB8EB6147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F8FC45E-8CCD-0A39-9AFA-91EE6206CE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402ABC-A443-C6DD-B88B-E380E14B14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56D251-1824-6128-F919-759CB1C793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8B10B7-A4CD-F351-2C6E-F45FEF48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Gültigkeitsmetrik</a:t>
            </a:r>
          </a:p>
        </p:txBody>
      </p:sp>
    </p:spTree>
    <p:extLst>
      <p:ext uri="{BB962C8B-B14F-4D97-AF65-F5344CB8AC3E}">
        <p14:creationId xmlns:p14="http://schemas.microsoft.com/office/powerpoint/2010/main" val="3427227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D609-AE5A-223B-5B1C-4E7CCCE2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ED659C7-5639-7FBC-C2CE-BB85640E077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für die Counterfactuals, wie groß die </a:t>
                </a:r>
                <a:r>
                  <a:rPr lang="de-DE" b="1" dirty="0">
                    <a:latin typeface="+mn-lt"/>
                  </a:rPr>
                  <a:t>kontinuierliche und kategoriale Nähe </a:t>
                </a:r>
                <a:r>
                  <a:rPr lang="de-DE" dirty="0">
                    <a:latin typeface="+mn-lt"/>
                  </a:rPr>
                  <a:t>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𝐶𝑜𝑛𝑡𝑖𝑛𝑜𝑢𝑠𝑃𝑟𝑜𝑥𝑖𝑚𝑖𝑡𝑦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cont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Große kontinuierliche Proximität: Kleine Distanzen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Kategoriale Proximität nahe 1: Wenige Änderungen der kategorialen Features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CED659C7-5639-7FBC-C2CE-BB85640E0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11BDD2-EFCC-3779-99C5-CFF440B966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4D3251-B1F3-3A58-3F62-AB15CF4B80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51E1C4-047D-E242-3358-7E622360D0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AD8A5CB-5CEA-206E-0744-060B30A7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7DBF15-1391-C48D-CA71-F4D9D0A06F61}"/>
              </a:ext>
            </a:extLst>
          </p:cNvPr>
          <p:cNvSpPr/>
          <p:nvPr/>
        </p:nvSpPr>
        <p:spPr>
          <a:xfrm>
            <a:off x="251520" y="1916832"/>
            <a:ext cx="8568952" cy="3960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962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0E38-E433-A117-E5C9-EE75926D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82D67FA-ACD1-1F20-5F11-D34DF873F75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für die Counterfactuals, wie groß die </a:t>
                </a:r>
                <a:r>
                  <a:rPr lang="de-DE" b="1" dirty="0">
                    <a:latin typeface="+mn-lt"/>
                  </a:rPr>
                  <a:t>kontinuierliche und kategoriale Nähe </a:t>
                </a:r>
                <a:r>
                  <a:rPr lang="de-DE" dirty="0">
                    <a:latin typeface="+mn-lt"/>
                  </a:rPr>
                  <a:t>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𝐶𝑜𝑛𝑡𝑖𝑛𝑜𝑢𝑠𝑃𝑟𝑜𝑥𝑖𝑚𝑖𝑡𝑦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cont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Große kontinuierliche Proximität: Kleine Distanzen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Kategoriale Proximität nahe 1: Wenige Änderungen der kategorialen Features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82D67FA-ACD1-1F20-5F11-D34DF873F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C7BDEF-EFF8-7863-3F26-809CE5129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F445D9-5EF1-F757-E7B6-9F1E56A50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1C081E-7BF9-53EA-2B7B-27FEE3C006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5B19BBF-8B53-F8BE-BF83-EB25C9D5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3863E1C-22A0-7826-A078-47F7C37CB6A8}"/>
              </a:ext>
            </a:extLst>
          </p:cNvPr>
          <p:cNvSpPr/>
          <p:nvPr/>
        </p:nvSpPr>
        <p:spPr>
          <a:xfrm>
            <a:off x="251520" y="2852936"/>
            <a:ext cx="8568952" cy="30243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116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6EC9-D3AE-C290-0818-B5C5F10C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A4AED23-11B1-6B9C-C68C-AE329314654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für die Counterfactuals, wie groß die </a:t>
                </a:r>
                <a:r>
                  <a:rPr lang="de-DE" b="1" dirty="0">
                    <a:latin typeface="+mn-lt"/>
                  </a:rPr>
                  <a:t>kontinuierliche und kategoriale Nähe </a:t>
                </a:r>
                <a:r>
                  <a:rPr lang="de-DE" dirty="0">
                    <a:latin typeface="+mn-lt"/>
                  </a:rPr>
                  <a:t>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𝐶𝑜𝑛𝑡𝑖𝑛𝑜𝑢𝑠𝑃𝑟𝑜𝑥𝑖𝑚𝑖𝑡𝑦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cont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Große kontinuierliche Proximität: Kleine Distanzen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Kategoriale Proximität nahe 1: Wenige Änderungen der kategorialen Features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A4AED23-11B1-6B9C-C68C-AE3293146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B736D5-A977-6EA7-7489-372103E0B5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B60FE3-678F-78D7-01D2-1091C908F6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029BFD-3C5A-EFD1-EB8C-EADA2A4A70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5DB3ED-C13E-B980-4860-942BF516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C5EF76B-288D-C387-6C72-91E315586A07}"/>
              </a:ext>
            </a:extLst>
          </p:cNvPr>
          <p:cNvSpPr/>
          <p:nvPr/>
        </p:nvSpPr>
        <p:spPr>
          <a:xfrm>
            <a:off x="251520" y="3789040"/>
            <a:ext cx="8568952" cy="2088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6134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E308CC-F972-C0D8-DD17-F8A531C0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86005D4-4565-C4C3-F44B-BEF42FDE426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für die Counterfactuals, wie groß die </a:t>
                </a:r>
                <a:r>
                  <a:rPr lang="de-DE" b="1" dirty="0">
                    <a:latin typeface="+mn-lt"/>
                  </a:rPr>
                  <a:t>kontinuierliche und kategoriale Nähe </a:t>
                </a:r>
                <a:r>
                  <a:rPr lang="de-DE" dirty="0">
                    <a:latin typeface="+mn-lt"/>
                  </a:rPr>
                  <a:t>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𝐶𝑜𝑛𝑡𝑖𝑛𝑜𝑢𝑠𝑃𝑟𝑜𝑥𝑖𝑚𝑖𝑡𝑦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cont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Kategoriale Proximität nahe 1: Wenige Änderungen der kategorialen Features</a:t>
                </a:r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186005D4-4565-C4C3-F44B-BEF42FDE4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9AC419-9E78-51A3-157F-A3AC3F1EA5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C2E1E5-A6A0-FF4B-767C-B0FE126D6A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20369E-5C17-E90C-3014-BAA2031BAD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49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E3F1A32-CE5C-7571-2CE2-3C9A445C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Proximitätsmetrik</a:t>
            </a:r>
          </a:p>
        </p:txBody>
      </p:sp>
    </p:spTree>
    <p:extLst>
      <p:ext uri="{BB962C8B-B14F-4D97-AF65-F5344CB8AC3E}">
        <p14:creationId xmlns:p14="http://schemas.microsoft.com/office/powerpoint/2010/main" val="3421668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D1BD-08B7-B19C-1CC2-13312F47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7F68B4A1-2938-1EA3-85F7-20662D057D7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für die Counterfactuals, wie groß die </a:t>
                </a:r>
                <a:r>
                  <a:rPr lang="de-DE" b="1" dirty="0">
                    <a:latin typeface="+mn-lt"/>
                  </a:rPr>
                  <a:t>kontinuierliche und kategoriale Nähe </a:t>
                </a:r>
                <a:r>
                  <a:rPr lang="de-DE" dirty="0">
                    <a:latin typeface="+mn-lt"/>
                  </a:rPr>
                  <a:t>ist</a:t>
                </a: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𝑃𝑟𝑜𝑥𝑖𝑚𝑖𝑡𝑦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dist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cat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Kategoriale Proximität nahe 1: Wenige Änderungen der kategorialen Features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Kontinuierliche </a:t>
                </a:r>
                <a:r>
                  <a:rPr lang="de-DE" dirty="0" err="1"/>
                  <a:t>Proximität</a:t>
                </a:r>
                <a:r>
                  <a:rPr lang="de-DE" dirty="0"/>
                  <a:t> analog</a:t>
                </a:r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7F68B4A1-2938-1EA3-85F7-20662D057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AF1797-DE4C-AB23-A60A-EFC7C7AAE6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E909EB-3DB6-C2B5-70E3-C6530B977C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E2DA89-04D0-AA9F-A69F-486995437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50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ED44B5E-E40C-1B25-99F0-5492602A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Proximitätsmetrik</a:t>
            </a:r>
          </a:p>
        </p:txBody>
      </p:sp>
    </p:spTree>
    <p:extLst>
      <p:ext uri="{BB962C8B-B14F-4D97-AF65-F5344CB8AC3E}">
        <p14:creationId xmlns:p14="http://schemas.microsoft.com/office/powerpoint/2010/main" val="899400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6C49-05C9-A052-94D7-706AFF0D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907F884-6457-A38E-66F5-FDC00009E78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die </a:t>
                </a:r>
                <a:r>
                  <a:rPr lang="de-DE" b="1" dirty="0">
                    <a:latin typeface="+mn-lt"/>
                  </a:rPr>
                  <a:t>Machbarkeit</a:t>
                </a:r>
                <a:r>
                  <a:rPr lang="de-DE" dirty="0">
                    <a:latin typeface="+mn-lt"/>
                  </a:rPr>
                  <a:t> der generierten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𝑆𝑝𝑎𝑟𝑠𝑖𝑡𝑦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de-DE" i="1" dirty="0"/>
              </a:p>
              <a:p>
                <a:pPr marL="0" indent="0">
                  <a:buNone/>
                </a:pPr>
                <a:endParaRPr lang="de-DE" i="1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Sparsität nahe 1: Geringe Anzahl an Änderungen der Features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Nur Erklärungen mit </a:t>
                </a:r>
                <a:r>
                  <a:rPr lang="de-DE" b="1" dirty="0"/>
                  <a:t>wenigen</a:t>
                </a:r>
                <a:r>
                  <a:rPr lang="de-DE" dirty="0"/>
                  <a:t> </a:t>
                </a:r>
                <a:r>
                  <a:rPr lang="de-DE" b="1" dirty="0"/>
                  <a:t>Änderungen</a:t>
                </a:r>
                <a:r>
                  <a:rPr lang="de-DE" dirty="0"/>
                  <a:t> sind machbar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907F884-6457-A38E-66F5-FDC00009E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59D685D-A4D3-43E8-53FC-D6BB7A4135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B41AFB-4DF4-F68D-3C8D-73A2FA413B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7F8473-BC99-2829-466A-48198E0B1E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9F3B59-83DB-E6E9-E834-7F4E27F2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Sparsitätsmetrik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2322D00-BF0F-7416-45FA-B1D45096D922}"/>
              </a:ext>
            </a:extLst>
          </p:cNvPr>
          <p:cNvSpPr/>
          <p:nvPr/>
        </p:nvSpPr>
        <p:spPr>
          <a:xfrm>
            <a:off x="251520" y="1916832"/>
            <a:ext cx="8568952" cy="3960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0827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C9DF-EAB6-FAC8-9E6F-44D5B113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F819A4B5-3A05-250B-A678-752CB21982F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die </a:t>
                </a:r>
                <a:r>
                  <a:rPr lang="de-DE" b="1" dirty="0">
                    <a:latin typeface="+mn-lt"/>
                  </a:rPr>
                  <a:t>Machbarkeit</a:t>
                </a:r>
                <a:r>
                  <a:rPr lang="de-DE" dirty="0">
                    <a:latin typeface="+mn-lt"/>
                  </a:rPr>
                  <a:t> der generierten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𝑆𝑝𝑎𝑟𝑠𝑖𝑡𝑦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de-DE" i="1" dirty="0"/>
              </a:p>
              <a:p>
                <a:pPr marL="0" indent="0">
                  <a:buNone/>
                </a:pPr>
                <a:endParaRPr lang="de-DE" i="1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Sparsität nahe 1: Geringe Anzahl an Änderungen der Features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Nur Erklärungen mit </a:t>
                </a:r>
                <a:r>
                  <a:rPr lang="de-DE" b="1" dirty="0"/>
                  <a:t>wenigen</a:t>
                </a:r>
                <a:r>
                  <a:rPr lang="de-DE" dirty="0"/>
                  <a:t> </a:t>
                </a:r>
                <a:r>
                  <a:rPr lang="de-DE" b="1" dirty="0"/>
                  <a:t>Änderungen</a:t>
                </a:r>
                <a:r>
                  <a:rPr lang="de-DE" dirty="0"/>
                  <a:t> sind machbar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F819A4B5-3A05-250B-A678-752CB2198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188440-3B21-2060-B038-A14F170322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AD7413-4E27-5A3A-7A09-9B569EC9AC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7EA318-BFAF-8EA6-CC18-1B97DA224E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AFAAD4B-A139-C756-CF6F-C885F34B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Sparsitätsmetrik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DC6D729-1F0F-73EC-EA70-7E1CF3005FE0}"/>
              </a:ext>
            </a:extLst>
          </p:cNvPr>
          <p:cNvSpPr/>
          <p:nvPr/>
        </p:nvSpPr>
        <p:spPr>
          <a:xfrm>
            <a:off x="251520" y="2852936"/>
            <a:ext cx="8568952" cy="30243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6430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B054-C7FC-0054-4A30-84CC1D77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4DC887F-4021-4498-2050-F83D6B33C9A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</a:rPr>
                  <a:t>Prüft</a:t>
                </a:r>
                <a:r>
                  <a:rPr lang="de-DE" dirty="0">
                    <a:latin typeface="+mn-lt"/>
                  </a:rPr>
                  <a:t> die </a:t>
                </a:r>
                <a:r>
                  <a:rPr lang="de-DE" b="1" dirty="0">
                    <a:latin typeface="+mn-lt"/>
                  </a:rPr>
                  <a:t>Machbarkeit</a:t>
                </a:r>
                <a:r>
                  <a:rPr lang="de-DE" dirty="0">
                    <a:latin typeface="+mn-lt"/>
                  </a:rPr>
                  <a:t> der generierten Counterfactuals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𝑆𝑝𝑎𝑟𝑠𝑖𝑡𝑦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de-DE" i="1" dirty="0"/>
              </a:p>
              <a:p>
                <a:pPr marL="0" indent="0">
                  <a:buNone/>
                </a:pPr>
                <a:endParaRPr lang="de-DE" i="1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Sparsität nahe 1: Geringe Anzahl an Änderungen der Features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Erklärungen mit </a:t>
                </a:r>
                <a:r>
                  <a:rPr lang="de-DE" b="1" dirty="0"/>
                  <a:t>wenigen</a:t>
                </a:r>
                <a:r>
                  <a:rPr lang="de-DE" dirty="0"/>
                  <a:t> </a:t>
                </a:r>
                <a:r>
                  <a:rPr lang="de-DE" b="1" dirty="0"/>
                  <a:t>Änderungen</a:t>
                </a:r>
                <a:r>
                  <a:rPr lang="de-DE" dirty="0"/>
                  <a:t> sind eher machbar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4DC887F-4021-4498-2050-F83D6B33C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9B6F3E-7646-6CF3-14C4-6C6EB8488E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FBF96B-05B8-74C8-A8C0-7D1AD998C7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2DA68B-8C2C-B199-276F-D9999BB730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53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6562A97-FDFE-EDFF-4D71-185CB4A0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Sparsitätsmetrik</a:t>
            </a:r>
          </a:p>
        </p:txBody>
      </p:sp>
    </p:spTree>
    <p:extLst>
      <p:ext uri="{BB962C8B-B14F-4D97-AF65-F5344CB8AC3E}">
        <p14:creationId xmlns:p14="http://schemas.microsoft.com/office/powerpoint/2010/main" val="3511292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1B08-B4C3-9E9E-121E-60A8175E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0BC052B-0D4A-2C71-DC31-8F3F772EC26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𝐶𝑜𝑛𝑡𝑖𝑛𝑜𝑢𝑠𝐷𝑖𝑣𝑒𝑟𝑠𝑖𝑡𝑦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Counterfactuals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Analog zur Sparsität 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misst Count Diversität die Anzahl der unterschiedlichen Features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𝐶𝑜𝑢𝑛𝑡𝐷𝑖𝑣𝑒𝑟𝑠𝑖𝑡𝑦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0BC052B-0D4A-2C71-DC31-8F3F772EC2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A7B03F-AB2D-6F9C-8BB1-6948A60E33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FB1CFB-AB78-FD20-FDB6-594C81ABE8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EACE7E-0B35-50BD-1105-23487CBE05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6246FB-3CDB-787D-4D27-0C583AB5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C57885-3BFF-F026-AA87-6BFC121B2083}"/>
              </a:ext>
            </a:extLst>
          </p:cNvPr>
          <p:cNvSpPr/>
          <p:nvPr/>
        </p:nvSpPr>
        <p:spPr>
          <a:xfrm>
            <a:off x="251520" y="1916832"/>
            <a:ext cx="8568952" cy="43924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262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765F-6725-A1A6-C1A1-6AE1C734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B2A7CAB-426E-CB32-C6B5-ED70F6E6B7A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𝐶𝑜𝑛𝑡𝑖𝑛𝑜𝑢𝑠𝐷𝑖𝑣𝑒𝑟𝑠𝑖𝑡𝑦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Counterfactuals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Analog zur Sparsität 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misst Count Diversität die Anzahl der unterschiedlichen Features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𝐶𝑜𝑢𝑛𝑡𝐷𝑖𝑣𝑒𝑟𝑠𝑖𝑡𝑦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B2A7CAB-426E-CB32-C6B5-ED70F6E6B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118F12-3F02-D2DE-2829-D8CEF536385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2CC26C-97F1-BA87-66C0-4D594C8C20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2DB91D-ED76-39D7-C753-E9D8CB6628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4E3F303-48E1-D2BD-2A5B-7DDCBE01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89EF15-72F8-2CE1-25B0-7BFB9AB8A11D}"/>
              </a:ext>
            </a:extLst>
          </p:cNvPr>
          <p:cNvSpPr/>
          <p:nvPr/>
        </p:nvSpPr>
        <p:spPr>
          <a:xfrm>
            <a:off x="251520" y="2780928"/>
            <a:ext cx="8568952" cy="35283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314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A1B2-72E1-FC20-1D28-A19AECFE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6A51568-BEAA-AE7E-7B70-AB1F0CC3626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𝐶𝑜𝑛𝑡𝑖𝑛𝑜𝑢𝑠𝐷𝑖𝑣𝑒𝑟𝑠𝑖𝑡𝑦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Counterfactuals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Analog zur Sparsität 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misst Count Diversität die Anzahl der unterschiedlichen Features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𝐶𝑜𝑢𝑛𝑡𝐷𝑖𝑣𝑒𝑟𝑠𝑖𝑡𝑦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6A51568-BEAA-AE7E-7B70-AB1F0CC36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9B82DC-D46C-1006-2E61-6A67E9EFBC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083F49-E33C-9655-2184-AC0D3B5CE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68761B-B60D-D770-E69C-13E834C5F0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FCE4495-C8CE-D0C5-6496-07F1C544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8B75044-948B-0394-957A-57898E06CB11}"/>
              </a:ext>
            </a:extLst>
          </p:cNvPr>
          <p:cNvSpPr/>
          <p:nvPr/>
        </p:nvSpPr>
        <p:spPr>
          <a:xfrm>
            <a:off x="251520" y="3861048"/>
            <a:ext cx="8568952" cy="2448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966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366-F790-F546-6B2D-35948B1B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F919A9F-45AE-FB83-E2E5-D0520C9425B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𝐶𝑜𝑛𝑡𝑖𝑛𝑜𝑢𝑠𝐷𝑖𝑣𝑒𝑟𝑠𝑖𝑡𝑦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Counterfactuals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Analog zur Sparsität 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misst Count Diversität die Anzahl der unterschiedlichen Features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𝐶𝑜𝑢𝑛𝑡𝐷𝑖𝑣𝑒𝑟𝑠𝑖𝑡𝑦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F919A9F-45AE-FB83-E2E5-D0520C942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91D194-B888-D0D2-C5D3-39C718CB3A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98FD0A-90B0-712F-A560-7D85EB10E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5CE5FF-6165-9078-995D-94735305A6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2E0D791-4CB1-40C6-D69E-53848E58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299B9F-DACA-905D-B8E8-B5CA9A8A1F9E}"/>
              </a:ext>
            </a:extLst>
          </p:cNvPr>
          <p:cNvSpPr/>
          <p:nvPr/>
        </p:nvSpPr>
        <p:spPr>
          <a:xfrm>
            <a:off x="251520" y="4653136"/>
            <a:ext cx="8568952" cy="1656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2982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A97075-5C22-493E-7B71-EE168BBB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91D38E5-2E16-1C78-C116-8258A9BCD65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𝐶𝑜𝑛𝑡𝑖𝑛𝑜𝑢𝑠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Counterfactuals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Analog zur Sparsität 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misst Count Diversität die Anzahl der unterschiedlichen Features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𝐶𝑜𝑢𝑛𝑡𝐷𝑖𝑣𝑒𝑟𝑠𝑖𝑡𝑦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Sup>
                                        <m:sSub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]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91D38E5-2E16-1C78-C116-8258A9BCD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FBE289-4412-0B99-F08E-6EC22689431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5D4EE4-FDD9-4CF6-1EB4-2D998F9078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D56ADA-64E5-8311-D14F-BF8DE8A49A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B380FEC-0C81-9D07-4AF5-D6B701AB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</p:spTree>
    <p:extLst>
      <p:ext uri="{BB962C8B-B14F-4D97-AF65-F5344CB8AC3E}">
        <p14:creationId xmlns:p14="http://schemas.microsoft.com/office/powerpoint/2010/main" val="25078015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6A16-24EB-3280-2C85-1C8858BD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88F8212-299E-289B-2C64-5A8EBA48228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Prüft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wie groß der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Abstand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zwischen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den einzelnen </a:t>
                </a:r>
                <a:r>
                  <a:rPr lang="de-DE" b="1" dirty="0">
                    <a:latin typeface="+mn-lt"/>
                    <a:ea typeface="Cambria Math" panose="02040503050406030204" pitchFamily="18" charset="0"/>
                  </a:rPr>
                  <a:t>Counterfactuals</a:t>
                </a:r>
                <a:r>
                  <a:rPr lang="de-DE" b="0" dirty="0">
                    <a:latin typeface="+mn-lt"/>
                    <a:ea typeface="Cambria Math" panose="02040503050406030204" pitchFamily="18" charset="0"/>
                  </a:rPr>
                  <a:t> ist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ategorical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=∆ 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dist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cat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Hohe Werte entsprechen einer großen Diversität der </a:t>
                </a:r>
                <a:r>
                  <a:rPr lang="de-DE" dirty="0" err="1"/>
                  <a:t>Counterfactuals</a:t>
                </a:r>
                <a:endParaRPr lang="de-DE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de-DE" dirty="0"/>
                  <a:t>Analog </a:t>
                </a:r>
                <a:r>
                  <a:rPr lang="de-DE" dirty="0" err="1"/>
                  <a:t>kont</a:t>
                </a:r>
                <a:r>
                  <a:rPr lang="de-DE" dirty="0"/>
                  <a:t> Diversität</a:t>
                </a:r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88F8212-299E-289B-2C64-5A8EBA482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AC80A0-C014-5E9B-AC95-FBEA499C59C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32ACFC-696A-B60B-5476-E627F4B615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51C07D-E7EA-C205-D16C-0603DA9C27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59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C11F43-50CA-AFCD-08EB-2EF442FA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Diversitätsmetrik</a:t>
            </a:r>
          </a:p>
        </p:txBody>
      </p:sp>
    </p:spTree>
    <p:extLst>
      <p:ext uri="{BB962C8B-B14F-4D97-AF65-F5344CB8AC3E}">
        <p14:creationId xmlns:p14="http://schemas.microsoft.com/office/powerpoint/2010/main" val="42276829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26B8C0-901E-A59D-4826-CCCF0C60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354B8D6-DE10-B8A7-A1BD-5B7A1A0BDD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5" y="1196752"/>
            <a:ext cx="8424936" cy="5040560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Endgültiges Ziel: </a:t>
            </a:r>
            <a:r>
              <a:rPr lang="de-DE" dirty="0"/>
              <a:t>Näherung der lokalen Entscheidungsgrenze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Entscheidungsgrenze</a:t>
            </a:r>
          </a:p>
          <a:p>
            <a:pPr marL="0" indent="0">
              <a:buNone/>
            </a:pPr>
            <a:r>
              <a:rPr lang="de-DE" dirty="0"/>
              <a:t>Ein Anwender kann die Entscheidungen eines Modells für ähnliche Eingaben vorhersagen.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Bewertung der Näherung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Simulation eines Anwenders durch Verwendung eines zweiten Modells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Training mit Counterfactuals und ursprünglicher Eingabe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Messen wie gut die Entscheidungen des Ursprungsmodell vorhergesagt werden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Durchführung einer Studie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Menschen bewerten, wie gut eine Entscheidung vorhergesagt werden konnte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ABDF7B-6D1D-47FE-8F6F-79C5B09E27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4560C7-9859-ADA1-B67C-369D0E33DF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A73411-0B2F-A4C0-FACB-7B43C8A997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60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13D9C35-CD8D-1F88-0D69-6458F9D4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Entscheidungsgrenze</a:t>
            </a:r>
          </a:p>
        </p:txBody>
      </p:sp>
    </p:spTree>
    <p:extLst>
      <p:ext uri="{BB962C8B-B14F-4D97-AF65-F5344CB8AC3E}">
        <p14:creationId xmlns:p14="http://schemas.microsoft.com/office/powerpoint/2010/main" val="371350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1972-7E89-25CE-E7A9-28FEC1BD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AAB4698-9184-E07B-4345-00E4F8553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Ergebnisse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13302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7E8F-2FB6-D8D6-E42B-5E01C96A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4B0B55A-BC95-E90B-18CE-0612B16359A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 err="1"/>
                  <a:t>SingleCF</a:t>
                </a:r>
                <a:endParaRPr lang="de-DE" b="1" dirty="0"/>
              </a:p>
              <a:p>
                <a:pPr marL="0" indent="0">
                  <a:buNone/>
                </a:pPr>
                <a:r>
                  <a:rPr lang="de-DE" dirty="0"/>
                  <a:t>Generiert ein einzelnes CF auf Proximität und Gültigkeit optimiert</a:t>
                </a:r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 err="1"/>
                  <a:t>RandomInitCF</a:t>
                </a:r>
                <a:r>
                  <a:rPr lang="de-DE" b="1" dirty="0"/>
                  <a:t> </a:t>
                </a:r>
                <a:r>
                  <a:rPr lang="de-DE" dirty="0"/>
                  <a:t>(erweitert </a:t>
                </a:r>
                <a:r>
                  <a:rPr lang="de-DE" dirty="0" err="1"/>
                  <a:t>SingleCF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Generiert nacheinander </a:t>
                </a:r>
                <a:r>
                  <a:rPr lang="de-DE" i="1" dirty="0"/>
                  <a:t>k</a:t>
                </a:r>
                <a:r>
                  <a:rPr lang="de-DE" dirty="0"/>
                  <a:t>-viele CFs mit zufälligen Startpunkten (auf Proximität und Gültigkeit optimiert)</a:t>
                </a:r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 err="1"/>
                  <a:t>NoDiversityCF</a:t>
                </a:r>
                <a:endParaRPr lang="de-DE" b="1" dirty="0"/>
              </a:p>
              <a:p>
                <a:pPr marL="0" indent="0">
                  <a:buNone/>
                </a:pPr>
                <a:r>
                  <a:rPr lang="de-DE" dirty="0"/>
                  <a:t>Generiert gleichzeitig </a:t>
                </a:r>
                <a:r>
                  <a:rPr lang="de-DE" i="1" dirty="0"/>
                  <a:t>k</a:t>
                </a:r>
                <a:r>
                  <a:rPr lang="de-DE" dirty="0"/>
                  <a:t>-viele CFs nach der DiCE-Methodik, aber ohne Diversität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4B0B55A-BC95-E90B-18CE-0612B1635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DCE522-FA78-E04C-529A-116A232390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6D96DD-3F87-435C-ACF3-16753EFEE3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5F579C-F736-AE1F-F6E9-AC0EB1444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91F353C-DB47-EEF7-1706-BF623F05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Baselines</a:t>
            </a:r>
          </a:p>
        </p:txBody>
      </p:sp>
    </p:spTree>
    <p:extLst>
      <p:ext uri="{BB962C8B-B14F-4D97-AF65-F5344CB8AC3E}">
        <p14:creationId xmlns:p14="http://schemas.microsoft.com/office/powerpoint/2010/main" val="269503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4218-7F8B-E67B-3AD0-2635C6C5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92DC73-D36A-31A0-E796-F757F2E57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32A519-F957-D574-999C-D5B4D9AA1F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89FAFB-C15D-E56C-534F-7B09CB0191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63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247236D-3922-D25A-0D42-43A1D089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Baselines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5A2C320C-146A-ACDE-29C2-02459D40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5387436"/>
            <a:ext cx="6228184" cy="340944"/>
          </a:xfrm>
          <a:prstGeom prst="rect">
            <a:avLst/>
          </a:prstGeom>
        </p:spPr>
      </p:pic>
      <p:pic>
        <p:nvPicPr>
          <p:cNvPr id="18" name="Grafik 1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699F55D-D074-D50C-77A9-BCCBF2A00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82" y="1716062"/>
            <a:ext cx="7939635" cy="3116759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0ED99D09-4D2F-D6C0-F1BD-97216521836E}"/>
              </a:ext>
            </a:extLst>
          </p:cNvPr>
          <p:cNvSpPr txBox="1"/>
          <p:nvPr/>
        </p:nvSpPr>
        <p:spPr>
          <a:xfrm>
            <a:off x="602182" y="1196985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Datensatz: Adult-Income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6A0BEBE-EF42-84DB-4D9C-EBBEE1ECE3DE}"/>
              </a:ext>
            </a:extLst>
          </p:cNvPr>
          <p:cNvSpPr/>
          <p:nvPr/>
        </p:nvSpPr>
        <p:spPr>
          <a:xfrm>
            <a:off x="3275856" y="1628800"/>
            <a:ext cx="5544616" cy="32040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2EEE4FE-CBC6-8C47-2130-F8A6EF36F451}"/>
              </a:ext>
            </a:extLst>
          </p:cNvPr>
          <p:cNvSpPr txBox="1"/>
          <p:nvPr/>
        </p:nvSpPr>
        <p:spPr>
          <a:xfrm>
            <a:off x="1583668" y="5028400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Legende: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0412C83-1BAB-EAD0-4CD8-6CF3A4346762}"/>
              </a:ext>
            </a:extLst>
          </p:cNvPr>
          <p:cNvSpPr/>
          <p:nvPr/>
        </p:nvSpPr>
        <p:spPr>
          <a:xfrm>
            <a:off x="1403648" y="5301287"/>
            <a:ext cx="244533" cy="720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8275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EE47A-9AC5-0926-4B65-9F47B7C1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49242F-BC8A-DFC8-C35A-EDD13FA11F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DFCC17-C0E9-8FF6-2F49-F2481DEF6A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94FAFC-FE16-9FDB-608E-3B043557C2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B1AE25-E478-2720-AB65-0283763F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Baselines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BF1993A-3025-17F5-DB01-4DBDD5846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5387436"/>
            <a:ext cx="6228184" cy="340944"/>
          </a:xfrm>
          <a:prstGeom prst="rect">
            <a:avLst/>
          </a:prstGeom>
        </p:spPr>
      </p:pic>
      <p:pic>
        <p:nvPicPr>
          <p:cNvPr id="18" name="Grafik 1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26B8571E-F6CA-9BE7-FCFB-CF0FA423D1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82" y="1716062"/>
            <a:ext cx="7939635" cy="3116759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B9949538-A43E-D91E-5F8D-DD2986E025D8}"/>
              </a:ext>
            </a:extLst>
          </p:cNvPr>
          <p:cNvSpPr txBox="1"/>
          <p:nvPr/>
        </p:nvSpPr>
        <p:spPr>
          <a:xfrm>
            <a:off x="602182" y="1196985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Datensatz: Adult-Income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244D221-6BBC-BC5F-4F26-EFB36193C207}"/>
              </a:ext>
            </a:extLst>
          </p:cNvPr>
          <p:cNvSpPr/>
          <p:nvPr/>
        </p:nvSpPr>
        <p:spPr>
          <a:xfrm>
            <a:off x="5940152" y="1628800"/>
            <a:ext cx="2880320" cy="32040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AE6036A-5173-B28E-365F-1B1CFD591C6F}"/>
              </a:ext>
            </a:extLst>
          </p:cNvPr>
          <p:cNvSpPr txBox="1"/>
          <p:nvPr/>
        </p:nvSpPr>
        <p:spPr>
          <a:xfrm>
            <a:off x="1583668" y="5028400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Legende: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0A354B4-625D-55B3-FA3C-E5D570898F15}"/>
              </a:ext>
            </a:extLst>
          </p:cNvPr>
          <p:cNvSpPr/>
          <p:nvPr/>
        </p:nvSpPr>
        <p:spPr>
          <a:xfrm>
            <a:off x="1403648" y="5301287"/>
            <a:ext cx="244533" cy="720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2877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10F0-E011-5A62-9FFD-CAC12DE1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D7982A-4DCB-DD53-4576-FC5E9A0482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75737C-D707-BF22-EA77-A6BB1C152A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C9F845-3A34-8281-27DA-2F0E3E5ABB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65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DADA54-DCE8-1307-5045-6F91AA6C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Baselines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4D16089-2EA1-D43A-970D-7C288BD01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5387436"/>
            <a:ext cx="6228184" cy="340944"/>
          </a:xfrm>
          <a:prstGeom prst="rect">
            <a:avLst/>
          </a:prstGeom>
        </p:spPr>
      </p:pic>
      <p:pic>
        <p:nvPicPr>
          <p:cNvPr id="18" name="Grafik 1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8D8AF5FF-9F92-6FAD-F1CB-74EC3EE1F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82" y="1716062"/>
            <a:ext cx="7939635" cy="3116759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DF995FF0-1F07-D967-2EB5-4D16BAE0B3AE}"/>
              </a:ext>
            </a:extLst>
          </p:cNvPr>
          <p:cNvSpPr txBox="1"/>
          <p:nvPr/>
        </p:nvSpPr>
        <p:spPr>
          <a:xfrm>
            <a:off x="602182" y="1196985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Datensatz: Adult-Income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1D16B21-4221-57DB-2B7C-295EAE3805FC}"/>
              </a:ext>
            </a:extLst>
          </p:cNvPr>
          <p:cNvSpPr txBox="1"/>
          <p:nvPr/>
        </p:nvSpPr>
        <p:spPr>
          <a:xfrm>
            <a:off x="1583668" y="5028400"/>
            <a:ext cx="3384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Legende: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41E8A93-3DEA-0123-4205-C453E59C6E98}"/>
              </a:ext>
            </a:extLst>
          </p:cNvPr>
          <p:cNvSpPr/>
          <p:nvPr/>
        </p:nvSpPr>
        <p:spPr>
          <a:xfrm>
            <a:off x="1403648" y="5301287"/>
            <a:ext cx="244533" cy="720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2637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D52146-D339-59CE-6C7E-3A64AB1A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807900-CA91-8BEE-2028-DB280DD0E4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089A16-EE6D-8164-A00F-0AF2C105BB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F71006-B23A-E9BB-C4F1-0C32812765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66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C53DC04-93C9-C096-714E-61177C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Baselines</a:t>
            </a:r>
          </a:p>
        </p:txBody>
      </p:sp>
      <p:pic>
        <p:nvPicPr>
          <p:cNvPr id="14" name="Inhaltsplatzhalter 13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8087A3A-FBE3-15F3-402E-BEA84C3AED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062411"/>
            <a:ext cx="6966424" cy="1872540"/>
          </a:xfrm>
        </p:spPr>
      </p:pic>
      <p:pic>
        <p:nvPicPr>
          <p:cNvPr id="16" name="Grafik 15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E9D2453C-B785-1A20-94A7-57F99F30D4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332519"/>
            <a:ext cx="5059581" cy="183590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BA6D3BE-B167-0D4F-123A-B8DD559F2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2868722"/>
            <a:ext cx="6414904" cy="34605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0C19736-3BCA-A0EC-B3A4-270EC77F9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685" y="5157192"/>
            <a:ext cx="6414904" cy="346053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BAB597E0-9F99-70EE-98C9-8AC5F6432450}"/>
              </a:ext>
            </a:extLst>
          </p:cNvPr>
          <p:cNvSpPr/>
          <p:nvPr/>
        </p:nvSpPr>
        <p:spPr>
          <a:xfrm>
            <a:off x="7299600" y="5071197"/>
            <a:ext cx="18002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B1D95A7-D67F-0285-F388-726FDE19E1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4383" y="5753541"/>
            <a:ext cx="6228184" cy="34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853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A980A7-FECC-9348-0A32-F124308D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58134D0-B4C3-EAB3-3456-F095BC164CE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 err="1"/>
              <a:t>L</a:t>
            </a:r>
            <a:r>
              <a:rPr lang="de-DE" sz="1600" dirty="0" err="1"/>
              <a:t>ocal</a:t>
            </a:r>
            <a:r>
              <a:rPr lang="de-DE" sz="1600" dirty="0"/>
              <a:t> </a:t>
            </a:r>
            <a:r>
              <a:rPr lang="de-DE" sz="1600" b="1" dirty="0" err="1"/>
              <a:t>I</a:t>
            </a:r>
            <a:r>
              <a:rPr lang="de-DE" sz="1600" dirty="0" err="1"/>
              <a:t>nterpretable</a:t>
            </a:r>
            <a:r>
              <a:rPr lang="de-DE" sz="1600" dirty="0"/>
              <a:t> </a:t>
            </a:r>
            <a:r>
              <a:rPr lang="de-DE" sz="1600" b="1" dirty="0"/>
              <a:t>M</a:t>
            </a:r>
            <a:r>
              <a:rPr lang="de-DE" sz="1600" dirty="0"/>
              <a:t>odel-</a:t>
            </a:r>
            <a:r>
              <a:rPr lang="de-DE" sz="1600" dirty="0" err="1"/>
              <a:t>agnostic</a:t>
            </a:r>
            <a:r>
              <a:rPr lang="de-DE" sz="1600" dirty="0"/>
              <a:t> </a:t>
            </a:r>
            <a:r>
              <a:rPr lang="de-DE" sz="1600" b="1" dirty="0" err="1"/>
              <a:t>E</a:t>
            </a:r>
            <a:r>
              <a:rPr lang="de-DE" sz="1600" dirty="0" err="1"/>
              <a:t>xplainations</a:t>
            </a:r>
            <a:r>
              <a:rPr lang="de-DE" sz="1600" dirty="0"/>
              <a:t> (LIME)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Verwendet einfaches Ersatzmodell anstatt dem komplexen Black-Box-Modell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Merkmalbasierter Erklärungsansatz durch Wichtigkeit einzelner Features für eine Entscheidung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903449-B4B0-9282-4C71-4C6F2558B6F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25C670-78A4-A436-D48D-4372937EB1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67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DDE6038-CD89-7144-1FA2-93B2E31E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LIME</a:t>
            </a:r>
          </a:p>
        </p:txBody>
      </p:sp>
      <p:pic>
        <p:nvPicPr>
          <p:cNvPr id="8" name="Grafik 7" descr="Ein Bild, das Reihe,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A2C030CE-B6C9-F282-4665-9E7A6EAF6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3046446"/>
            <a:ext cx="3128560" cy="2424492"/>
          </a:xfrm>
          <a:prstGeom prst="rect">
            <a:avLst/>
          </a:prstGeom>
        </p:spPr>
      </p:pic>
      <p:pic>
        <p:nvPicPr>
          <p:cNvPr id="10" name="Grafik 9" descr="Ein Bild, das Schrift, weiß, Text, Zahl enthält.">
            <a:extLst>
              <a:ext uri="{FF2B5EF4-FFF2-40B4-BE49-F238E27FC236}">
                <a16:creationId xmlns:a16="http://schemas.microsoft.com/office/drawing/2014/main" id="{D039AB3B-DCF7-940B-75E8-A8204BEA6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5387001"/>
            <a:ext cx="2232248" cy="61288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F2A905-8065-E0A0-804E-3F5BDBD0D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6114686"/>
            <a:ext cx="4572000" cy="43507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C21D70A-DDF8-94FE-7799-D65D497628A0}"/>
              </a:ext>
            </a:extLst>
          </p:cNvPr>
          <p:cNvSpPr txBox="1"/>
          <p:nvPr/>
        </p:nvSpPr>
        <p:spPr>
          <a:xfrm>
            <a:off x="4013684" y="2780928"/>
            <a:ext cx="1224136" cy="62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F1 Scores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de-DE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FB341AF-9EE5-A90A-C0A4-067EDA92FEFA}"/>
              </a:ext>
            </a:extLst>
          </p:cNvPr>
          <p:cNvSpPr/>
          <p:nvPr/>
        </p:nvSpPr>
        <p:spPr>
          <a:xfrm>
            <a:off x="2339752" y="2614713"/>
            <a:ext cx="4896544" cy="40546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8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4720FE-902B-1FE3-7CB2-9B8BD94A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220F7AD-05A8-E97B-FBC1-F11D087AC5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 err="1"/>
              <a:t>L</a:t>
            </a:r>
            <a:r>
              <a:rPr lang="de-DE" sz="1600" dirty="0" err="1"/>
              <a:t>ocal</a:t>
            </a:r>
            <a:r>
              <a:rPr lang="de-DE" sz="1600" dirty="0"/>
              <a:t> </a:t>
            </a:r>
            <a:r>
              <a:rPr lang="de-DE" sz="1600" b="1" dirty="0" err="1"/>
              <a:t>I</a:t>
            </a:r>
            <a:r>
              <a:rPr lang="de-DE" sz="1600" dirty="0" err="1"/>
              <a:t>nterpretable</a:t>
            </a:r>
            <a:r>
              <a:rPr lang="de-DE" sz="1600" dirty="0"/>
              <a:t> </a:t>
            </a:r>
            <a:r>
              <a:rPr lang="de-DE" sz="1600" b="1" dirty="0"/>
              <a:t>M</a:t>
            </a:r>
            <a:r>
              <a:rPr lang="de-DE" sz="1600" dirty="0"/>
              <a:t>odel-</a:t>
            </a:r>
            <a:r>
              <a:rPr lang="de-DE" sz="1600" dirty="0" err="1"/>
              <a:t>agnostic</a:t>
            </a:r>
            <a:r>
              <a:rPr lang="de-DE" sz="1600" dirty="0"/>
              <a:t> </a:t>
            </a:r>
            <a:r>
              <a:rPr lang="de-DE" sz="1600" b="1" dirty="0" err="1"/>
              <a:t>E</a:t>
            </a:r>
            <a:r>
              <a:rPr lang="de-DE" sz="1600" dirty="0" err="1"/>
              <a:t>xplainations</a:t>
            </a:r>
            <a:r>
              <a:rPr lang="de-DE" sz="1600" dirty="0"/>
              <a:t> (LIME)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Verwendet einfaches Ersatzmodell anstatt dem komplexen Black-Box-Modell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Merkmalbasierter Erklärungsansatz durch Wichtigkeit einzelner Features für eine Entscheidung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23CE40-7AC7-02E6-CF5F-9165FE96C8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71E285-AF8F-40C3-B977-B3C4364ABE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68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7C11FC8-8BD1-D697-B881-51758688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LIME</a:t>
            </a:r>
          </a:p>
        </p:txBody>
      </p:sp>
      <p:pic>
        <p:nvPicPr>
          <p:cNvPr id="8" name="Grafik 7" descr="Ein Bild, das Reihe,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38E45909-9A3F-F00E-B9AE-9B730967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046446"/>
            <a:ext cx="3128560" cy="2424492"/>
          </a:xfrm>
          <a:prstGeom prst="rect">
            <a:avLst/>
          </a:prstGeom>
        </p:spPr>
      </p:pic>
      <p:pic>
        <p:nvPicPr>
          <p:cNvPr id="10" name="Grafik 9" descr="Ein Bild, das Schrift, weiß, Text, Zahl enthält.">
            <a:extLst>
              <a:ext uri="{FF2B5EF4-FFF2-40B4-BE49-F238E27FC236}">
                <a16:creationId xmlns:a16="http://schemas.microsoft.com/office/drawing/2014/main" id="{427B0230-A792-F220-C472-353D5F347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5387001"/>
            <a:ext cx="2232248" cy="61288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366FFF0-745A-FA93-9724-111452F12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6114686"/>
            <a:ext cx="4572000" cy="43507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3174EE21-11F9-6377-9318-2868D90C6C2B}"/>
              </a:ext>
            </a:extLst>
          </p:cNvPr>
          <p:cNvSpPr txBox="1"/>
          <p:nvPr/>
        </p:nvSpPr>
        <p:spPr>
          <a:xfrm>
            <a:off x="4013684" y="2780928"/>
            <a:ext cx="1224136" cy="62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F1 Scores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de-DE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02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0498A2-5D3B-E3E5-C8B2-931B7F1B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115AC84-A543-79FF-7288-2756AFE945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b="1" dirty="0" err="1"/>
              <a:t>L</a:t>
            </a:r>
            <a:r>
              <a:rPr lang="de-DE" sz="1600" dirty="0" err="1"/>
              <a:t>ocal</a:t>
            </a:r>
            <a:r>
              <a:rPr lang="de-DE" sz="1600" dirty="0"/>
              <a:t> </a:t>
            </a:r>
            <a:r>
              <a:rPr lang="de-DE" sz="1600" b="1" dirty="0" err="1"/>
              <a:t>I</a:t>
            </a:r>
            <a:r>
              <a:rPr lang="de-DE" sz="1600" dirty="0" err="1"/>
              <a:t>nterpretable</a:t>
            </a:r>
            <a:r>
              <a:rPr lang="de-DE" sz="1600" dirty="0"/>
              <a:t> </a:t>
            </a:r>
            <a:r>
              <a:rPr lang="de-DE" sz="1600" b="1" dirty="0"/>
              <a:t>M</a:t>
            </a:r>
            <a:r>
              <a:rPr lang="de-DE" sz="1600" dirty="0"/>
              <a:t>odel-</a:t>
            </a:r>
            <a:r>
              <a:rPr lang="de-DE" sz="1600" dirty="0" err="1"/>
              <a:t>agnostic</a:t>
            </a:r>
            <a:r>
              <a:rPr lang="de-DE" sz="1600" dirty="0"/>
              <a:t> </a:t>
            </a:r>
            <a:r>
              <a:rPr lang="de-DE" sz="1600" b="1" dirty="0" err="1"/>
              <a:t>E</a:t>
            </a:r>
            <a:r>
              <a:rPr lang="de-DE" sz="1600" dirty="0" err="1"/>
              <a:t>xplainations</a:t>
            </a:r>
            <a:r>
              <a:rPr lang="de-DE" sz="1600" dirty="0"/>
              <a:t> (LIME)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Verwendet einfaches Ersatzmodell anstatt dem komplexen Black-Box-Modell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Merkmalbasierter Erklärungsansatz durch Wichtigkeit einzelner Features für eine Entscheidung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AFD80B-5DFB-FE18-ACA7-B93D8BD1FDA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CF5049-61DB-6883-F8A8-2B4EF0AC8F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69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040E00E-1B21-BCE4-3AD1-A23E4FDB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Vergleich mit LIME</a:t>
            </a:r>
          </a:p>
        </p:txBody>
      </p:sp>
      <p:pic>
        <p:nvPicPr>
          <p:cNvPr id="7" name="Grafik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1A4A37E2-CA1E-1385-88C5-E01E767A6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605" y="3140968"/>
            <a:ext cx="6023829" cy="278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732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E5D66-20EC-3924-B354-3DA68B65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01B3DA-CC0A-B29A-8C00-1F00197C3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1844824"/>
            <a:ext cx="8631343" cy="1872208"/>
          </a:xfrm>
        </p:spPr>
        <p:txBody>
          <a:bodyPr/>
          <a:lstStyle/>
          <a:p>
            <a:pPr algn="ctr"/>
            <a:r>
              <a:rPr lang="de-DE" sz="3600" dirty="0"/>
              <a:t>Anwendung in der Praxis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29850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2E41-7742-C5CD-5E5E-0949361B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472E2DC-1380-4BE3-6CA9-458A7990CC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Durch DiCE generierte Counterfactuals geben …</a:t>
            </a:r>
          </a:p>
          <a:p>
            <a:pPr marL="0" indent="0">
              <a:buNone/>
            </a:pPr>
            <a:r>
              <a:rPr lang="de-DE" dirty="0"/>
              <a:t>	… konkrete Handlungsmöglichkeiten („Was-wäre-wenn“-Szenarien)</a:t>
            </a:r>
          </a:p>
          <a:p>
            <a:pPr marL="0" indent="0">
              <a:buNone/>
            </a:pPr>
            <a:r>
              <a:rPr lang="de-DE" dirty="0"/>
              <a:t>	… diverse Erklärungen zur Erhöhung der Machbarkeit</a:t>
            </a:r>
          </a:p>
          <a:p>
            <a:pPr marL="0" indent="0">
              <a:buNone/>
            </a:pPr>
            <a:r>
              <a:rPr lang="de-DE" dirty="0"/>
              <a:t>	… Hinweise auf Bias in Trainingsdaten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Problem</a:t>
            </a:r>
          </a:p>
          <a:p>
            <a:pPr marL="0" indent="0">
              <a:buNone/>
            </a:pPr>
            <a:r>
              <a:rPr lang="de-DE" dirty="0"/>
              <a:t>Features sind nicht oder nur begrenzt änderbar sein (z.B. ethnische Herkunft, Alter, …)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Beschränkungen erfordern Vorarbeit durch Anwender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Domänenspezifisches Wissen notwendig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81CCB7-5BE2-7A7B-83D6-A9686DC96D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80F6E1-8271-32C7-47D6-4CB7BEE620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E2794A-4758-A410-92D1-29111C35CB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71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064324-2B8B-7560-3E71-1FEAC7F5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Relevanz in der Praxis</a:t>
            </a:r>
          </a:p>
        </p:txBody>
      </p:sp>
    </p:spTree>
    <p:extLst>
      <p:ext uri="{BB962C8B-B14F-4D97-AF65-F5344CB8AC3E}">
        <p14:creationId xmlns:p14="http://schemas.microsoft.com/office/powerpoint/2010/main" val="370569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CE2C79-25D1-E077-E83E-F15809D5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6A5F1A-AA4D-6E8B-E654-EEEA1500D5B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FA1DE7-5DE1-1E5C-1B7D-8956A595467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A736B4-2318-38DD-20A2-2E695868E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72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4054EFC-CEC9-C650-FA35-D3E52467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Beispiel: Einkommensklassen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3F033F31-2A31-36E9-7999-04C9ABC49CA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85271809"/>
              </p:ext>
            </p:extLst>
          </p:nvPr>
        </p:nvGraphicFramePr>
        <p:xfrm>
          <a:off x="442062" y="1700486"/>
          <a:ext cx="8259876" cy="283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Workclass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Martial</a:t>
                      </a:r>
                      <a:br>
                        <a:rPr lang="de-DE" sz="1200" dirty="0"/>
                      </a:br>
                      <a:r>
                        <a:rPr lang="de-DE" sz="1200" dirty="0"/>
                        <a:t>stauts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Occupation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Race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Weekly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working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hours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2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Bachelors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White-</a:t>
                      </a:r>
                      <a:r>
                        <a:rPr lang="de-DE" sz="1200" dirty="0" err="1"/>
                        <a:t>Collar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Female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Self-</a:t>
                      </a:r>
                      <a:r>
                        <a:rPr lang="de-DE" sz="1200" dirty="0" err="1"/>
                        <a:t>Employed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Assoc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Some</a:t>
                      </a:r>
                      <a:r>
                        <a:rPr lang="de-DE" sz="1200" dirty="0"/>
                        <a:t>-College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White-</a:t>
                      </a:r>
                      <a:r>
                        <a:rPr lang="de-DE" sz="1200" dirty="0" err="1"/>
                        <a:t>Collar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3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Some</a:t>
                      </a:r>
                      <a:r>
                        <a:rPr lang="de-DE" sz="1200" dirty="0"/>
                        <a:t>-College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Female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247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Self-</a:t>
                      </a:r>
                      <a:r>
                        <a:rPr lang="de-DE" sz="1200" dirty="0" err="1"/>
                        <a:t>Employed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Some</a:t>
                      </a:r>
                      <a:r>
                        <a:rPr lang="de-DE" sz="1200" dirty="0"/>
                        <a:t>-College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White-</a:t>
                      </a:r>
                      <a:r>
                        <a:rPr lang="de-DE" sz="1200" dirty="0" err="1"/>
                        <a:t>Collar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732312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517CC11C-6024-4460-395F-FBFA102233F2}"/>
              </a:ext>
            </a:extLst>
          </p:cNvPr>
          <p:cNvSpPr txBox="1"/>
          <p:nvPr/>
        </p:nvSpPr>
        <p:spPr>
          <a:xfrm>
            <a:off x="436745" y="4869160"/>
            <a:ext cx="6768752" cy="115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de-DE" sz="1600" b="1" dirty="0">
                <a:latin typeface="Verdana" panose="020B0604030504040204" pitchFamily="34" charset="0"/>
                <a:ea typeface="Verdana" panose="020B0604030504040204" pitchFamily="34" charset="0"/>
              </a:rPr>
              <a:t>Einkommensklassen</a:t>
            </a:r>
          </a:p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Hohes Einkommen (1): &gt;50.000$</a:t>
            </a:r>
          </a:p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Niedriges Einkommen (0): ≤50.000$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DE08B8D-9497-70BF-668E-D6316C9A0CA5}"/>
              </a:ext>
            </a:extLst>
          </p:cNvPr>
          <p:cNvSpPr txBox="1"/>
          <p:nvPr/>
        </p:nvSpPr>
        <p:spPr>
          <a:xfrm>
            <a:off x="436745" y="1157659"/>
            <a:ext cx="6768752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Datensatz</a:t>
            </a:r>
            <a:r>
              <a:rPr lang="de-DE" sz="1600" b="1" dirty="0">
                <a:latin typeface="Verdana" panose="020B0604030504040204" pitchFamily="34" charset="0"/>
                <a:ea typeface="Verdana" panose="020B0604030504040204" pitchFamily="34" charset="0"/>
              </a:rPr>
              <a:t> adult</a:t>
            </a:r>
            <a:r>
              <a:rPr lang="de-DE" sz="16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aus USA, 1994</a:t>
            </a:r>
          </a:p>
        </p:txBody>
      </p:sp>
    </p:spTree>
    <p:extLst>
      <p:ext uri="{BB962C8B-B14F-4D97-AF65-F5344CB8AC3E}">
        <p14:creationId xmlns:p14="http://schemas.microsoft.com/office/powerpoint/2010/main" val="40667075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CF4A-E582-2237-538D-A30A19B3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65E459-F256-67AD-6F17-ED759EF642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EDECEB-4D26-F4C1-2BD9-38FC66104E9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778EEF-9C33-58DD-E4A9-290B2305EE7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73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7598ECC-7CE6-0D58-8A66-248AFE23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Beispiel: Einkommensklassen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6B2BD2E5-D375-4C1D-6356-DB8A028B705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98030249"/>
              </p:ext>
            </p:extLst>
          </p:nvPr>
        </p:nvGraphicFramePr>
        <p:xfrm>
          <a:off x="442062" y="1700486"/>
          <a:ext cx="8259876" cy="1838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Workclass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Martial</a:t>
                      </a:r>
                      <a:br>
                        <a:rPr lang="de-DE" sz="1200" dirty="0"/>
                      </a:br>
                      <a:r>
                        <a:rPr lang="de-DE" sz="1200" dirty="0"/>
                        <a:t>stauts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Occupation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Race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Weekly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working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hours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2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Bachelors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White-</a:t>
                      </a:r>
                      <a:r>
                        <a:rPr lang="de-DE" sz="1200" dirty="0" err="1"/>
                        <a:t>Collar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Female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Self-</a:t>
                      </a:r>
                      <a:r>
                        <a:rPr lang="de-DE" sz="1200" dirty="0" err="1"/>
                        <a:t>Employed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Assoc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36116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7706FD0C-45F7-0EEA-6A06-16C4D79FC302}"/>
              </a:ext>
            </a:extLst>
          </p:cNvPr>
          <p:cNvSpPr txBox="1"/>
          <p:nvPr/>
        </p:nvSpPr>
        <p:spPr>
          <a:xfrm>
            <a:off x="410840" y="3982154"/>
            <a:ext cx="6768752" cy="115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de-DE" sz="1600" b="1" dirty="0">
                <a:latin typeface="Verdana" panose="020B0604030504040204" pitchFamily="34" charset="0"/>
                <a:ea typeface="Verdana" panose="020B0604030504040204" pitchFamily="34" charset="0"/>
              </a:rPr>
              <a:t>Einkommensklassen</a:t>
            </a:r>
          </a:p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Hohes Einkommen (1): &gt;50.000$</a:t>
            </a:r>
          </a:p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Niedriges Einkommen (0): ≤50.000$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2941D5C-9F98-3897-5844-CE60FA4C1C56}"/>
              </a:ext>
            </a:extLst>
          </p:cNvPr>
          <p:cNvSpPr txBox="1"/>
          <p:nvPr/>
        </p:nvSpPr>
        <p:spPr>
          <a:xfrm>
            <a:off x="436745" y="1157659"/>
            <a:ext cx="6768752" cy="411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Datensatz</a:t>
            </a:r>
            <a:r>
              <a:rPr lang="de-DE" sz="1600" b="1" dirty="0">
                <a:latin typeface="Verdana" panose="020B0604030504040204" pitchFamily="34" charset="0"/>
                <a:ea typeface="Verdana" panose="020B0604030504040204" pitchFamily="34" charset="0"/>
              </a:rPr>
              <a:t> adult</a:t>
            </a:r>
            <a:r>
              <a:rPr lang="de-DE" sz="16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1600" dirty="0">
                <a:latin typeface="Verdana" panose="020B0604030504040204" pitchFamily="34" charset="0"/>
                <a:ea typeface="Verdana" panose="020B0604030504040204" pitchFamily="34" charset="0"/>
              </a:rPr>
              <a:t>aus USA, 1994</a:t>
            </a:r>
          </a:p>
        </p:txBody>
      </p:sp>
    </p:spTree>
    <p:extLst>
      <p:ext uri="{BB962C8B-B14F-4D97-AF65-F5344CB8AC3E}">
        <p14:creationId xmlns:p14="http://schemas.microsoft.com/office/powerpoint/2010/main" val="2337729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DB1505-1AE8-C861-EADF-3E062672CAA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0B3D0A-58D8-3E9D-7691-C350C88B61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2D6DDA-8DE5-4481-0B2A-93461C4A8B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74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ACA31E8-BE34-DA0C-C6E8-F8D8867D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Vorbereitung der Daten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50507B-42E4-44FB-5444-3108EA541C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Aufteilen in Trainings- und Testdaten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169ED57-DC4D-FB26-ECBA-D336654329C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5503" y="3933057"/>
            <a:ext cx="7474889" cy="707338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sz="1200" dirty="0"/>
              <a:t>d = </a:t>
            </a:r>
            <a:r>
              <a:rPr lang="de-DE" sz="1200" dirty="0" err="1"/>
              <a:t>dice_ml.Data</a:t>
            </a:r>
            <a:r>
              <a:rPr lang="de-DE" sz="1200" dirty="0"/>
              <a:t>(</a:t>
            </a:r>
            <a:r>
              <a:rPr lang="de-DE" sz="1200" dirty="0" err="1"/>
              <a:t>dataframe</a:t>
            </a:r>
            <a:r>
              <a:rPr lang="de-DE" sz="1200" dirty="0"/>
              <a:t>=</a:t>
            </a:r>
            <a:r>
              <a:rPr lang="de-DE" sz="1200" dirty="0" err="1"/>
              <a:t>train_dataset</a:t>
            </a:r>
            <a:r>
              <a:rPr lang="de-DE" sz="1200" dirty="0"/>
              <a:t>, </a:t>
            </a:r>
          </a:p>
          <a:p>
            <a:r>
              <a:rPr lang="de-DE" sz="1200" dirty="0"/>
              <a:t>  	      </a:t>
            </a:r>
            <a:r>
              <a:rPr lang="de-DE" sz="1200" dirty="0" err="1"/>
              <a:t>continuous_features</a:t>
            </a:r>
            <a:r>
              <a:rPr lang="de-DE" sz="1200" dirty="0"/>
              <a:t>=['</a:t>
            </a:r>
            <a:r>
              <a:rPr lang="de-DE" sz="1200" dirty="0" err="1"/>
              <a:t>age</a:t>
            </a:r>
            <a:r>
              <a:rPr lang="de-DE" sz="1200" dirty="0"/>
              <a:t>', '</a:t>
            </a:r>
            <a:r>
              <a:rPr lang="de-DE" sz="1200" dirty="0" err="1"/>
              <a:t>hours_per_week</a:t>
            </a:r>
            <a:r>
              <a:rPr lang="de-DE" sz="1200" dirty="0"/>
              <a:t>‘], </a:t>
            </a:r>
            <a:r>
              <a:rPr lang="de-DE" sz="1200" dirty="0" err="1"/>
              <a:t>outcome_name</a:t>
            </a:r>
            <a:r>
              <a:rPr lang="de-DE" sz="1200" dirty="0"/>
              <a:t>='</a:t>
            </a:r>
            <a:r>
              <a:rPr lang="de-DE" sz="1200" dirty="0" err="1"/>
              <a:t>income</a:t>
            </a:r>
            <a:r>
              <a:rPr lang="de-DE" sz="1200" dirty="0"/>
              <a:t>')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703D0790-AA18-7D22-8E6A-01A3C6727BAD}"/>
              </a:ext>
            </a:extLst>
          </p:cNvPr>
          <p:cNvSpPr txBox="1">
            <a:spLocks/>
          </p:cNvSpPr>
          <p:nvPr/>
        </p:nvSpPr>
        <p:spPr>
          <a:xfrm>
            <a:off x="625503" y="1425925"/>
            <a:ext cx="8345434" cy="9755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target = dataset["income"]</a:t>
            </a:r>
          </a:p>
          <a:p>
            <a:r>
              <a:rPr lang="en-US" sz="1200" dirty="0" err="1"/>
              <a:t>train_dataset</a:t>
            </a:r>
            <a:r>
              <a:rPr lang="en-US" sz="1200" dirty="0"/>
              <a:t>, </a:t>
            </a:r>
            <a:r>
              <a:rPr lang="en-US" sz="1200" dirty="0" err="1"/>
              <a:t>test_dataset</a:t>
            </a:r>
            <a:r>
              <a:rPr lang="en-US" sz="1200" dirty="0"/>
              <a:t>, </a:t>
            </a:r>
            <a:r>
              <a:rPr lang="en-US" sz="1200" dirty="0" err="1"/>
              <a:t>y_train</a:t>
            </a:r>
            <a:r>
              <a:rPr lang="en-US" sz="1200" dirty="0"/>
              <a:t>, </a:t>
            </a:r>
            <a:r>
              <a:rPr lang="en-US" sz="1200" dirty="0" err="1"/>
              <a:t>y_test</a:t>
            </a:r>
            <a:r>
              <a:rPr lang="en-US" sz="1200" dirty="0"/>
              <a:t> = </a:t>
            </a:r>
            <a:r>
              <a:rPr lang="en-US" sz="1200" dirty="0" err="1"/>
              <a:t>train_test_split</a:t>
            </a:r>
            <a:r>
              <a:rPr lang="en-US" sz="1200" dirty="0"/>
              <a:t>(dataset, target, </a:t>
            </a:r>
            <a:r>
              <a:rPr lang="en-US" sz="1200" dirty="0" err="1"/>
              <a:t>test_size</a:t>
            </a:r>
            <a:r>
              <a:rPr lang="en-US" sz="1200" dirty="0"/>
              <a:t>=0.2, 					         </a:t>
            </a:r>
            <a:r>
              <a:rPr lang="en-US" sz="1200" dirty="0" err="1"/>
              <a:t>random_state</a:t>
            </a:r>
            <a:r>
              <a:rPr lang="en-US" sz="1200" dirty="0"/>
              <a:t>=0, stratify=target)</a:t>
            </a:r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31D0A669-1F21-E0F4-431E-955A23A31B6F}"/>
              </a:ext>
            </a:extLst>
          </p:cNvPr>
          <p:cNvSpPr txBox="1">
            <a:spLocks/>
          </p:cNvSpPr>
          <p:nvPr/>
        </p:nvSpPr>
        <p:spPr>
          <a:xfrm>
            <a:off x="259014" y="2564904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2.  </a:t>
            </a:r>
            <a:r>
              <a:rPr lang="de-DE" dirty="0"/>
              <a:t>Klassifikationen entfernen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B3881C2E-E100-3E8A-6E36-B83A863C5945}"/>
              </a:ext>
            </a:extLst>
          </p:cNvPr>
          <p:cNvSpPr txBox="1">
            <a:spLocks/>
          </p:cNvSpPr>
          <p:nvPr/>
        </p:nvSpPr>
        <p:spPr>
          <a:xfrm>
            <a:off x="647501" y="2954155"/>
            <a:ext cx="3996507" cy="3820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x_test</a:t>
            </a:r>
            <a:r>
              <a:rPr lang="en-US" sz="1200" dirty="0"/>
              <a:t> = </a:t>
            </a:r>
            <a:r>
              <a:rPr lang="en-US" sz="1200" dirty="0" err="1"/>
              <a:t>test_dataset.drop</a:t>
            </a:r>
            <a:r>
              <a:rPr lang="en-US" sz="1200" dirty="0"/>
              <a:t>('income', axis=1)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72E81966-D64F-7FE9-8860-4171A9259F8F}"/>
              </a:ext>
            </a:extLst>
          </p:cNvPr>
          <p:cNvSpPr txBox="1">
            <a:spLocks/>
          </p:cNvSpPr>
          <p:nvPr/>
        </p:nvSpPr>
        <p:spPr>
          <a:xfrm>
            <a:off x="259014" y="3503339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3.  </a:t>
            </a:r>
            <a:r>
              <a:rPr lang="de-DE" dirty="0"/>
              <a:t>Konstruktion des Datenobjekts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58453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B56-3C20-C802-17FC-A0F0CC73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AFB8AE-B5DA-30EE-B54C-742FA6E99E1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C25201-10DD-E58B-36A8-488B0EC716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8766D5-DDBA-D552-8433-44147442BB5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75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3E43312-F165-09B7-38F9-6ED283FC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Vorbereitung der Daten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8ACF2D-4551-E3B8-74A8-C1B468B6CF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4.  </a:t>
            </a:r>
            <a:r>
              <a:rPr lang="de-DE" dirty="0"/>
              <a:t>Verwendung eines vortrainierten ML-Modells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F5EFD59-0A28-535B-A662-1E537ECA74C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5503" y="3933057"/>
            <a:ext cx="3802481" cy="36004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200" dirty="0"/>
              <a:t>exp = </a:t>
            </a:r>
            <a:r>
              <a:rPr lang="en-US" sz="1200" dirty="0" err="1"/>
              <a:t>dice_ml.Dice</a:t>
            </a:r>
            <a:r>
              <a:rPr lang="en-US" sz="1200" dirty="0"/>
              <a:t>(d, m, method="gradient")</a:t>
            </a:r>
            <a:endParaRPr lang="de-DE" sz="1200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2869F4FB-9708-13B3-244F-38A8DAE1B106}"/>
              </a:ext>
            </a:extLst>
          </p:cNvPr>
          <p:cNvSpPr txBox="1">
            <a:spLocks/>
          </p:cNvSpPr>
          <p:nvPr/>
        </p:nvSpPr>
        <p:spPr>
          <a:xfrm>
            <a:off x="625503" y="1425925"/>
            <a:ext cx="5746697" cy="6664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backend = 'TF2'</a:t>
            </a:r>
          </a:p>
          <a:p>
            <a:r>
              <a:rPr lang="en-US" sz="1200" dirty="0" err="1"/>
              <a:t>ML_modelpath</a:t>
            </a:r>
            <a:r>
              <a:rPr lang="en-US" sz="1200" dirty="0"/>
              <a:t> = </a:t>
            </a:r>
            <a:r>
              <a:rPr lang="en-US" sz="1200" dirty="0" err="1"/>
              <a:t>helpers.get_adult_income_modelpath</a:t>
            </a:r>
            <a:r>
              <a:rPr lang="en-US" sz="1200" dirty="0"/>
              <a:t>(backend=backend)</a:t>
            </a:r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BB4C3E12-68F2-83BD-ACFF-AD8D6C576F56}"/>
              </a:ext>
            </a:extLst>
          </p:cNvPr>
          <p:cNvSpPr txBox="1">
            <a:spLocks/>
          </p:cNvSpPr>
          <p:nvPr/>
        </p:nvSpPr>
        <p:spPr>
          <a:xfrm>
            <a:off x="259014" y="2401470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5. </a:t>
            </a:r>
            <a:r>
              <a:rPr lang="de-DE" dirty="0"/>
              <a:t>Konstruktion des Modellobjekts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279C8FFC-E5FA-9BE0-9ED0-EEAAA398CC7C}"/>
              </a:ext>
            </a:extLst>
          </p:cNvPr>
          <p:cNvSpPr txBox="1">
            <a:spLocks/>
          </p:cNvSpPr>
          <p:nvPr/>
        </p:nvSpPr>
        <p:spPr>
          <a:xfrm>
            <a:off x="647501" y="2758913"/>
            <a:ext cx="6876827" cy="3820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m = </a:t>
            </a:r>
            <a:r>
              <a:rPr lang="en-US" sz="1200" dirty="0" err="1"/>
              <a:t>dice_ml.Model</a:t>
            </a:r>
            <a:r>
              <a:rPr lang="en-US" sz="1200" dirty="0"/>
              <a:t>(</a:t>
            </a:r>
            <a:r>
              <a:rPr lang="en-US" sz="1200" dirty="0" err="1"/>
              <a:t>model_path</a:t>
            </a:r>
            <a:r>
              <a:rPr lang="en-US" sz="1200" dirty="0"/>
              <a:t>=</a:t>
            </a:r>
            <a:r>
              <a:rPr lang="en-US" sz="1200" dirty="0" err="1"/>
              <a:t>ML_modelpath</a:t>
            </a:r>
            <a:r>
              <a:rPr lang="en-US" sz="1200" dirty="0"/>
              <a:t>, backend=backend, </a:t>
            </a:r>
            <a:r>
              <a:rPr lang="en-US" sz="1200" dirty="0" err="1"/>
              <a:t>func</a:t>
            </a:r>
            <a:r>
              <a:rPr lang="en-US" sz="1200" dirty="0"/>
              <a:t>="</a:t>
            </a:r>
            <a:r>
              <a:rPr lang="en-US" sz="1200" dirty="0" err="1"/>
              <a:t>ohe</a:t>
            </a:r>
            <a:r>
              <a:rPr lang="en-US" sz="1200" dirty="0"/>
              <a:t>-min-max")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41D1AF06-7A96-90A6-8927-B683037D1518}"/>
              </a:ext>
            </a:extLst>
          </p:cNvPr>
          <p:cNvSpPr txBox="1">
            <a:spLocks/>
          </p:cNvSpPr>
          <p:nvPr/>
        </p:nvSpPr>
        <p:spPr>
          <a:xfrm>
            <a:off x="259014" y="3503339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6.  </a:t>
            </a:r>
            <a:r>
              <a:rPr lang="de-DE" dirty="0"/>
              <a:t>Konstruktion des DiCE-Objekts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8458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F611-B4E1-6A46-0F30-866065E4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E4D4C8-38C4-B2B1-3E4F-DDA905C7148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F1E0CC-4EB6-1122-617E-A117CAFFBB7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A48137-0487-1CCE-D854-2A1BBE88F6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76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C7CAFD3-6E8F-BF10-E383-6F1F68B51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14" y="75342"/>
            <a:ext cx="6257201" cy="720000"/>
          </a:xfrm>
        </p:spPr>
        <p:txBody>
          <a:bodyPr anchor="b">
            <a:normAutofit/>
          </a:bodyPr>
          <a:lstStyle/>
          <a:p>
            <a:r>
              <a:rPr lang="de-DE" sz="2400" dirty="0"/>
              <a:t>Generierung ohne Beschränkungen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F4930A6-EA63-181B-329C-A7711EFDF7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7a.  </a:t>
            </a:r>
            <a:r>
              <a:rPr lang="de-DE" dirty="0"/>
              <a:t>Generierung der Counterfactuals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3CF67297-8D91-A1C1-4A9A-0EF183E4F14B}"/>
              </a:ext>
            </a:extLst>
          </p:cNvPr>
          <p:cNvSpPr txBox="1">
            <a:spLocks/>
          </p:cNvSpPr>
          <p:nvPr/>
        </p:nvSpPr>
        <p:spPr>
          <a:xfrm>
            <a:off x="625503" y="1425924"/>
            <a:ext cx="7906937" cy="3965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dice_exp</a:t>
            </a:r>
            <a:r>
              <a:rPr lang="en-US" sz="1200" dirty="0"/>
              <a:t> = </a:t>
            </a:r>
            <a:r>
              <a:rPr lang="en-US" sz="1200" dirty="0" err="1"/>
              <a:t>exp.generate_counterfactuals</a:t>
            </a:r>
            <a:r>
              <a:rPr lang="en-US" sz="1200" dirty="0"/>
              <a:t>(</a:t>
            </a:r>
            <a:r>
              <a:rPr lang="en-US" sz="1200" dirty="0" err="1"/>
              <a:t>x_test</a:t>
            </a:r>
            <a:r>
              <a:rPr lang="en-US" sz="1200" dirty="0"/>
              <a:t>[1:2], </a:t>
            </a:r>
            <a:r>
              <a:rPr lang="en-US" sz="1200" dirty="0" err="1"/>
              <a:t>total_CFs</a:t>
            </a:r>
            <a:r>
              <a:rPr lang="en-US" sz="1200" dirty="0"/>
              <a:t>=4, </a:t>
            </a:r>
            <a:r>
              <a:rPr lang="en-US" sz="1200" dirty="0" err="1"/>
              <a:t>desired_class</a:t>
            </a:r>
            <a:r>
              <a:rPr lang="en-US" sz="1200" dirty="0"/>
              <a:t>="opposite")</a:t>
            </a:r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419D4F44-6F04-235B-6189-781D1969485D}"/>
              </a:ext>
            </a:extLst>
          </p:cNvPr>
          <p:cNvSpPr txBox="1">
            <a:spLocks/>
          </p:cNvSpPr>
          <p:nvPr/>
        </p:nvSpPr>
        <p:spPr>
          <a:xfrm>
            <a:off x="259014" y="1916832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8a. </a:t>
            </a:r>
            <a:r>
              <a:rPr lang="de-DE" dirty="0"/>
              <a:t>Tabellarische Darstellung der Änderungen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A8F1DEAC-1834-2411-13BF-D6C8C9603A07}"/>
              </a:ext>
            </a:extLst>
          </p:cNvPr>
          <p:cNvSpPr txBox="1">
            <a:spLocks/>
          </p:cNvSpPr>
          <p:nvPr/>
        </p:nvSpPr>
        <p:spPr>
          <a:xfrm>
            <a:off x="647501" y="2276872"/>
            <a:ext cx="4860603" cy="3526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dice_exp.visualize_as_dataframe</a:t>
            </a:r>
            <a:r>
              <a:rPr lang="en-US" sz="1200" dirty="0"/>
              <a:t>(</a:t>
            </a:r>
            <a:r>
              <a:rPr lang="en-US" sz="1200" dirty="0" err="1"/>
              <a:t>show_only_changes</a:t>
            </a:r>
            <a:r>
              <a:rPr lang="en-US" sz="1200" dirty="0"/>
              <a:t>=True)</a:t>
            </a:r>
          </a:p>
        </p:txBody>
      </p:sp>
      <p:graphicFrame>
        <p:nvGraphicFramePr>
          <p:cNvPr id="15" name="Inhaltsplatzhalter 9">
            <a:extLst>
              <a:ext uri="{FF2B5EF4-FFF2-40B4-BE49-F238E27FC236}">
                <a16:creationId xmlns:a16="http://schemas.microsoft.com/office/drawing/2014/main" id="{A2BE67AF-733B-AD4B-8D12-2E65B84921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7983133"/>
              </p:ext>
            </p:extLst>
          </p:nvPr>
        </p:nvGraphicFramePr>
        <p:xfrm>
          <a:off x="395536" y="2771764"/>
          <a:ext cx="8259876" cy="1097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627217">
                <a:tc>
                  <a:txBody>
                    <a:bodyPr/>
                    <a:lstStyle/>
                    <a:p>
                      <a:r>
                        <a:rPr lang="de-DE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Workclass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Martial</a:t>
                      </a:r>
                      <a:br>
                        <a:rPr lang="de-DE" sz="1200" dirty="0"/>
                      </a:br>
                      <a:r>
                        <a:rPr lang="de-DE" sz="1200" dirty="0"/>
                        <a:t>stauts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Occupation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Race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Weekly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working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hours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25113"/>
                  </a:ext>
                </a:extLst>
              </a:tr>
              <a:tr h="239174">
                <a:tc>
                  <a:txBody>
                    <a:bodyPr/>
                    <a:lstStyle/>
                    <a:p>
                      <a:r>
                        <a:rPr lang="de-DE" sz="12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Goverment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Some</a:t>
                      </a:r>
                      <a:r>
                        <a:rPr lang="de-DE" sz="1200" dirty="0"/>
                        <a:t>-College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Female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</a:tbl>
          </a:graphicData>
        </a:graphic>
      </p:graphicFrame>
      <p:graphicFrame>
        <p:nvGraphicFramePr>
          <p:cNvPr id="16" name="Inhaltsplatzhalter 9">
            <a:extLst>
              <a:ext uri="{FF2B5EF4-FFF2-40B4-BE49-F238E27FC236}">
                <a16:creationId xmlns:a16="http://schemas.microsoft.com/office/drawing/2014/main" id="{586FEDEA-7973-D458-3EDD-9EF1B86F4A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416795"/>
              </p:ext>
            </p:extLst>
          </p:nvPr>
        </p:nvGraphicFramePr>
        <p:xfrm>
          <a:off x="395536" y="4132791"/>
          <a:ext cx="8259876" cy="13711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Doctorate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420329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36155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Bachelors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72918"/>
                  </a:ext>
                </a:extLst>
              </a:tr>
            </a:tbl>
          </a:graphicData>
        </a:graphic>
      </p:graphicFrame>
      <p:sp>
        <p:nvSpPr>
          <p:cNvPr id="18" name="Rechteck 17">
            <a:extLst>
              <a:ext uri="{FF2B5EF4-FFF2-40B4-BE49-F238E27FC236}">
                <a16:creationId xmlns:a16="http://schemas.microsoft.com/office/drawing/2014/main" id="{83F21930-69D9-1257-02B2-7A39BF5FC297}"/>
              </a:ext>
            </a:extLst>
          </p:cNvPr>
          <p:cNvSpPr/>
          <p:nvPr/>
        </p:nvSpPr>
        <p:spPr>
          <a:xfrm>
            <a:off x="395536" y="4818340"/>
            <a:ext cx="576064" cy="338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478BE5E-D408-EC6A-84F4-2D1FB0BE63C6}"/>
              </a:ext>
            </a:extLst>
          </p:cNvPr>
          <p:cNvSpPr/>
          <p:nvPr/>
        </p:nvSpPr>
        <p:spPr>
          <a:xfrm>
            <a:off x="6660232" y="4132791"/>
            <a:ext cx="864096" cy="1371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7193F7D-10DD-434B-BEB4-69EA4F010604}"/>
              </a:ext>
            </a:extLst>
          </p:cNvPr>
          <p:cNvSpPr txBox="1"/>
          <p:nvPr/>
        </p:nvSpPr>
        <p:spPr>
          <a:xfrm>
            <a:off x="395536" y="5661248"/>
            <a:ext cx="8208912" cy="738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Änderung des Alters oder extreme Arbeitszeiten nicht erwünscht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Generierung manuell einschränken</a:t>
            </a:r>
          </a:p>
        </p:txBody>
      </p:sp>
    </p:spTree>
    <p:extLst>
      <p:ext uri="{BB962C8B-B14F-4D97-AF65-F5344CB8AC3E}">
        <p14:creationId xmlns:p14="http://schemas.microsoft.com/office/powerpoint/2010/main" val="32524879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FFEB-958B-8274-4945-AAC509C6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C2E5C3-2713-3BDB-95D6-C0D3EA75A41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526831-A5F3-8EBD-C978-A60FF0F9F9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705DB3-6316-E885-148A-A500231F194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77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654EE6B-7EA5-7757-F04A-8424EE24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Generierung mit Beschränkungen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95C626-DC64-0D9B-1F0C-BF46C585BE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7b.  </a:t>
            </a:r>
            <a:r>
              <a:rPr lang="de-DE" dirty="0"/>
              <a:t>Generierung der Counterfactuals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6ED3AA90-785B-ACC3-7F6C-7E125AE2245B}"/>
              </a:ext>
            </a:extLst>
          </p:cNvPr>
          <p:cNvSpPr txBox="1">
            <a:spLocks/>
          </p:cNvSpPr>
          <p:nvPr/>
        </p:nvSpPr>
        <p:spPr>
          <a:xfrm>
            <a:off x="625503" y="1425924"/>
            <a:ext cx="7906937" cy="9713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dice_exp</a:t>
            </a:r>
            <a:r>
              <a:rPr lang="en-US" sz="1200" dirty="0"/>
              <a:t> = </a:t>
            </a:r>
            <a:r>
              <a:rPr lang="en-US" sz="1200" dirty="0" err="1"/>
              <a:t>exp.generate_counterfactuals</a:t>
            </a:r>
            <a:r>
              <a:rPr lang="en-US" sz="1200" dirty="0"/>
              <a:t>(</a:t>
            </a:r>
            <a:r>
              <a:rPr lang="en-US" sz="1200" dirty="0" err="1"/>
              <a:t>x_test</a:t>
            </a:r>
            <a:r>
              <a:rPr lang="en-US" sz="1200" dirty="0"/>
              <a:t>[8:9], </a:t>
            </a:r>
            <a:r>
              <a:rPr lang="en-US" sz="1200" dirty="0" err="1"/>
              <a:t>total_CFs</a:t>
            </a:r>
            <a:r>
              <a:rPr lang="en-US" sz="1200" dirty="0"/>
              <a:t>=4, </a:t>
            </a:r>
            <a:r>
              <a:rPr lang="en-US" sz="1200" dirty="0" err="1"/>
              <a:t>desired_class</a:t>
            </a:r>
            <a:r>
              <a:rPr lang="en-US" sz="1200" dirty="0"/>
              <a:t>="opposite", 	</a:t>
            </a:r>
            <a:r>
              <a:rPr lang="en-US" sz="1200" dirty="0" err="1"/>
              <a:t>features_to_vary</a:t>
            </a:r>
            <a:r>
              <a:rPr lang="en-US" sz="1200" dirty="0"/>
              <a:t>=['</a:t>
            </a:r>
            <a:r>
              <a:rPr lang="en-US" sz="1200" dirty="0" err="1"/>
              <a:t>workclass</a:t>
            </a:r>
            <a:r>
              <a:rPr lang="en-US" sz="1200" dirty="0"/>
              <a:t>', '</a:t>
            </a:r>
            <a:r>
              <a:rPr lang="en-US" sz="1200" dirty="0" err="1"/>
              <a:t>hours_per_week</a:t>
            </a:r>
            <a:r>
              <a:rPr lang="en-US" sz="1200" dirty="0"/>
              <a:t>', 'education', 'occupation’, </a:t>
            </a:r>
          </a:p>
          <a:p>
            <a:r>
              <a:rPr lang="en-US" sz="1200" dirty="0"/>
              <a:t>	'</a:t>
            </a:r>
            <a:r>
              <a:rPr lang="en-US" sz="1200" dirty="0" err="1"/>
              <a:t>marital_status</a:t>
            </a:r>
            <a:r>
              <a:rPr lang="en-US" sz="1200" dirty="0"/>
              <a:t>'], </a:t>
            </a:r>
            <a:r>
              <a:rPr lang="en-US" sz="1200" dirty="0" err="1"/>
              <a:t>permitted_range</a:t>
            </a:r>
            <a:r>
              <a:rPr lang="en-US" sz="1200" dirty="0"/>
              <a:t>={'</a:t>
            </a:r>
            <a:r>
              <a:rPr lang="en-US" sz="1200" dirty="0" err="1"/>
              <a:t>hours_per_week</a:t>
            </a:r>
            <a:r>
              <a:rPr lang="en-US" sz="1200" dirty="0"/>
              <a:t>': [10, 50]})</a:t>
            </a:r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E3F57F67-36E4-E2F9-9AD0-0C2C6D439368}"/>
              </a:ext>
            </a:extLst>
          </p:cNvPr>
          <p:cNvSpPr txBox="1">
            <a:spLocks/>
          </p:cNvSpPr>
          <p:nvPr/>
        </p:nvSpPr>
        <p:spPr>
          <a:xfrm>
            <a:off x="259014" y="2348880"/>
            <a:ext cx="8705474" cy="55528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115E67"/>
                </a:solidFill>
              </a:rPr>
              <a:t>8b. </a:t>
            </a:r>
            <a:r>
              <a:rPr lang="de-DE" dirty="0"/>
              <a:t>Tabellarische Darstellung der Änderungen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312FFADC-BCBC-C303-6532-ED63B3C83E50}"/>
              </a:ext>
            </a:extLst>
          </p:cNvPr>
          <p:cNvSpPr txBox="1">
            <a:spLocks/>
          </p:cNvSpPr>
          <p:nvPr/>
        </p:nvSpPr>
        <p:spPr>
          <a:xfrm>
            <a:off x="647501" y="2706052"/>
            <a:ext cx="4860603" cy="3629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lwyn New Lt" panose="020B03030000000200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dice_exp.visualize_as_dataframe</a:t>
            </a:r>
            <a:r>
              <a:rPr lang="en-US" sz="1200" dirty="0"/>
              <a:t>(</a:t>
            </a:r>
            <a:r>
              <a:rPr lang="en-US" sz="1200" dirty="0" err="1"/>
              <a:t>show_only_changes</a:t>
            </a:r>
            <a:r>
              <a:rPr lang="en-US" sz="1200" dirty="0"/>
              <a:t>=True)</a:t>
            </a:r>
          </a:p>
        </p:txBody>
      </p:sp>
      <p:graphicFrame>
        <p:nvGraphicFramePr>
          <p:cNvPr id="15" name="Inhaltsplatzhalter 9">
            <a:extLst>
              <a:ext uri="{FF2B5EF4-FFF2-40B4-BE49-F238E27FC236}">
                <a16:creationId xmlns:a16="http://schemas.microsoft.com/office/drawing/2014/main" id="{A22BDCD3-C022-11BB-716F-DBCF61A94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820804"/>
              </p:ext>
            </p:extLst>
          </p:nvPr>
        </p:nvGraphicFramePr>
        <p:xfrm>
          <a:off x="395536" y="3195816"/>
          <a:ext cx="8259876" cy="1097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627217">
                <a:tc>
                  <a:txBody>
                    <a:bodyPr/>
                    <a:lstStyle/>
                    <a:p>
                      <a:r>
                        <a:rPr lang="de-DE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Workclass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Martial</a:t>
                      </a:r>
                      <a:br>
                        <a:rPr lang="de-DE" sz="1200" dirty="0"/>
                      </a:br>
                      <a:r>
                        <a:rPr lang="de-DE" sz="1200" dirty="0"/>
                        <a:t>stauts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Occupation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Race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Weekly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working</a:t>
                      </a:r>
                      <a:br>
                        <a:rPr lang="de-DE" sz="1200" dirty="0"/>
                      </a:br>
                      <a:r>
                        <a:rPr lang="de-DE" sz="1200" dirty="0" err="1"/>
                        <a:t>hours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25113"/>
                  </a:ext>
                </a:extLst>
              </a:tr>
              <a:tr h="239174">
                <a:tc>
                  <a:txBody>
                    <a:bodyPr/>
                    <a:lstStyle/>
                    <a:p>
                      <a:r>
                        <a:rPr lang="de-DE" sz="12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Goverment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Some</a:t>
                      </a:r>
                      <a:r>
                        <a:rPr lang="de-DE" sz="1200" dirty="0"/>
                        <a:t>-College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Female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</a:tbl>
          </a:graphicData>
        </a:graphic>
      </p:graphicFrame>
      <p:graphicFrame>
        <p:nvGraphicFramePr>
          <p:cNvPr id="16" name="Inhaltsplatzhalter 9">
            <a:extLst>
              <a:ext uri="{FF2B5EF4-FFF2-40B4-BE49-F238E27FC236}">
                <a16:creationId xmlns:a16="http://schemas.microsoft.com/office/drawing/2014/main" id="{21E83219-4A1B-E72F-972D-99F05E8B0B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23596"/>
              </p:ext>
            </p:extLst>
          </p:nvPr>
        </p:nvGraphicFramePr>
        <p:xfrm>
          <a:off x="395536" y="4506172"/>
          <a:ext cx="8259876" cy="13711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562293">
                  <a:extLst>
                    <a:ext uri="{9D8B030D-6E8A-4147-A177-3AD203B41FA5}">
                      <a16:colId xmlns:a16="http://schemas.microsoft.com/office/drawing/2014/main" val="3368415768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692332455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772486754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318087928"/>
                    </a:ext>
                  </a:extLst>
                </a:gridCol>
                <a:gridCol w="1194118">
                  <a:extLst>
                    <a:ext uri="{9D8B030D-6E8A-4147-A177-3AD203B41FA5}">
                      <a16:colId xmlns:a16="http://schemas.microsoft.com/office/drawing/2014/main" val="3125510034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62945846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3680178235"/>
                    </a:ext>
                  </a:extLst>
                </a:gridCol>
                <a:gridCol w="933768">
                  <a:extLst>
                    <a:ext uri="{9D8B030D-6E8A-4147-A177-3AD203B41FA5}">
                      <a16:colId xmlns:a16="http://schemas.microsoft.com/office/drawing/2014/main" val="1780319351"/>
                    </a:ext>
                  </a:extLst>
                </a:gridCol>
                <a:gridCol w="1043734">
                  <a:extLst>
                    <a:ext uri="{9D8B030D-6E8A-4147-A177-3AD203B41FA5}">
                      <a16:colId xmlns:a16="http://schemas.microsoft.com/office/drawing/2014/main" val="4146257994"/>
                    </a:ext>
                  </a:extLst>
                </a:gridCol>
              </a:tblGrid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Doctorate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01015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Prof-school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420329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Prof-school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36155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Doctorate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Married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72918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6D0E0EEC-6A88-9521-1A0B-5F9D797AC174}"/>
              </a:ext>
            </a:extLst>
          </p:cNvPr>
          <p:cNvSpPr/>
          <p:nvPr/>
        </p:nvSpPr>
        <p:spPr>
          <a:xfrm>
            <a:off x="1547664" y="1772816"/>
            <a:ext cx="655272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88D36A4-A9A3-2602-68FB-DF180BE3C9B0}"/>
              </a:ext>
            </a:extLst>
          </p:cNvPr>
          <p:cNvSpPr txBox="1"/>
          <p:nvPr/>
        </p:nvSpPr>
        <p:spPr>
          <a:xfrm>
            <a:off x="395536" y="5933481"/>
            <a:ext cx="82089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500" dirty="0">
                <a:latin typeface="Verdana" panose="020B0604030504040204" pitchFamily="34" charset="0"/>
                <a:ea typeface="Verdana" panose="020B0604030504040204" pitchFamily="34" charset="0"/>
              </a:rPr>
              <a:t>Bias im Datensatz: Hohes Einkommen setzt Heirat für Frauen voraus!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F382E4D-D623-2630-D686-5060683DD2B6}"/>
              </a:ext>
            </a:extLst>
          </p:cNvPr>
          <p:cNvSpPr/>
          <p:nvPr/>
        </p:nvSpPr>
        <p:spPr>
          <a:xfrm>
            <a:off x="3131840" y="4526874"/>
            <a:ext cx="864096" cy="1350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02982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C5E3-4EBE-5C3A-6908-2CCE757A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1C3450-95AF-9568-E50C-72091D449AF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D0D2DE-5CF5-4A16-11A8-95144216B3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F3BB39-4B0F-0905-3D2E-2105A1B667A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78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E558D92-D3D0-32AC-0688-96867CF9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Evaluation des Beispiels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0BC4DA-0AB3-F54C-2336-1D5DC5DA97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Berechnung der Metriken für das unbeschränkte und das beschränkte Beispiel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C0198736-AD40-9A09-DB8E-23070BF5F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346067"/>
              </p:ext>
            </p:extLst>
          </p:nvPr>
        </p:nvGraphicFramePr>
        <p:xfrm>
          <a:off x="1367644" y="1724176"/>
          <a:ext cx="6408711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271">
                  <a:extLst>
                    <a:ext uri="{9D8B030D-6E8A-4147-A177-3AD203B41FA5}">
                      <a16:colId xmlns:a16="http://schemas.microsoft.com/office/drawing/2014/main" val="358517347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1573081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14122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Evaluationsmetrik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Unbeschränkte 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Beschränkte CFs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95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Gültigkeit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66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Kontinuierliche Proximität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-6,7125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-2,9500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23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Kategoriale Proximität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35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Sparsität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67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Kontinuierliche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6,8417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0,4333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3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Kategoriale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0,2778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57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Count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0,3125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041676"/>
                  </a:ext>
                </a:extLst>
              </a:tr>
            </a:tbl>
          </a:graphicData>
        </a:graphic>
      </p:graphicFrame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ABA51AC8-DCB8-4CE2-2BA1-C5548A1707EC}"/>
              </a:ext>
            </a:extLst>
          </p:cNvPr>
          <p:cNvSpPr txBox="1">
            <a:spLocks/>
          </p:cNvSpPr>
          <p:nvPr/>
        </p:nvSpPr>
        <p:spPr>
          <a:xfrm>
            <a:off x="259014" y="4790446"/>
            <a:ext cx="8705474" cy="151887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Erhöhung der Proximität auf Kosten der Diversität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Sparsität (Maß für Machbarkeit) konstant, trotz höherer Machbarkeit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Beschränkungen</a:t>
            </a:r>
            <a:r>
              <a:rPr lang="de-DE" dirty="0"/>
              <a:t> durch Anwender werden in Metriken </a:t>
            </a:r>
            <a:r>
              <a:rPr lang="de-DE" b="1" dirty="0"/>
              <a:t>nicht berücksichtigt!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8A3C922-A05B-BCA9-17BA-8967D335A693}"/>
              </a:ext>
            </a:extLst>
          </p:cNvPr>
          <p:cNvSpPr/>
          <p:nvPr/>
        </p:nvSpPr>
        <p:spPr>
          <a:xfrm>
            <a:off x="1367644" y="2455136"/>
            <a:ext cx="6408711" cy="39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63A9FEA-606D-2930-AEA1-4BB64718AD5F}"/>
              </a:ext>
            </a:extLst>
          </p:cNvPr>
          <p:cNvSpPr/>
          <p:nvPr/>
        </p:nvSpPr>
        <p:spPr>
          <a:xfrm>
            <a:off x="1367643" y="3212976"/>
            <a:ext cx="6408711" cy="336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0AC6EE4-C0D1-F522-0991-B1BED574DDE7}"/>
              </a:ext>
            </a:extLst>
          </p:cNvPr>
          <p:cNvSpPr/>
          <p:nvPr/>
        </p:nvSpPr>
        <p:spPr>
          <a:xfrm>
            <a:off x="1367642" y="3591896"/>
            <a:ext cx="6408711" cy="341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DC3C5C8-EBC0-93A5-24A4-D4602D93AB98}"/>
              </a:ext>
            </a:extLst>
          </p:cNvPr>
          <p:cNvSpPr/>
          <p:nvPr/>
        </p:nvSpPr>
        <p:spPr>
          <a:xfrm>
            <a:off x="179512" y="1556792"/>
            <a:ext cx="8496944" cy="4608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681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9D4C-D56B-1EE7-38EA-C49CEC48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6C95AE-52A5-F1BB-29AA-750808BAEF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4D33FF64-A3FB-4BFC-BA0F-A64F5FE3D3F2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2E5DF7-499C-E47F-2599-F60298AF99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78608E-EFE8-875F-D1F8-9D8AD30587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73806B55-EB36-49A9-ADB4-61E75E31F1FA}" type="slidenum">
              <a:rPr lang="de-DE" altLang="de-DE" smtClean="0"/>
              <a:pPr>
                <a:defRPr/>
              </a:pPr>
              <a:t>79</a:t>
            </a:fld>
            <a:endParaRPr lang="de-DE" alt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273BCCC-B159-BDB0-1BE2-8069AE2E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Evaluation des Beispiels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28C01A-D527-7EB9-E9C1-36EF44890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014" y="1073516"/>
            <a:ext cx="8705474" cy="55528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Berechnung der Metriken für das unbeschränkte und das beschränkte Beispiel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1A059E44-EEAA-60CD-3537-5CFD7029E19D}"/>
              </a:ext>
            </a:extLst>
          </p:cNvPr>
          <p:cNvGraphicFramePr>
            <a:graphicFrameLocks noGrp="1"/>
          </p:cNvGraphicFramePr>
          <p:nvPr/>
        </p:nvGraphicFramePr>
        <p:xfrm>
          <a:off x="1367644" y="1724176"/>
          <a:ext cx="6408711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271">
                  <a:extLst>
                    <a:ext uri="{9D8B030D-6E8A-4147-A177-3AD203B41FA5}">
                      <a16:colId xmlns:a16="http://schemas.microsoft.com/office/drawing/2014/main" val="358517347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1573081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14122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Evaluationsmetrik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Unbeschränkte 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Beschränkte CFs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95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Gültigkeit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1,0000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66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Kontinuierliche Proximität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-6,7125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-2,9500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23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Kategoriale Proximität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35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Sparsität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0,6250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67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Kontinuierliche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6,8417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0,4333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3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Kategoriale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0,2778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57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Count Diversität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0,3125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041676"/>
                  </a:ext>
                </a:extLst>
              </a:tr>
            </a:tbl>
          </a:graphicData>
        </a:graphic>
      </p:graphicFrame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9D3A30DF-39EE-AA1C-3122-69B3D3D3BF5E}"/>
              </a:ext>
            </a:extLst>
          </p:cNvPr>
          <p:cNvSpPr txBox="1">
            <a:spLocks/>
          </p:cNvSpPr>
          <p:nvPr/>
        </p:nvSpPr>
        <p:spPr>
          <a:xfrm>
            <a:off x="259014" y="4790446"/>
            <a:ext cx="8705474" cy="1518874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57213" indent="-214313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572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2001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543050" indent="-1714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115E67"/>
              </a:buClr>
              <a:buFont typeface="Arial" panose="020B0604020202020204" pitchFamily="34" charset="0"/>
              <a:buChar char="•"/>
              <a:defRPr lang="de-DE" sz="105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Erhöhung der Proximität auf Kosten der Diversität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Beschränkungen werden in Metriken </a:t>
            </a:r>
            <a:r>
              <a:rPr lang="de-DE" b="1" dirty="0"/>
              <a:t>nicht </a:t>
            </a:r>
            <a:r>
              <a:rPr lang="de-DE" dirty="0"/>
              <a:t>berücksichtigt!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Nur eingeschränkte Aussagekraft über Machbarkeit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D4FD72A-7659-FE70-4A2C-66DE9825889C}"/>
              </a:ext>
            </a:extLst>
          </p:cNvPr>
          <p:cNvSpPr/>
          <p:nvPr/>
        </p:nvSpPr>
        <p:spPr>
          <a:xfrm>
            <a:off x="1367644" y="2455136"/>
            <a:ext cx="6408711" cy="39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7E308BC-9461-57D0-F0FE-CB96F6EB8F9E}"/>
              </a:ext>
            </a:extLst>
          </p:cNvPr>
          <p:cNvSpPr/>
          <p:nvPr/>
        </p:nvSpPr>
        <p:spPr>
          <a:xfrm>
            <a:off x="1367642" y="3591896"/>
            <a:ext cx="6408711" cy="341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26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8" grpId="0" animBg="1"/>
      <p:bldP spid="18" grpId="1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22A8-33CA-7FBC-FAFC-4C72AD8D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9FBE108-B00D-82AE-3489-F607561E2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Fazit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523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9E24-26E4-57A7-D64B-F9EBDCC0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DFBDC06-0928-94C5-F9AB-55731DDF5D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Gründe für DiCE</a:t>
            </a:r>
          </a:p>
          <a:p>
            <a:pPr marL="342900" lvl="1" indent="0">
              <a:buNone/>
            </a:pPr>
            <a:r>
              <a:rPr lang="de-DE" sz="1500" dirty="0"/>
              <a:t>Nachvollziehbarkeit der Entscheidungen</a:t>
            </a:r>
          </a:p>
          <a:p>
            <a:pPr marL="342900" lvl="1" indent="0">
              <a:buNone/>
            </a:pPr>
            <a:r>
              <a:rPr lang="de-DE" sz="1500" dirty="0"/>
              <a:t>Handlungsanweisungen für alternative Ergebnisse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Methodik</a:t>
            </a:r>
          </a:p>
          <a:p>
            <a:pPr marL="342900" lvl="1" indent="0">
              <a:buNone/>
            </a:pPr>
            <a:r>
              <a:rPr lang="de-DE" sz="1500" dirty="0"/>
              <a:t>Initialisierung, Optimierung, Nachbearbeitung</a:t>
            </a:r>
          </a:p>
          <a:p>
            <a:pPr marL="342900" lvl="1" indent="0">
              <a:buNone/>
            </a:pPr>
            <a:r>
              <a:rPr lang="de-DE" sz="1500" dirty="0"/>
              <a:t>Gültigkeit, Proximität, Diversität, Sparsität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Praktische Relevanz</a:t>
            </a:r>
          </a:p>
          <a:p>
            <a:pPr marL="0" indent="0">
              <a:buNone/>
            </a:pPr>
            <a:r>
              <a:rPr lang="de-DE" b="1" dirty="0"/>
              <a:t>     </a:t>
            </a:r>
            <a:r>
              <a:rPr lang="de-DE" dirty="0"/>
              <a:t>Demonstration eines Beispiels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70ED89-0581-1588-30A6-9D8B3FF05C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6F45CF-1755-45E6-0FE1-16BF3CB5C41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1532FF-9234-93C8-B0CE-7B242469E7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81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AEFCEBC-B4ED-2AFE-8734-74F871D6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55838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5BB8-E36A-EB69-1B66-79F69A40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15569C1-50B9-3585-96AD-6E756EA503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Konkurrierende Ziele von Proximität und Diversität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de-DE" dirty="0"/>
              <a:t>Machbarkeit (Umsetzbarkeit) setzt Vorarbeit durch Anwender voraus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Für Akzeptanz im praktischen Einsatz wichtig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Unerlässlich für Anwendung durch Laien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de-DE" dirty="0"/>
              <a:t>Kognitive Überlastung durch zu viele Counterfactuals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de-DE" dirty="0"/>
              <a:t>Nur binäre Ausgaben (Klassen)</a:t>
            </a:r>
          </a:p>
          <a:p>
            <a:endParaRPr lang="de-DE" dirty="0"/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342900" lvl="1" indent="0">
              <a:buNone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350F74-8D65-ED72-BBEB-082B7C98F2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FB61B2-79D9-35F0-762F-EF7C2D08D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6B65C6-AE1F-6EA5-EAAF-30FBC74426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82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4DAB1A5-4ED6-5622-99AC-12FF86B0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Kritik</a:t>
            </a:r>
          </a:p>
        </p:txBody>
      </p:sp>
    </p:spTree>
    <p:extLst>
      <p:ext uri="{BB962C8B-B14F-4D97-AF65-F5344CB8AC3E}">
        <p14:creationId xmlns:p14="http://schemas.microsoft.com/office/powerpoint/2010/main" val="57527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0873-28A8-BA6F-9615-864EE2AC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D593FE5-1117-8032-E7D1-C516EED2D4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9" y="2060848"/>
            <a:ext cx="8631343" cy="1656184"/>
          </a:xfrm>
        </p:spPr>
        <p:txBody>
          <a:bodyPr/>
          <a:lstStyle/>
          <a:p>
            <a:pPr algn="ctr"/>
            <a:r>
              <a:rPr lang="de-DE" sz="3600" dirty="0"/>
              <a:t>Quellen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8456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FE30-644F-2CDE-0BEB-8EC00074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F37573-9E3D-D704-F4D5-1ABD71620A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200" dirty="0"/>
              <a:t>[1] </a:t>
            </a:r>
            <a:r>
              <a:rPr lang="de-DE" sz="1200" dirty="0">
                <a:hlinkClick r:id="rId2"/>
              </a:rPr>
              <a:t>https://www.tagesschau.de/ausland/europa/albanien-ki-ministerin-100.html</a:t>
            </a:r>
            <a:r>
              <a:rPr lang="de-DE" sz="1200" dirty="0"/>
              <a:t>, besucht am 23.12.25.</a:t>
            </a:r>
          </a:p>
          <a:p>
            <a:pPr marL="0" indent="0">
              <a:buNone/>
            </a:pPr>
            <a:r>
              <a:rPr lang="de-DE" sz="1200" dirty="0"/>
              <a:t>[2]</a:t>
            </a:r>
          </a:p>
          <a:p>
            <a:pPr marL="0" indent="0">
              <a:buNone/>
            </a:pPr>
            <a:r>
              <a:rPr lang="de-DE" sz="1200" dirty="0"/>
              <a:t>[3]</a:t>
            </a:r>
          </a:p>
          <a:p>
            <a:pPr marL="0" indent="0">
              <a:buNone/>
            </a:pPr>
            <a:r>
              <a:rPr lang="de-DE" sz="1200" dirty="0"/>
              <a:t>[4]</a:t>
            </a:r>
          </a:p>
          <a:p>
            <a:pPr marL="0" indent="0">
              <a:buNone/>
            </a:pPr>
            <a:r>
              <a:rPr lang="de-DE" sz="1200" dirty="0"/>
              <a:t>[5]</a:t>
            </a:r>
          </a:p>
          <a:p>
            <a:pPr marL="0" indent="0">
              <a:buNone/>
            </a:pPr>
            <a:r>
              <a:rPr lang="de-DE" sz="1200" dirty="0"/>
              <a:t>[6]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18E15F-F4C4-682D-D8D9-64C44013FB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BF800F-7D77-80D3-02D4-BE0BF75531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C54FF-C4A7-0685-42B6-A8D4C5EA0C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84</a:t>
            </a:fld>
            <a:endParaRPr lang="de-DE" alt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1D5BBAD-F7ED-4838-C3D0-99CB4FAE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DE" sz="2400" dirty="0"/>
              <a:t>Quellen</a:t>
            </a:r>
          </a:p>
        </p:txBody>
      </p:sp>
    </p:spTree>
    <p:extLst>
      <p:ext uri="{BB962C8B-B14F-4D97-AF65-F5344CB8AC3E}">
        <p14:creationId xmlns:p14="http://schemas.microsoft.com/office/powerpoint/2010/main" val="4996530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CBFD-D633-1845-E30D-DEF94008F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F163C75-198A-EB25-2113-581183798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328" y="2060848"/>
            <a:ext cx="8631343" cy="1440160"/>
          </a:xfrm>
        </p:spPr>
        <p:txBody>
          <a:bodyPr/>
          <a:lstStyle/>
          <a:p>
            <a:pPr algn="ctr"/>
            <a:r>
              <a:rPr lang="de-DE" sz="3600" dirty="0"/>
              <a:t>Fragen?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0815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BB92595-EF63-2F24-6FBD-E4393B17E3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L1-Distanzen</a:t>
            </a:r>
          </a:p>
          <a:p>
            <a:r>
              <a:rPr lang="de-DE" dirty="0"/>
              <a:t>&lt;</a:t>
            </a:r>
            <a:r>
              <a:rPr lang="de-DE" dirty="0" err="1"/>
              <a:t>bild</a:t>
            </a:r>
            <a:r>
              <a:rPr lang="de-DE" dirty="0"/>
              <a:t>&gt;</a:t>
            </a:r>
          </a:p>
          <a:p>
            <a:r>
              <a:rPr lang="de-DE" dirty="0"/>
              <a:t>Formel: </a:t>
            </a:r>
            <a:r>
              <a:rPr lang="de-DE" dirty="0" err="1"/>
              <a:t>dist_cat</a:t>
            </a:r>
            <a:r>
              <a:rPr lang="de-DE" dirty="0"/>
              <a:t> = </a:t>
            </a:r>
            <a:r>
              <a:rPr lang="de-DE" dirty="0" err="1"/>
              <a:t>dist</a:t>
            </a:r>
            <a:r>
              <a:rPr lang="de-DE" dirty="0"/>
              <a:t>/MAD und </a:t>
            </a:r>
            <a:r>
              <a:rPr lang="de-DE" dirty="0" err="1"/>
              <a:t>dist_cont</a:t>
            </a:r>
            <a:r>
              <a:rPr lang="de-DE" dirty="0"/>
              <a:t> unterschied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BCF332-DE7C-8F37-BFF5-C7DDE980BFA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98E26C-8BAA-4ACE-83C6-8F04F03DE16F}" type="datetime1">
              <a:rPr lang="de-DE" smtClean="0"/>
              <a:pPr>
                <a:defRPr/>
              </a:pPr>
              <a:t>26.01.2026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ACA81E-005A-7585-722D-E947EE0421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92A34E-EACD-42B8-D40C-A47C3B2223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A8CEE4A-E163-47DE-8784-5B8DE9F7A78A}" type="slidenum">
              <a:rPr lang="de-DE" altLang="de-DE" smtClean="0"/>
              <a:pPr>
                <a:defRPr/>
              </a:pPr>
              <a:t>86</a:t>
            </a:fld>
            <a:endParaRPr lang="de-DE" altLang="de-DE" dirty="0"/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DFEE4B04-2E75-73BC-0533-DC3D1925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15" y="75342"/>
            <a:ext cx="5472608" cy="720000"/>
          </a:xfrm>
        </p:spPr>
        <p:txBody>
          <a:bodyPr anchor="b">
            <a:normAutofit/>
          </a:bodyPr>
          <a:lstStyle/>
          <a:p>
            <a:r>
              <a:rPr lang="de-DE" sz="2400" dirty="0"/>
              <a:t>Distanzen</a:t>
            </a:r>
          </a:p>
        </p:txBody>
      </p:sp>
    </p:spTree>
    <p:extLst>
      <p:ext uri="{BB962C8B-B14F-4D97-AF65-F5344CB8AC3E}">
        <p14:creationId xmlns:p14="http://schemas.microsoft.com/office/powerpoint/2010/main" val="186500750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Hauptcampus-Informatik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8FD6BD"/>
      </a:accent1>
      <a:accent2>
        <a:srgbClr val="BE531C"/>
      </a:accent2>
      <a:accent3>
        <a:srgbClr val="D9C756"/>
      </a:accent3>
      <a:accent4>
        <a:srgbClr val="115E67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000" dirty="0">
            <a:latin typeface="Verdana" panose="020B0604030504040204" pitchFamily="34" charset="0"/>
            <a:ea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CE_PowerPoint" id="{BCC6F42E-25D2-46C4-9195-E237C1F71A97}" vid="{9B611989-96A6-4598-8A74-627867684A4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9b439c-d576-4abb-88d0-85f473d325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FBCCE5278A74449EB3DEA85EB9903C" ma:contentTypeVersion="5" ma:contentTypeDescription="Ein neues Dokument erstellen." ma:contentTypeScope="" ma:versionID="26e5343e6454fbf585af25a252419e95">
  <xsd:schema xmlns:xsd="http://www.w3.org/2001/XMLSchema" xmlns:xs="http://www.w3.org/2001/XMLSchema" xmlns:p="http://schemas.microsoft.com/office/2006/metadata/properties" xmlns:ns3="129b439c-d576-4abb-88d0-85f473d325b5" targetNamespace="http://schemas.microsoft.com/office/2006/metadata/properties" ma:root="true" ma:fieldsID="9d3f67f85b85674e9b2f983c7697085d" ns3:_="">
    <xsd:import namespace="129b439c-d576-4abb-88d0-85f473d325b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b439c-d576-4abb-88d0-85f473d325b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CF042B-2ACF-4D41-ADE3-BFB62DA3AA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2E594A-121C-431C-B828-B549307507EE}">
  <ds:schemaRefs>
    <ds:schemaRef ds:uri="129b439c-d576-4abb-88d0-85f473d325b5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89457F-6DAB-4D01-8D28-E12885F10D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9b439c-d576-4abb-88d0-85f473d325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DiCE_PowerPoint</Template>
  <TotalTime>0</TotalTime>
  <Words>4560</Words>
  <Application>Microsoft Office PowerPoint</Application>
  <PresentationFormat>Bildschirmpräsentation (4:3)</PresentationFormat>
  <Paragraphs>1151</Paragraphs>
  <Slides>86</Slides>
  <Notes>36</Notes>
  <HiddenSlides>10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86</vt:i4>
      </vt:variant>
    </vt:vector>
  </HeadingPairs>
  <TitlesOfParts>
    <vt:vector size="94" baseType="lpstr">
      <vt:lpstr>Alwyn New Lt</vt:lpstr>
      <vt:lpstr>Arial</vt:lpstr>
      <vt:lpstr>Calibri</vt:lpstr>
      <vt:lpstr>Cambria Math</vt:lpstr>
      <vt:lpstr>Consolas</vt:lpstr>
      <vt:lpstr>Verdana</vt:lpstr>
      <vt:lpstr>Wingdings</vt:lpstr>
      <vt:lpstr>Larissa</vt:lpstr>
      <vt:lpstr>PowerPoint-Präsentation</vt:lpstr>
      <vt:lpstr>Gliederung</vt:lpstr>
      <vt:lpstr>PowerPoint-Präsentation</vt:lpstr>
      <vt:lpstr>Wozu Erklärbare KI?</vt:lpstr>
      <vt:lpstr>PowerPoint-Präsentation</vt:lpstr>
      <vt:lpstr>Allgemeine Begriffe</vt:lpstr>
      <vt:lpstr>Allgemeine Begriffe</vt:lpstr>
      <vt:lpstr>Allgemeine Begriffe</vt:lpstr>
      <vt:lpstr>Methodisch-spezifische Begriffe</vt:lpstr>
      <vt:lpstr>Methodisch-spezifische Begriffe</vt:lpstr>
      <vt:lpstr>Methodisch-spezifische Begriffe</vt:lpstr>
      <vt:lpstr>Methodisch-spezifische Begriffe</vt:lpstr>
      <vt:lpstr>PowerPoint-Präsentation</vt:lpstr>
      <vt:lpstr>Methodisches Vorgehen</vt:lpstr>
      <vt:lpstr>Eingabe und Initialisierung </vt:lpstr>
      <vt:lpstr>Eingabe und Initialisierung </vt:lpstr>
      <vt:lpstr>Eingabe und Initialisierung </vt:lpstr>
      <vt:lpstr>Eingabe und Initialisierung </vt:lpstr>
      <vt:lpstr>Optimierung der Verlustfunktion</vt:lpstr>
      <vt:lpstr>Optimierung der Verlustfunktion</vt:lpstr>
      <vt:lpstr>Optimierung der Verlustfunktion</vt:lpstr>
      <vt:lpstr>Optimierung der Verlustfunktion</vt:lpstr>
      <vt:lpstr>Hinge-Loss-Funktion</vt:lpstr>
      <vt:lpstr>Hinge-Loss-Funktion</vt:lpstr>
      <vt:lpstr>Logit</vt:lpstr>
      <vt:lpstr>Proximität</vt:lpstr>
      <vt:lpstr>Proximität</vt:lpstr>
      <vt:lpstr>Proximität</vt:lpstr>
      <vt:lpstr>Proximität</vt:lpstr>
      <vt:lpstr>Proximität</vt:lpstr>
      <vt:lpstr>Diversität</vt:lpstr>
      <vt:lpstr>Diversität</vt:lpstr>
      <vt:lpstr>Diversität</vt:lpstr>
      <vt:lpstr>Diversität</vt:lpstr>
      <vt:lpstr>Diversität</vt:lpstr>
      <vt:lpstr>Diversität</vt:lpstr>
      <vt:lpstr>Optimierung der Verlustfunktion</vt:lpstr>
      <vt:lpstr>Nachbearbeitungsschritt</vt:lpstr>
      <vt:lpstr>Nachbearbeitungsschritt</vt:lpstr>
      <vt:lpstr>PowerPoint-Präsentation</vt:lpstr>
      <vt:lpstr>Entscheidungsgrenze</vt:lpstr>
      <vt:lpstr>Gültigkeitsmetrik</vt:lpstr>
      <vt:lpstr>Gültigkeitsmetrik</vt:lpstr>
      <vt:lpstr>Gültigkeitsmetrik</vt:lpstr>
      <vt:lpstr>Gültigkeitsmetrik</vt:lpstr>
      <vt:lpstr>Proximitätsmetrik</vt:lpstr>
      <vt:lpstr>Proximitätsmetrik</vt:lpstr>
      <vt:lpstr>Proximitätsmetrik</vt:lpstr>
      <vt:lpstr>Proximitätsmetrik</vt:lpstr>
      <vt:lpstr>Proximitätsmetrik</vt:lpstr>
      <vt:lpstr>Sparsitätsmetrik</vt:lpstr>
      <vt:lpstr>Sparsitätsmetrik</vt:lpstr>
      <vt:lpstr>Sparsitätsmetrik</vt:lpstr>
      <vt:lpstr>Diversitätsmetrik</vt:lpstr>
      <vt:lpstr>Diversitätsmetrik</vt:lpstr>
      <vt:lpstr>Diversitätsmetrik</vt:lpstr>
      <vt:lpstr>Diversitätsmetrik</vt:lpstr>
      <vt:lpstr>Diversitätsmetrik</vt:lpstr>
      <vt:lpstr>Diversitätsmetrik</vt:lpstr>
      <vt:lpstr>Entscheidungsgrenze</vt:lpstr>
      <vt:lpstr>PowerPoint-Präsentation</vt:lpstr>
      <vt:lpstr>Vergleich mit Baselines</vt:lpstr>
      <vt:lpstr>Vergleich mit Baselines</vt:lpstr>
      <vt:lpstr>Vergleich mit Baselines</vt:lpstr>
      <vt:lpstr>Vergleich mit Baselines</vt:lpstr>
      <vt:lpstr>Vergleich mit Baselines</vt:lpstr>
      <vt:lpstr>Vergleich mit LIME</vt:lpstr>
      <vt:lpstr>Vergleich mit LIME</vt:lpstr>
      <vt:lpstr>Vergleich mit LIME</vt:lpstr>
      <vt:lpstr>PowerPoint-Präsentation</vt:lpstr>
      <vt:lpstr>Relevanz in der Praxis</vt:lpstr>
      <vt:lpstr>Beispiel: Einkommensklassen</vt:lpstr>
      <vt:lpstr>Beispiel: Einkommensklassen</vt:lpstr>
      <vt:lpstr>Vorbereitung der Daten</vt:lpstr>
      <vt:lpstr>Vorbereitung der Daten</vt:lpstr>
      <vt:lpstr>Generierung ohne Beschränkungen</vt:lpstr>
      <vt:lpstr>Generierung mit Beschränkungen</vt:lpstr>
      <vt:lpstr>Evaluation des Beispiels</vt:lpstr>
      <vt:lpstr>Evaluation des Beispiels</vt:lpstr>
      <vt:lpstr>PowerPoint-Präsentation</vt:lpstr>
      <vt:lpstr>Zusammenfassung</vt:lpstr>
      <vt:lpstr>Kritik</vt:lpstr>
      <vt:lpstr>PowerPoint-Präsentation</vt:lpstr>
      <vt:lpstr>Quellen</vt:lpstr>
      <vt:lpstr>PowerPoint-Präsentation</vt:lpstr>
      <vt:lpstr>Distanzen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Wagner</dc:creator>
  <cp:lastModifiedBy>Fabian Wagner</cp:lastModifiedBy>
  <cp:revision>3</cp:revision>
  <dcterms:created xsi:type="dcterms:W3CDTF">2026-01-25T16:37:55Z</dcterms:created>
  <dcterms:modified xsi:type="dcterms:W3CDTF">2026-01-26T14:44:27Z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0x01010042FBCCE5278A74449EB3DEA85EB9903C</vt:lpwstr>
  </property>
</Properties>
</file>